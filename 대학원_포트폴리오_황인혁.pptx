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74" r:id="rId3"/>
    <p:sldId id="269" r:id="rId4"/>
    <p:sldId id="285" r:id="rId5"/>
    <p:sldId id="2680" r:id="rId6"/>
    <p:sldId id="2681" r:id="rId7"/>
    <p:sldId id="2682" r:id="rId8"/>
    <p:sldId id="2683" r:id="rId9"/>
    <p:sldId id="2684" r:id="rId10"/>
    <p:sldId id="267" r:id="rId11"/>
    <p:sldId id="2678" r:id="rId12"/>
  </p:sldIdLst>
  <p:sldSz cx="9144000" cy="6858000" type="screen4x3"/>
  <p:notesSz cx="9928225" cy="679767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0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319"/>
    <a:srgbClr val="EEB52C"/>
    <a:srgbClr val="EBD70F"/>
    <a:srgbClr val="82D1F3"/>
    <a:srgbClr val="FFFFFF"/>
    <a:srgbClr val="4DBDED"/>
    <a:srgbClr val="001F5F"/>
    <a:srgbClr val="002C5F"/>
    <a:srgbClr val="A7A7A7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89916" autoAdjust="0"/>
  </p:normalViewPr>
  <p:slideViewPr>
    <p:cSldViewPr>
      <p:cViewPr varScale="1">
        <p:scale>
          <a:sx n="100" d="100"/>
          <a:sy n="100" d="100"/>
        </p:scale>
        <p:origin x="2358" y="90"/>
      </p:cViewPr>
      <p:guideLst>
        <p:guide orient="horz" pos="2880"/>
        <p:guide pos="2016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7A77385-9577-C9EE-487F-B62361E08F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7AAD84-36F1-B44B-2BBB-415A8CFFCD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514E8-1F62-419C-84DE-B1B65EFAFE71}" type="datetimeFigureOut">
              <a:rPr lang="ko-KR" altLang="en-US" smtClean="0"/>
              <a:t>2022-11-28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7F44B5-8432-878D-2C7F-894C4009E2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E452C6-8213-9B3F-1FB5-11CF61B679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19428-74FA-4EF1-8A63-B0D7AB3DAD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9797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4271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5E666-ED01-43C6-89B8-4302E9E866B0}" type="datetimeFigureOut">
              <a:rPr lang="ko-KR" altLang="en-US" smtClean="0"/>
              <a:t>2022-11-28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2"/>
            <a:ext cx="794258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219"/>
            <a:ext cx="4302231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4271" y="6456219"/>
            <a:ext cx="4302231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AA026-FAB9-462B-98E9-C6F2DCCC30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55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AA026-FAB9-462B-98E9-C6F2DCCC305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231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AA026-FAB9-462B-98E9-C6F2DCCC305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40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AA026-FAB9-462B-98E9-C6F2DCCC305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163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AA026-FAB9-462B-98E9-C6F2DCCC305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03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AA026-FAB9-462B-98E9-C6F2DCCC305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217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AA026-FAB9-462B-98E9-C6F2DCCC305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687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AA026-FAB9-462B-98E9-C6F2DCCC305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4932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BF5E3-1D46-47B6-A4AF-60B7E72BD835}" type="datetime1">
              <a:rPr lang="en-US" altLang="ko-KR" smtClean="0"/>
              <a:t>11/28/2022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55" dirty="0"/>
              <a:t>‹#›</a:t>
            </a:fld>
            <a:endParaRPr spc="-5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9E759-B2FC-42A1-B164-95BC285661CB}" type="datetime1">
              <a:rPr lang="en-US" altLang="ko-KR" smtClean="0"/>
              <a:t>11/28/2022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55" dirty="0"/>
              <a:t>‹#›</a:t>
            </a:fld>
            <a:endParaRPr spc="-5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EC223-E4E5-4352-A7CE-25866008CEAD}" type="datetime1">
              <a:rPr lang="en-US" altLang="ko-KR" smtClean="0"/>
              <a:t>11/28/2022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55" dirty="0"/>
              <a:t>‹#›</a:t>
            </a:fld>
            <a:endParaRPr spc="-5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DAB9E-5569-45C1-B83E-3EB7D0A2942E}" type="datetime1">
              <a:rPr lang="en-US" altLang="ko-KR" smtClean="0"/>
              <a:t>11/28/2022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55" dirty="0"/>
              <a:t>‹#›</a:t>
            </a:fld>
            <a:endParaRPr spc="-5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" y="671322"/>
            <a:ext cx="9144000" cy="2540"/>
          </a:xfrm>
          <a:custGeom>
            <a:avLst/>
            <a:gdLst/>
            <a:ahLst/>
            <a:cxnLst/>
            <a:rect l="l" t="t" r="r" b="b"/>
            <a:pathLst>
              <a:path w="9144000" h="2540">
                <a:moveTo>
                  <a:pt x="0" y="0"/>
                </a:moveTo>
                <a:lnTo>
                  <a:pt x="9144000" y="2539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213212"/>
            <a:ext cx="1666875" cy="2466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29910-806D-4574-AE9C-7259208AB374}" type="datetime1">
              <a:rPr lang="en-US" altLang="ko-KR" smtClean="0"/>
              <a:t>11/28/2022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55" dirty="0"/>
              <a:t>‹#›</a:t>
            </a:fld>
            <a:endParaRPr spc="-55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" y="671322"/>
            <a:ext cx="9144000" cy="2540"/>
          </a:xfrm>
          <a:custGeom>
            <a:avLst/>
            <a:gdLst/>
            <a:ahLst/>
            <a:cxnLst/>
            <a:rect l="l" t="t" r="r" b="b"/>
            <a:pathLst>
              <a:path w="9144000" h="2540">
                <a:moveTo>
                  <a:pt x="0" y="0"/>
                </a:moveTo>
                <a:lnTo>
                  <a:pt x="9144000" y="2539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207" y="125984"/>
            <a:ext cx="882558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7756" y="2860058"/>
            <a:ext cx="8468486" cy="2863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092E0-FCEF-4831-BB8E-B5D68E55F2B2}" type="datetime1">
              <a:rPr lang="en-US" altLang="ko-KR" smtClean="0"/>
              <a:t>11/28/2022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51138" y="6611790"/>
            <a:ext cx="175259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돋움"/>
                <a:cs typeface="돋움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55" dirty="0"/>
              <a:t>‹#›</a:t>
            </a:fld>
            <a:endParaRPr spc="-5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emf"/><Relationship Id="rId7" Type="http://schemas.openxmlformats.org/officeDocument/2006/relationships/image" Target="../media/image10.emf"/><Relationship Id="rId8" Type="http://schemas.openxmlformats.org/officeDocument/2006/relationships/image" Target="../media/image11.emf"/><Relationship Id="rId9" Type="http://schemas.openxmlformats.org/officeDocument/2006/relationships/image" Target="../media/image12.png"/><Relationship Id="rId10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emf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emf"/><Relationship Id="rId6" Type="http://schemas.openxmlformats.org/officeDocument/2006/relationships/image" Target="../media/image11.emf"/><Relationship Id="rId7" Type="http://schemas.openxmlformats.org/officeDocument/2006/relationships/image" Target="../media/image9.emf"/><Relationship Id="rId8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2.png"/><Relationship Id="rId7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3.emf"/><Relationship Id="rId5" Type="http://schemas.openxmlformats.org/officeDocument/2006/relationships/image" Target="../media/image24.emf"/><Relationship Id="rId6" Type="http://schemas.openxmlformats.org/officeDocument/2006/relationships/image" Target="../media/image25.emf"/><Relationship Id="rId7" Type="http://schemas.openxmlformats.org/officeDocument/2006/relationships/image" Target="../media/image26.emf"/><Relationship Id="rId8" Type="http://schemas.openxmlformats.org/officeDocument/2006/relationships/image" Target="../media/image27.emf"/><Relationship Id="rId9" Type="http://schemas.openxmlformats.org/officeDocument/2006/relationships/image" Target="../media/image28.emf"/><Relationship Id="rId10" Type="http://schemas.openxmlformats.org/officeDocument/2006/relationships/image" Target="../media/image29.emf"/><Relationship Id="rId11" Type="http://schemas.openxmlformats.org/officeDocument/2006/relationships/image" Target="../media/image30.emf"/><Relationship Id="rId1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emf"/><Relationship Id="rId7" Type="http://schemas.openxmlformats.org/officeDocument/2006/relationships/image" Target="../media/image34.emf"/><Relationship Id="rId8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2440" y="2173223"/>
            <a:ext cx="5289550" cy="0"/>
          </a:xfrm>
          <a:custGeom>
            <a:avLst/>
            <a:gdLst/>
            <a:ahLst/>
            <a:cxnLst/>
            <a:rect l="l" t="t" r="r" b="b"/>
            <a:pathLst>
              <a:path w="5289550">
                <a:moveTo>
                  <a:pt x="0" y="0"/>
                </a:moveTo>
                <a:lnTo>
                  <a:pt x="5289423" y="0"/>
                </a:lnTo>
              </a:path>
            </a:pathLst>
          </a:custGeom>
          <a:ln w="571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18B55CDC-5418-55ED-DBD6-9441C0CF1F9E}"/>
              </a:ext>
            </a:extLst>
          </p:cNvPr>
          <p:cNvSpPr txBox="1"/>
          <p:nvPr/>
        </p:nvSpPr>
        <p:spPr>
          <a:xfrm>
            <a:off x="3221672" y="5512396"/>
            <a:ext cx="2700655" cy="7920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1007110" algn="ctr">
              <a:lnSpc>
                <a:spcPct val="150200"/>
              </a:lnSpc>
              <a:spcBef>
                <a:spcPts val="100"/>
              </a:spcBef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전동화 시스템 연구</a:t>
            </a:r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R="5080" indent="-1007110" algn="ctr">
              <a:lnSpc>
                <a:spcPct val="150200"/>
              </a:lnSpc>
              <a:spcBef>
                <a:spcPts val="100"/>
              </a:spcBef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황인혁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0799A-35CA-E55D-C74A-D578F6E7F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391" y="2492822"/>
            <a:ext cx="6143625" cy="260032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E1B9947-B662-C568-87F4-475B34A20D6C}"/>
              </a:ext>
            </a:extLst>
          </p:cNvPr>
          <p:cNvSpPr/>
          <p:nvPr/>
        </p:nvSpPr>
        <p:spPr>
          <a:xfrm>
            <a:off x="2970919" y="2492822"/>
            <a:ext cx="6173082" cy="260032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100000"/>
                </a:schemeClr>
              </a:gs>
              <a:gs pos="5000">
                <a:srgbClr val="FFFFFF"/>
              </a:gs>
              <a:gs pos="39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08191"/>
            <a:ext cx="9144000" cy="547370"/>
          </a:xfrm>
          <a:custGeom>
            <a:avLst/>
            <a:gdLst/>
            <a:ahLst/>
            <a:cxnLst/>
            <a:rect l="l" t="t" r="r" b="b"/>
            <a:pathLst>
              <a:path w="9144000" h="547370">
                <a:moveTo>
                  <a:pt x="9144000" y="0"/>
                </a:moveTo>
                <a:lnTo>
                  <a:pt x="0" y="0"/>
                </a:lnTo>
                <a:lnTo>
                  <a:pt x="0" y="547116"/>
                </a:lnTo>
                <a:lnTo>
                  <a:pt x="9144000" y="547116"/>
                </a:lnTo>
                <a:lnTo>
                  <a:pt x="9144000" y="0"/>
                </a:lnTo>
                <a:close/>
              </a:path>
            </a:pathLst>
          </a:custGeom>
          <a:solidFill>
            <a:srgbClr val="252525">
              <a:alpha val="7686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85085" y="6207658"/>
            <a:ext cx="611111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000" spc="-260" dirty="0">
                <a:solidFill>
                  <a:srgbClr val="FFC000"/>
                </a:solidFill>
                <a:latin typeface="돋움"/>
                <a:cs typeface="돋움"/>
              </a:rPr>
              <a:t>모터 인버터 </a:t>
            </a:r>
            <a:r>
              <a:rPr lang="ko-KR" altLang="en-US" sz="2000" spc="-260" dirty="0">
                <a:solidFill>
                  <a:srgbClr val="FFFFFF"/>
                </a:solidFill>
                <a:latin typeface="돋움"/>
                <a:cs typeface="돋움"/>
              </a:rPr>
              <a:t>시스템 연구</a:t>
            </a:r>
            <a:r>
              <a:rPr lang="ko-KR" altLang="en-US" sz="2000" spc="-60" dirty="0">
                <a:solidFill>
                  <a:srgbClr val="FFFFFF"/>
                </a:solidFill>
                <a:latin typeface="돋움"/>
                <a:cs typeface="돋움"/>
              </a:rPr>
              <a:t> </a:t>
            </a:r>
            <a:r>
              <a:rPr lang="ko-KR" altLang="en-US" sz="2000" spc="-225" dirty="0">
                <a:solidFill>
                  <a:srgbClr val="FFFFFF"/>
                </a:solidFill>
                <a:latin typeface="돋움"/>
                <a:cs typeface="돋움"/>
              </a:rPr>
              <a:t>경험</a:t>
            </a:r>
            <a:r>
              <a:rPr lang="en-US" altLang="ko-KR" sz="2000" spc="-225" dirty="0">
                <a:solidFill>
                  <a:srgbClr val="FFFFFF"/>
                </a:solidFill>
                <a:latin typeface="돋움"/>
                <a:cs typeface="돋움"/>
              </a:rPr>
              <a:t>,</a:t>
            </a:r>
            <a:r>
              <a:rPr lang="ko-KR" altLang="en-US" sz="2000" spc="-70" dirty="0">
                <a:solidFill>
                  <a:srgbClr val="FFFFFF"/>
                </a:solidFill>
                <a:latin typeface="돋움"/>
                <a:cs typeface="돋움"/>
              </a:rPr>
              <a:t> </a:t>
            </a:r>
            <a:r>
              <a:rPr lang="ko-KR" altLang="en-US" sz="2000" spc="-260" dirty="0">
                <a:solidFill>
                  <a:srgbClr val="FFFFFF"/>
                </a:solidFill>
                <a:latin typeface="돋움"/>
                <a:cs typeface="돋움"/>
              </a:rPr>
              <a:t>최적의 모델을 찾는 </a:t>
            </a:r>
            <a:r>
              <a:rPr lang="ko-KR" altLang="en-US" sz="2000" spc="-260" dirty="0">
                <a:solidFill>
                  <a:srgbClr val="FFC000"/>
                </a:solidFill>
                <a:latin typeface="돋움"/>
                <a:cs typeface="돋움"/>
              </a:rPr>
              <a:t>끈기</a:t>
            </a:r>
            <a:endParaRPr sz="2000" dirty="0">
              <a:solidFill>
                <a:srgbClr val="FFC000"/>
              </a:solidFill>
              <a:latin typeface="돋움"/>
              <a:cs typeface="돋움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80965" y="2710433"/>
            <a:ext cx="4139565" cy="3270456"/>
          </a:xfrm>
          <a:custGeom>
            <a:avLst/>
            <a:gdLst/>
            <a:ahLst/>
            <a:cxnLst/>
            <a:rect l="l" t="t" r="r" b="b"/>
            <a:pathLst>
              <a:path w="4139565" h="3202304">
                <a:moveTo>
                  <a:pt x="0" y="3201924"/>
                </a:moveTo>
                <a:lnTo>
                  <a:pt x="4139184" y="3201924"/>
                </a:lnTo>
                <a:lnTo>
                  <a:pt x="4139184" y="0"/>
                </a:lnTo>
                <a:lnTo>
                  <a:pt x="0" y="0"/>
                </a:lnTo>
                <a:lnTo>
                  <a:pt x="0" y="3201924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15108" y="778743"/>
            <a:ext cx="5604892" cy="1434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sz="1200" dirty="0"/>
              <a:t>이 름 : </a:t>
            </a:r>
            <a:r>
              <a:rPr lang="ko-KR" altLang="en-US" sz="1200" dirty="0"/>
              <a:t>황인혁</a:t>
            </a:r>
            <a:endParaRPr sz="1200" dirty="0"/>
          </a:p>
          <a:p>
            <a:pPr>
              <a:lnSpc>
                <a:spcPct val="150000"/>
              </a:lnSpc>
            </a:pPr>
            <a:r>
              <a:rPr sz="1200" dirty="0"/>
              <a:t>학 력 : 건국대학교 기계공학과 </a:t>
            </a:r>
            <a:r>
              <a:rPr sz="1200" dirty="0" err="1"/>
              <a:t>학사</a:t>
            </a:r>
            <a:r>
              <a:rPr sz="1200" dirty="0"/>
              <a:t> (’</a:t>
            </a:r>
            <a:r>
              <a:rPr lang="en-US" sz="1200" dirty="0"/>
              <a:t>21</a:t>
            </a:r>
            <a:r>
              <a:rPr lang="en-US" altLang="ko-KR" sz="1200" dirty="0"/>
              <a:t>.</a:t>
            </a:r>
            <a:r>
              <a:rPr sz="1200" dirty="0"/>
              <a:t> </a:t>
            </a:r>
            <a:r>
              <a:rPr lang="en-US" sz="1200" dirty="0"/>
              <a:t>2</a:t>
            </a:r>
            <a:r>
              <a:rPr sz="1200" dirty="0"/>
              <a:t>월 졸업)</a:t>
            </a:r>
          </a:p>
          <a:p>
            <a:pPr>
              <a:lnSpc>
                <a:spcPct val="150000"/>
              </a:lnSpc>
            </a:pPr>
            <a:r>
              <a:rPr sz="1200" dirty="0"/>
              <a:t>건국대학교 기계설계학과 석사 (’</a:t>
            </a:r>
            <a:r>
              <a:rPr lang="en-US" sz="1200" dirty="0"/>
              <a:t>23</a:t>
            </a:r>
            <a:r>
              <a:rPr sz="1200" dirty="0"/>
              <a:t>. </a:t>
            </a:r>
            <a:r>
              <a:rPr lang="en-US" sz="1200" dirty="0"/>
              <a:t>2</a:t>
            </a:r>
            <a:r>
              <a:rPr sz="1200" dirty="0"/>
              <a:t>월 </a:t>
            </a:r>
            <a:r>
              <a:rPr sz="1200" dirty="0" err="1"/>
              <a:t>졸업</a:t>
            </a:r>
            <a:r>
              <a:rPr lang="en-US" sz="1200" dirty="0"/>
              <a:t> </a:t>
            </a:r>
            <a:r>
              <a:rPr lang="ko-KR" altLang="en-US" sz="1200" dirty="0"/>
              <a:t>예정</a:t>
            </a:r>
            <a:r>
              <a:rPr sz="1200" dirty="0"/>
              <a:t>)</a:t>
            </a:r>
          </a:p>
          <a:p>
            <a:pPr>
              <a:lnSpc>
                <a:spcPct val="150000"/>
              </a:lnSpc>
            </a:pPr>
            <a:r>
              <a:rPr sz="1200" dirty="0"/>
              <a:t>LAB실명 : 건국대학교 신뢰성기반최적설계 연구실</a:t>
            </a:r>
          </a:p>
          <a:p>
            <a:pPr>
              <a:lnSpc>
                <a:spcPct val="150000"/>
              </a:lnSpc>
            </a:pPr>
            <a:r>
              <a:rPr sz="1200" dirty="0"/>
              <a:t>세부전공 : </a:t>
            </a:r>
            <a:r>
              <a:rPr lang="ko-KR" altLang="en-US" sz="1200" dirty="0"/>
              <a:t>매입형 영구자석 동기전동기의 모델링 및 고장 진단에 관한 연구</a:t>
            </a:r>
            <a:endParaRPr sz="1200" dirty="0"/>
          </a:p>
        </p:txBody>
      </p:sp>
      <p:sp>
        <p:nvSpPr>
          <p:cNvPr id="10" name="object 10"/>
          <p:cNvSpPr/>
          <p:nvPr/>
        </p:nvSpPr>
        <p:spPr>
          <a:xfrm>
            <a:off x="310134" y="2710433"/>
            <a:ext cx="4247515" cy="1975867"/>
          </a:xfrm>
          <a:custGeom>
            <a:avLst/>
            <a:gdLst/>
            <a:ahLst/>
            <a:cxnLst/>
            <a:rect l="l" t="t" r="r" b="b"/>
            <a:pathLst>
              <a:path w="4247515" h="2156460">
                <a:moveTo>
                  <a:pt x="0" y="2156460"/>
                </a:moveTo>
                <a:lnTo>
                  <a:pt x="4247388" y="2156460"/>
                </a:lnTo>
                <a:lnTo>
                  <a:pt x="4247388" y="0"/>
                </a:lnTo>
                <a:lnTo>
                  <a:pt x="0" y="0"/>
                </a:lnTo>
                <a:lnTo>
                  <a:pt x="0" y="2156460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59207" y="125984"/>
            <a:ext cx="1855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이력서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C63E09E-B302-4B2B-01B9-2F1B9C63FAAD}"/>
              </a:ext>
            </a:extLst>
          </p:cNvPr>
          <p:cNvGrpSpPr/>
          <p:nvPr/>
        </p:nvGrpSpPr>
        <p:grpSpPr>
          <a:xfrm>
            <a:off x="489990" y="2380107"/>
            <a:ext cx="1911350" cy="330326"/>
            <a:chOff x="489966" y="2385822"/>
            <a:chExt cx="1911350" cy="330326"/>
          </a:xfrm>
        </p:grpSpPr>
        <p:sp>
          <p:nvSpPr>
            <p:cNvPr id="6" name="object 6"/>
            <p:cNvSpPr/>
            <p:nvPr/>
          </p:nvSpPr>
          <p:spPr>
            <a:xfrm>
              <a:off x="489966" y="2385822"/>
              <a:ext cx="1911350" cy="307975"/>
            </a:xfrm>
            <a:custGeom>
              <a:avLst/>
              <a:gdLst/>
              <a:ahLst/>
              <a:cxnLst/>
              <a:rect l="l" t="t" r="r" b="b"/>
              <a:pathLst>
                <a:path w="1911350" h="307975">
                  <a:moveTo>
                    <a:pt x="0" y="307848"/>
                  </a:moveTo>
                  <a:lnTo>
                    <a:pt x="1911096" y="307848"/>
                  </a:lnTo>
                  <a:lnTo>
                    <a:pt x="1911096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</a:pathLst>
            </a:custGeom>
            <a:solidFill>
              <a:srgbClr val="001F5F"/>
            </a:solidFill>
            <a:ln w="285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3660A1-49DE-4E02-1FF0-20BD6A5DB134}"/>
                </a:ext>
              </a:extLst>
            </p:cNvPr>
            <p:cNvSpPr txBox="1"/>
            <p:nvPr/>
          </p:nvSpPr>
          <p:spPr>
            <a:xfrm>
              <a:off x="864526" y="2408371"/>
              <a:ext cx="12218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프로젝트</a:t>
              </a:r>
              <a:r>
                <a:rPr lang="ko-KR" altLang="en-US" sz="1400" dirty="0">
                  <a:solidFill>
                    <a:schemeClr val="bg1"/>
                  </a:solidFill>
                </a:rPr>
                <a:t> 경력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28B51CE-F689-8B1A-A8A7-40831DD5BE0E}"/>
              </a:ext>
            </a:extLst>
          </p:cNvPr>
          <p:cNvGrpSpPr/>
          <p:nvPr/>
        </p:nvGrpSpPr>
        <p:grpSpPr>
          <a:xfrm>
            <a:off x="4783709" y="2391381"/>
            <a:ext cx="2302891" cy="319051"/>
            <a:chOff x="478613" y="2385822"/>
            <a:chExt cx="2124299" cy="319051"/>
          </a:xfrm>
        </p:grpSpPr>
        <p:sp>
          <p:nvSpPr>
            <p:cNvPr id="26" name="object 6">
              <a:extLst>
                <a:ext uri="{FF2B5EF4-FFF2-40B4-BE49-F238E27FC236}">
                  <a16:creationId xmlns:a16="http://schemas.microsoft.com/office/drawing/2014/main" id="{D6A0F574-FAFA-067B-C147-C159E884EFFC}"/>
                </a:ext>
              </a:extLst>
            </p:cNvPr>
            <p:cNvSpPr/>
            <p:nvPr/>
          </p:nvSpPr>
          <p:spPr>
            <a:xfrm>
              <a:off x="489966" y="2385822"/>
              <a:ext cx="1911350" cy="307975"/>
            </a:xfrm>
            <a:custGeom>
              <a:avLst/>
              <a:gdLst/>
              <a:ahLst/>
              <a:cxnLst/>
              <a:rect l="l" t="t" r="r" b="b"/>
              <a:pathLst>
                <a:path w="1911350" h="307975">
                  <a:moveTo>
                    <a:pt x="0" y="307848"/>
                  </a:moveTo>
                  <a:lnTo>
                    <a:pt x="1911096" y="307848"/>
                  </a:lnTo>
                  <a:lnTo>
                    <a:pt x="1911096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</a:pathLst>
            </a:custGeom>
            <a:solidFill>
              <a:srgbClr val="001F5F"/>
            </a:solidFill>
            <a:ln w="285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412B0A3-1D86-E8F8-7085-7EB3FD7F2D3B}"/>
                </a:ext>
              </a:extLst>
            </p:cNvPr>
            <p:cNvSpPr txBox="1"/>
            <p:nvPr/>
          </p:nvSpPr>
          <p:spPr>
            <a:xfrm>
              <a:off x="478613" y="2397096"/>
              <a:ext cx="21242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주요 발표 논문 및 연구실적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object 40">
            <a:extLst>
              <a:ext uri="{FF2B5EF4-FFF2-40B4-BE49-F238E27FC236}">
                <a16:creationId xmlns:a16="http://schemas.microsoft.com/office/drawing/2014/main" id="{16DB6986-7FF5-32AA-580A-A201F8F2D79B}"/>
              </a:ext>
            </a:extLst>
          </p:cNvPr>
          <p:cNvSpPr txBox="1"/>
          <p:nvPr/>
        </p:nvSpPr>
        <p:spPr>
          <a:xfrm>
            <a:off x="409638" y="2801400"/>
            <a:ext cx="4231004" cy="2022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년 </a:t>
            </a:r>
            <a:r>
              <a:rPr lang="en-US" altLang="ko-KR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6</a:t>
            </a: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개월 연구 경력</a:t>
            </a:r>
            <a:r>
              <a:rPr lang="en-US" altLang="ko-KR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학부</a:t>
            </a:r>
            <a:r>
              <a:rPr lang="en-US" altLang="ko-KR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6</a:t>
            </a: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개월 </a:t>
            </a:r>
            <a:r>
              <a:rPr lang="en-US" altLang="ko-KR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/ </a:t>
            </a: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석사</a:t>
            </a:r>
            <a:r>
              <a:rPr lang="en-US" altLang="ko-KR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2</a:t>
            </a: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년</a:t>
            </a:r>
            <a:r>
              <a:rPr lang="en-US" altLang="ko-KR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en-US" altLang="ko-KR" sz="11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주요 프로젝트</a:t>
            </a:r>
            <a:endParaRPr lang="en-US" altLang="ko-KR" sz="11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900" dirty="0"/>
              <a:t>전동화차량 핵심부품의 고장예지 기술개발 </a:t>
            </a:r>
            <a:r>
              <a:rPr lang="en-US" altLang="ko-KR" sz="900" dirty="0"/>
              <a:t>2</a:t>
            </a:r>
            <a:r>
              <a:rPr lang="ko-KR" altLang="en-US" sz="900" dirty="0"/>
              <a:t>단계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en-US" altLang="ko-KR" sz="900" dirty="0"/>
              <a:t>(2020-11 ~ 2022-07, </a:t>
            </a:r>
            <a:r>
              <a:rPr lang="ko-KR" altLang="en-US" sz="900" dirty="0"/>
              <a:t>현대자동차 </a:t>
            </a:r>
            <a:r>
              <a:rPr lang="en-US" altLang="ko-KR" sz="900" dirty="0"/>
              <a:t>‘</a:t>
            </a:r>
            <a:r>
              <a:rPr lang="ko-KR" altLang="en-US" sz="900" dirty="0"/>
              <a:t>상용</a:t>
            </a:r>
            <a:r>
              <a:rPr lang="en-US" altLang="ko-KR" sz="900" dirty="0"/>
              <a:t> </a:t>
            </a:r>
            <a:r>
              <a:rPr lang="ko-KR" altLang="en-US" sz="900" dirty="0"/>
              <a:t>해석 </a:t>
            </a:r>
            <a:r>
              <a:rPr lang="ko-KR" altLang="en-US" sz="900" dirty="0" err="1"/>
              <a:t>리서치랩</a:t>
            </a:r>
            <a:r>
              <a:rPr lang="en-US" altLang="ko-KR" sz="900" dirty="0"/>
              <a:t>’)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900" dirty="0"/>
              <a:t>전동화 차량 구동 전기모터의 상태 진단을 위한 </a:t>
            </a:r>
            <a:r>
              <a:rPr lang="en-US" altLang="ko-KR" sz="900" dirty="0"/>
              <a:t>PHM SoC </a:t>
            </a:r>
            <a:r>
              <a:rPr lang="ko-KR" altLang="en-US" sz="900" dirty="0"/>
              <a:t>개발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en-US" altLang="ko-KR" sz="900" dirty="0"/>
              <a:t>(2021-04 ~ 2022-12, </a:t>
            </a:r>
            <a:r>
              <a:rPr lang="ko-KR" altLang="en-US" sz="900" dirty="0"/>
              <a:t>산업통상자원부</a:t>
            </a:r>
            <a:r>
              <a:rPr lang="en-US" altLang="ko-KR" sz="900" dirty="0"/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900" dirty="0"/>
              <a:t>스마트 차량 정비를 위한 핵심 부품의 잔류수명 예측기술 및 비접촉 센서 모듈 개발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en-US" altLang="ko-KR" sz="900" dirty="0"/>
              <a:t>(2021-07 ~ 2022-12, </a:t>
            </a:r>
            <a:r>
              <a:rPr lang="ko-KR" altLang="en-US" sz="900" dirty="0"/>
              <a:t>만도</a:t>
            </a:r>
            <a:r>
              <a:rPr lang="en-US" altLang="ko-KR" sz="900" dirty="0"/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900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F0710BD-6BE1-7629-AE46-5F94472B7EF0}"/>
              </a:ext>
            </a:extLst>
          </p:cNvPr>
          <p:cNvGrpSpPr/>
          <p:nvPr/>
        </p:nvGrpSpPr>
        <p:grpSpPr>
          <a:xfrm>
            <a:off x="326644" y="4868357"/>
            <a:ext cx="4231005" cy="1104069"/>
            <a:chOff x="326897" y="4962273"/>
            <a:chExt cx="4231005" cy="1104069"/>
          </a:xfrm>
        </p:grpSpPr>
        <p:sp>
          <p:nvSpPr>
            <p:cNvPr id="15" name="object 15"/>
            <p:cNvSpPr/>
            <p:nvPr/>
          </p:nvSpPr>
          <p:spPr>
            <a:xfrm>
              <a:off x="326897" y="5275326"/>
              <a:ext cx="4231005" cy="791016"/>
            </a:xfrm>
            <a:custGeom>
              <a:avLst/>
              <a:gdLst/>
              <a:ahLst/>
              <a:cxnLst/>
              <a:rect l="l" t="t" r="r" b="b"/>
              <a:pathLst>
                <a:path w="4231005" h="637539">
                  <a:moveTo>
                    <a:pt x="0" y="637032"/>
                  </a:moveTo>
                  <a:lnTo>
                    <a:pt x="4230624" y="637032"/>
                  </a:lnTo>
                  <a:lnTo>
                    <a:pt x="4230624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285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61EEE32-A53E-CF55-2153-4E7499B618BC}"/>
                </a:ext>
              </a:extLst>
            </p:cNvPr>
            <p:cNvGrpSpPr/>
            <p:nvPr/>
          </p:nvGrpSpPr>
          <p:grpSpPr>
            <a:xfrm>
              <a:off x="521801" y="4962273"/>
              <a:ext cx="1911350" cy="330326"/>
              <a:chOff x="489966" y="2385822"/>
              <a:chExt cx="1911350" cy="330326"/>
            </a:xfrm>
          </p:grpSpPr>
          <p:sp>
            <p:nvSpPr>
              <p:cNvPr id="23" name="object 6">
                <a:extLst>
                  <a:ext uri="{FF2B5EF4-FFF2-40B4-BE49-F238E27FC236}">
                    <a16:creationId xmlns:a16="http://schemas.microsoft.com/office/drawing/2014/main" id="{E0B2D753-615F-C825-9D0F-FFE7A5B4E2F2}"/>
                  </a:ext>
                </a:extLst>
              </p:cNvPr>
              <p:cNvSpPr/>
              <p:nvPr/>
            </p:nvSpPr>
            <p:spPr>
              <a:xfrm>
                <a:off x="489966" y="2385822"/>
                <a:ext cx="1911350" cy="307975"/>
              </a:xfrm>
              <a:custGeom>
                <a:avLst/>
                <a:gdLst/>
                <a:ahLst/>
                <a:cxnLst/>
                <a:rect l="l" t="t" r="r" b="b"/>
                <a:pathLst>
                  <a:path w="1911350" h="307975">
                    <a:moveTo>
                      <a:pt x="0" y="307848"/>
                    </a:moveTo>
                    <a:lnTo>
                      <a:pt x="1911096" y="307848"/>
                    </a:lnTo>
                    <a:lnTo>
                      <a:pt x="1911096" y="0"/>
                    </a:lnTo>
                    <a:lnTo>
                      <a:pt x="0" y="0"/>
                    </a:lnTo>
                    <a:lnTo>
                      <a:pt x="0" y="307848"/>
                    </a:lnTo>
                    <a:close/>
                  </a:path>
                </a:pathLst>
              </a:custGeom>
              <a:solidFill>
                <a:srgbClr val="001F5F"/>
              </a:solidFill>
              <a:ln w="28575">
                <a:solidFill>
                  <a:srgbClr val="001F5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3F98A36-45B5-49D8-E7F7-7FB5B46B5309}"/>
                  </a:ext>
                </a:extLst>
              </p:cNvPr>
              <p:cNvSpPr txBox="1"/>
              <p:nvPr/>
            </p:nvSpPr>
            <p:spPr>
              <a:xfrm>
                <a:off x="864526" y="2408371"/>
                <a:ext cx="11801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>
                    <a:solidFill>
                      <a:schemeClr val="bg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대외활동 경험</a:t>
                </a:r>
                <a:endParaRPr lang="ko-KR" altLang="en-US" sz="14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object 12">
              <a:extLst>
                <a:ext uri="{FF2B5EF4-FFF2-40B4-BE49-F238E27FC236}">
                  <a16:creationId xmlns:a16="http://schemas.microsoft.com/office/drawing/2014/main" id="{4F7086ED-3E9B-144E-3207-014527BC8476}"/>
                </a:ext>
              </a:extLst>
            </p:cNvPr>
            <p:cNvSpPr txBox="1"/>
            <p:nvPr/>
          </p:nvSpPr>
          <p:spPr>
            <a:xfrm>
              <a:off x="412009" y="5413854"/>
              <a:ext cx="3322044" cy="562975"/>
            </a:xfrm>
            <a:prstGeom prst="rect">
              <a:avLst/>
            </a:prstGeom>
          </p:spPr>
          <p:txBody>
            <a:bodyPr vert="horz" wrap="square" lIns="0" tIns="44450" rIns="0" bIns="0" rtlCol="0">
              <a:spAutoFit/>
            </a:bodyPr>
            <a:lstStyle/>
            <a:p>
              <a:pPr marL="293370" indent="-173355">
                <a:spcBef>
                  <a:spcPts val="350"/>
                </a:spcBef>
                <a:buFont typeface="Arial" panose="020B0604020202020204" pitchFamily="34" charset="0"/>
                <a:buChar char="•"/>
                <a:tabLst>
                  <a:tab pos="294005" algn="l"/>
                </a:tabLst>
              </a:pPr>
              <a:r>
                <a:rPr lang="ko-KR" altLang="en-US" sz="9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교내봉사 동아리 </a:t>
              </a:r>
              <a:r>
                <a:rPr lang="en-US" altLang="ko-KR" sz="9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MRA (2015-09 ~ 2016.09)</a:t>
              </a:r>
            </a:p>
            <a:p>
              <a:pPr marL="293370" indent="-173355">
                <a:lnSpc>
                  <a:spcPct val="100000"/>
                </a:lnSpc>
                <a:spcBef>
                  <a:spcPts val="350"/>
                </a:spcBef>
                <a:buFont typeface="Arial" panose="020B0604020202020204" pitchFamily="34" charset="0"/>
                <a:buChar char="•"/>
                <a:tabLst>
                  <a:tab pos="294005" algn="l"/>
                </a:tabLst>
              </a:pPr>
              <a:r>
                <a:rPr lang="ko-KR" altLang="en-US" sz="9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미식축구 동아리 </a:t>
              </a:r>
              <a:r>
                <a:rPr lang="en-US" altLang="ko-KR" sz="9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Raging bulls (2015.07~2019.8)</a:t>
              </a:r>
            </a:p>
            <a:p>
              <a:pPr marL="293370" indent="-173355">
                <a:lnSpc>
                  <a:spcPct val="100000"/>
                </a:lnSpc>
                <a:spcBef>
                  <a:spcPts val="350"/>
                </a:spcBef>
                <a:buFont typeface="Arial" panose="020B0604020202020204" pitchFamily="34" charset="0"/>
                <a:buChar char="•"/>
                <a:tabLst>
                  <a:tab pos="294005" algn="l"/>
                </a:tabLst>
              </a:pPr>
              <a:r>
                <a:rPr lang="ko-KR" altLang="en-US" sz="9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수상레져</a:t>
              </a:r>
              <a:r>
                <a:rPr lang="ko-KR" altLang="en-US" sz="9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동아리 </a:t>
              </a:r>
              <a:r>
                <a:rPr lang="en-US" altLang="ko-KR" sz="9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SUPREME (2020-05 ~ 2021-10)</a:t>
              </a:r>
            </a:p>
          </p:txBody>
        </p:sp>
      </p:grpSp>
      <p:sp>
        <p:nvSpPr>
          <p:cNvPr id="31" name="object 40">
            <a:extLst>
              <a:ext uri="{FF2B5EF4-FFF2-40B4-BE49-F238E27FC236}">
                <a16:creationId xmlns:a16="http://schemas.microsoft.com/office/drawing/2014/main" id="{4BBCC1A4-9E4E-8188-301F-F35D46EE44F2}"/>
              </a:ext>
            </a:extLst>
          </p:cNvPr>
          <p:cNvSpPr txBox="1"/>
          <p:nvPr/>
        </p:nvSpPr>
        <p:spPr>
          <a:xfrm>
            <a:off x="4800600" y="2801475"/>
            <a:ext cx="3920173" cy="3034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주저자 논문</a:t>
            </a:r>
            <a:endParaRPr lang="en-US" altLang="ko-KR" sz="11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900" dirty="0">
                <a:cs typeface="times" panose="02020603050405020304" pitchFamily="18" charset="0"/>
              </a:rPr>
              <a:t>Co-simulation for fault diagnosis of 120kW Interior Permanent Magnet Synchronous Machine and Experimental Validation</a:t>
            </a:r>
          </a:p>
          <a:p>
            <a:pPr>
              <a:lnSpc>
                <a:spcPct val="150000"/>
              </a:lnSpc>
            </a:pPr>
            <a:endParaRPr lang="en-US" altLang="ko-KR" sz="900" spc="-10" dirty="0">
              <a:cs typeface="times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주요 학회 발표 실적</a:t>
            </a:r>
            <a:endParaRPr lang="en-US" altLang="ko-KR" sz="11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000" dirty="0"/>
              <a:t>전이학습을 이용한 차량 구동용 영구자석 동기 전동기의 고장 분류 </a:t>
            </a:r>
            <a:r>
              <a:rPr lang="en-US" altLang="ko-KR" sz="1000" dirty="0"/>
              <a:t>(2022 </a:t>
            </a:r>
            <a:r>
              <a:rPr lang="ko-KR" altLang="en-US" sz="1000" dirty="0"/>
              <a:t>한국자동차공학회 추계학술대회</a:t>
            </a:r>
            <a:r>
              <a:rPr lang="en-US" altLang="ko-KR" sz="1000" dirty="0"/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000" dirty="0"/>
              <a:t>전기자동차용 매입형 영구자석 동기전동기의 정밀한 시뮬레이션을 위한 모델링 분석</a:t>
            </a:r>
            <a:r>
              <a:rPr lang="en-US" altLang="ko-KR" sz="1000" dirty="0">
                <a:cs typeface="Times New Roman" panose="02020603050405020304" pitchFamily="18" charset="0"/>
              </a:rPr>
              <a:t>(</a:t>
            </a:r>
            <a:r>
              <a:rPr lang="ko-KR" altLang="en-US" sz="1000" dirty="0">
                <a:cs typeface="Times New Roman" panose="02020603050405020304" pitchFamily="18" charset="0"/>
              </a:rPr>
              <a:t>한국 </a:t>
            </a:r>
            <a:r>
              <a:rPr lang="en-US" altLang="ko-KR" sz="1000" dirty="0">
                <a:cs typeface="Times New Roman" panose="02020603050405020304" pitchFamily="18" charset="0"/>
              </a:rPr>
              <a:t>PHM </a:t>
            </a:r>
            <a:r>
              <a:rPr lang="ko-KR" altLang="en-US" sz="1000" dirty="0">
                <a:cs typeface="Times New Roman" panose="02020603050405020304" pitchFamily="18" charset="0"/>
              </a:rPr>
              <a:t>학회 정기학술대회</a:t>
            </a:r>
            <a:r>
              <a:rPr lang="en-US" altLang="ko-KR" sz="1000" dirty="0">
                <a:cs typeface="Times New Roman" panose="02020603050405020304" pitchFamily="18" charset="0"/>
              </a:rPr>
              <a:t> 2022)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cs typeface="Times New Roman" panose="02020603050405020304" pitchFamily="18" charset="0"/>
              </a:rPr>
              <a:t>전동화 차량 구동시스템의 효율적인 예방정비 기술 개발 </a:t>
            </a:r>
            <a:r>
              <a:rPr lang="en-US" altLang="ko-KR" sz="1000" dirty="0">
                <a:cs typeface="Times New Roman" panose="02020603050405020304" pitchFamily="18" charset="0"/>
              </a:rPr>
              <a:t>(</a:t>
            </a:r>
            <a:r>
              <a:rPr lang="ko-KR" altLang="en-US" sz="1000" dirty="0" err="1">
                <a:cs typeface="Times New Roman" panose="02020603050405020304" pitchFamily="18" charset="0"/>
              </a:rPr>
              <a:t>한국신뢰성학회</a:t>
            </a:r>
            <a:r>
              <a:rPr lang="ko-KR" altLang="en-US" sz="1000" dirty="0">
                <a:cs typeface="Times New Roman" panose="02020603050405020304" pitchFamily="18" charset="0"/>
              </a:rPr>
              <a:t> </a:t>
            </a:r>
            <a:r>
              <a:rPr lang="en-US" altLang="ko-KR" sz="1000" dirty="0">
                <a:cs typeface="Times New Roman" panose="02020603050405020304" pitchFamily="18" charset="0"/>
              </a:rPr>
              <a:t>2022</a:t>
            </a:r>
            <a:r>
              <a:rPr lang="ko-KR" altLang="en-US" sz="1000" dirty="0">
                <a:cs typeface="Times New Roman" panose="02020603050405020304" pitchFamily="18" charset="0"/>
              </a:rPr>
              <a:t>년 춘계학술대회</a:t>
            </a:r>
            <a:r>
              <a:rPr lang="en-US" altLang="ko-KR" sz="1000" dirty="0">
                <a:cs typeface="Times New Roman" panose="02020603050405020304" pitchFamily="18" charset="0"/>
              </a:rPr>
              <a:t>, </a:t>
            </a:r>
            <a:r>
              <a:rPr lang="ko-KR" altLang="en-US" sz="1000" b="1" dirty="0">
                <a:cs typeface="Times New Roman" panose="02020603050405020304" pitchFamily="18" charset="0"/>
              </a:rPr>
              <a:t>최우수발표 논문상</a:t>
            </a:r>
            <a:r>
              <a:rPr lang="en-US" altLang="ko-KR" sz="1000" dirty="0">
                <a:cs typeface="Times New Roman" panose="02020603050405020304" pitchFamily="18" charset="0"/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cs typeface="Times New Roman" panose="02020603050405020304" pitchFamily="18" charset="0"/>
              </a:rPr>
              <a:t>시스템 수준 측정값을 이용한 모터 구동 시스템 내 </a:t>
            </a:r>
            <a:r>
              <a:rPr lang="en-US" altLang="ko-KR" sz="1000" dirty="0">
                <a:cs typeface="Times New Roman" panose="02020603050405020304" pitchFamily="18" charset="0"/>
              </a:rPr>
              <a:t>IGBT </a:t>
            </a:r>
            <a:r>
              <a:rPr lang="ko-KR" altLang="en-US" sz="1000" dirty="0">
                <a:cs typeface="Times New Roman" panose="02020603050405020304" pitchFamily="18" charset="0"/>
              </a:rPr>
              <a:t>개방 고장 진단 기법</a:t>
            </a:r>
            <a:r>
              <a:rPr lang="en-US" altLang="ko-KR" sz="1000" dirty="0">
                <a:cs typeface="Times New Roman" panose="02020603050405020304" pitchFamily="18" charset="0"/>
              </a:rPr>
              <a:t> (</a:t>
            </a:r>
            <a:r>
              <a:rPr lang="ko-KR" altLang="en-US" sz="1000" dirty="0">
                <a:cs typeface="Times New Roman" panose="02020603050405020304" pitchFamily="18" charset="0"/>
              </a:rPr>
              <a:t>한국 </a:t>
            </a:r>
            <a:r>
              <a:rPr lang="en-US" altLang="ko-KR" sz="1000" dirty="0">
                <a:cs typeface="Times New Roman" panose="02020603050405020304" pitchFamily="18" charset="0"/>
              </a:rPr>
              <a:t>PHM </a:t>
            </a:r>
            <a:r>
              <a:rPr lang="ko-KR" altLang="en-US" sz="1000" dirty="0">
                <a:cs typeface="Times New Roman" panose="02020603050405020304" pitchFamily="18" charset="0"/>
              </a:rPr>
              <a:t>학회 정기학술대회 </a:t>
            </a:r>
            <a:r>
              <a:rPr lang="en-US" altLang="ko-KR" sz="1000" dirty="0">
                <a:cs typeface="Times New Roman" panose="02020603050405020304" pitchFamily="18" charset="0"/>
              </a:rPr>
              <a:t>2021, </a:t>
            </a:r>
            <a:r>
              <a:rPr lang="ko-KR" altLang="en-US" sz="1000" b="1" dirty="0">
                <a:cs typeface="Times New Roman" panose="02020603050405020304" pitchFamily="18" charset="0"/>
              </a:rPr>
              <a:t>우수포스터상</a:t>
            </a:r>
            <a:r>
              <a:rPr lang="en-US" altLang="ko-KR" sz="1000" dirty="0"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그림 4" descr="사람, 실내, 젊은, 가장이(가) 표시된 사진&#10;&#10;자동 생성된 설명">
            <a:extLst>
              <a:ext uri="{FF2B5EF4-FFF2-40B4-BE49-F238E27FC236}">
                <a16:creationId xmlns:a16="http://schemas.microsoft.com/office/drawing/2014/main" id="{DA1961CB-27EA-7C0F-1ACD-8332CDD066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790778"/>
            <a:ext cx="1084376" cy="13941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6EF714-88D0-544B-195B-908A3867EA7A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8769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>
            <a:extLst>
              <a:ext uri="{FF2B5EF4-FFF2-40B4-BE49-F238E27FC236}">
                <a16:creationId xmlns:a16="http://schemas.microsoft.com/office/drawing/2014/main" id="{E2EE5B50-B70F-5EDA-8DF9-98E3F36A5E24}"/>
              </a:ext>
            </a:extLst>
          </p:cNvPr>
          <p:cNvSpPr/>
          <p:nvPr/>
        </p:nvSpPr>
        <p:spPr>
          <a:xfrm>
            <a:off x="255568" y="1736772"/>
            <a:ext cx="914318" cy="88414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AACA572-25D9-B0E8-1944-7F097ED4A57D}"/>
              </a:ext>
            </a:extLst>
          </p:cNvPr>
          <p:cNvSpPr/>
          <p:nvPr/>
        </p:nvSpPr>
        <p:spPr>
          <a:xfrm>
            <a:off x="248013" y="2750821"/>
            <a:ext cx="921874" cy="7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FB890D6-F1D7-EE9D-9336-256E0DD6FE81}"/>
              </a:ext>
            </a:extLst>
          </p:cNvPr>
          <p:cNvSpPr/>
          <p:nvPr/>
        </p:nvSpPr>
        <p:spPr>
          <a:xfrm>
            <a:off x="259080" y="3627120"/>
            <a:ext cx="914436" cy="25069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5D605E3-0F17-1E95-EFF5-8499E5F0AA90}"/>
              </a:ext>
            </a:extLst>
          </p:cNvPr>
          <p:cNvSpPr/>
          <p:nvPr/>
        </p:nvSpPr>
        <p:spPr>
          <a:xfrm>
            <a:off x="251459" y="6270499"/>
            <a:ext cx="918429" cy="32080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928E0D8-5536-9C14-CD3C-64B982793FB1}"/>
              </a:ext>
            </a:extLst>
          </p:cNvPr>
          <p:cNvSpPr/>
          <p:nvPr/>
        </p:nvSpPr>
        <p:spPr>
          <a:xfrm>
            <a:off x="247650" y="1293290"/>
            <a:ext cx="918209" cy="3221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9207" y="121412"/>
            <a:ext cx="342219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주요 연구 수행 이력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40562" y="840485"/>
            <a:ext cx="476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>
                <a:solidFill>
                  <a:srgbClr val="001F5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rPr lang="en-US" dirty="0"/>
              <a:t>PMSM</a:t>
            </a:r>
            <a:r>
              <a:rPr lang="ko-KR" altLang="en-US" dirty="0"/>
              <a:t>의 고장진단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BD6EBE-8F8E-9834-8710-DEB440163FB9}"/>
              </a:ext>
            </a:extLst>
          </p:cNvPr>
          <p:cNvSpPr txBox="1"/>
          <p:nvPr/>
        </p:nvSpPr>
        <p:spPr>
          <a:xfrm>
            <a:off x="422908" y="1327407"/>
            <a:ext cx="5676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algn="ctr"/>
            <a:r>
              <a:rPr lang="ko-KR" altLang="en-US" dirty="0"/>
              <a:t>제 목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AFCC3C-5278-C855-2CD6-1B5C7A425FA1}"/>
              </a:ext>
            </a:extLst>
          </p:cNvPr>
          <p:cNvSpPr txBox="1"/>
          <p:nvPr/>
        </p:nvSpPr>
        <p:spPr>
          <a:xfrm>
            <a:off x="426827" y="6303941"/>
            <a:ext cx="5676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algn="ctr"/>
            <a:r>
              <a:rPr lang="ko-KR" altLang="en-US" dirty="0"/>
              <a:t>결 론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646F95-1037-D45E-DC6C-0D0B72EF1B21}"/>
              </a:ext>
            </a:extLst>
          </p:cNvPr>
          <p:cNvSpPr txBox="1"/>
          <p:nvPr/>
        </p:nvSpPr>
        <p:spPr>
          <a:xfrm>
            <a:off x="344890" y="4753652"/>
            <a:ext cx="7428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algn="ctr"/>
            <a:r>
              <a:rPr lang="ko-KR" altLang="en-US" dirty="0"/>
              <a:t>연구내용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DDFEE0-A5E9-0439-1A39-900E084A9F93}"/>
              </a:ext>
            </a:extLst>
          </p:cNvPr>
          <p:cNvSpPr txBox="1"/>
          <p:nvPr/>
        </p:nvSpPr>
        <p:spPr>
          <a:xfrm>
            <a:off x="337542" y="3004863"/>
            <a:ext cx="7428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algn="ctr"/>
            <a:r>
              <a:rPr lang="ko-KR" altLang="en-US" dirty="0"/>
              <a:t>연구과정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7107774-4705-A793-DC88-119B8E0BB524}"/>
              </a:ext>
            </a:extLst>
          </p:cNvPr>
          <p:cNvSpPr txBox="1"/>
          <p:nvPr/>
        </p:nvSpPr>
        <p:spPr>
          <a:xfrm>
            <a:off x="341319" y="2051885"/>
            <a:ext cx="7428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algn="ctr"/>
            <a:r>
              <a:rPr lang="ko-KR" altLang="en-US" dirty="0"/>
              <a:t>연구배경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2386CCD-7514-38B2-42F3-69C54B122855}"/>
              </a:ext>
            </a:extLst>
          </p:cNvPr>
          <p:cNvSpPr/>
          <p:nvPr/>
        </p:nvSpPr>
        <p:spPr>
          <a:xfrm>
            <a:off x="1293685" y="1301228"/>
            <a:ext cx="7577265" cy="309450"/>
          </a:xfrm>
          <a:prstGeom prst="rect">
            <a:avLst/>
          </a:prstGeom>
          <a:noFill/>
          <a:ln w="12700">
            <a:solidFill>
              <a:srgbClr val="A7A7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5C7BC04-0093-2755-EA6A-0D7611A37FEB}"/>
              </a:ext>
            </a:extLst>
          </p:cNvPr>
          <p:cNvSpPr/>
          <p:nvPr/>
        </p:nvSpPr>
        <p:spPr>
          <a:xfrm>
            <a:off x="1288923" y="1733092"/>
            <a:ext cx="7594728" cy="880568"/>
          </a:xfrm>
          <a:prstGeom prst="rect">
            <a:avLst/>
          </a:prstGeom>
          <a:noFill/>
          <a:ln w="12700">
            <a:solidFill>
              <a:srgbClr val="A7A7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9B5EDAC-D30E-4353-BE61-F7AF657D6661}"/>
              </a:ext>
            </a:extLst>
          </p:cNvPr>
          <p:cNvSpPr/>
          <p:nvPr/>
        </p:nvSpPr>
        <p:spPr>
          <a:xfrm>
            <a:off x="1293685" y="2743200"/>
            <a:ext cx="7583616" cy="760859"/>
          </a:xfrm>
          <a:prstGeom prst="rect">
            <a:avLst/>
          </a:prstGeom>
          <a:noFill/>
          <a:ln w="12700">
            <a:solidFill>
              <a:srgbClr val="A7A7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18B6D3D-24D1-0387-8546-F8AB69B18F3A}"/>
              </a:ext>
            </a:extLst>
          </p:cNvPr>
          <p:cNvSpPr/>
          <p:nvPr/>
        </p:nvSpPr>
        <p:spPr>
          <a:xfrm>
            <a:off x="1293685" y="3619499"/>
            <a:ext cx="7583615" cy="2514601"/>
          </a:xfrm>
          <a:prstGeom prst="rect">
            <a:avLst/>
          </a:prstGeom>
          <a:noFill/>
          <a:ln w="12700">
            <a:solidFill>
              <a:srgbClr val="A7A7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8517E94-816C-C967-7144-79C271BC868C}"/>
              </a:ext>
            </a:extLst>
          </p:cNvPr>
          <p:cNvSpPr/>
          <p:nvPr/>
        </p:nvSpPr>
        <p:spPr>
          <a:xfrm>
            <a:off x="1296839" y="6258231"/>
            <a:ext cx="7586811" cy="308755"/>
          </a:xfrm>
          <a:prstGeom prst="rect">
            <a:avLst/>
          </a:prstGeom>
          <a:noFill/>
          <a:ln w="12700">
            <a:solidFill>
              <a:srgbClr val="A7A7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object 39">
            <a:extLst>
              <a:ext uri="{FF2B5EF4-FFF2-40B4-BE49-F238E27FC236}">
                <a16:creationId xmlns:a16="http://schemas.microsoft.com/office/drawing/2014/main" id="{D2DB9E22-099E-7ACF-66A4-814ADFD978A1}"/>
              </a:ext>
            </a:extLst>
          </p:cNvPr>
          <p:cNvSpPr txBox="1"/>
          <p:nvPr/>
        </p:nvSpPr>
        <p:spPr>
          <a:xfrm>
            <a:off x="1400363" y="1327407"/>
            <a:ext cx="74321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rPr lang="en-US" altLang="ko-KR" dirty="0"/>
              <a:t>PMSM</a:t>
            </a:r>
            <a:r>
              <a:rPr lang="ko-KR" altLang="en-US" dirty="0"/>
              <a:t>의 감자 및 편심 결함 고장진단에 관한 연구</a:t>
            </a:r>
          </a:p>
        </p:txBody>
      </p:sp>
      <p:sp>
        <p:nvSpPr>
          <p:cNvPr id="100" name="object 39">
            <a:extLst>
              <a:ext uri="{FF2B5EF4-FFF2-40B4-BE49-F238E27FC236}">
                <a16:creationId xmlns:a16="http://schemas.microsoft.com/office/drawing/2014/main" id="{3CFB24A2-BEB9-EF85-6F8F-C08ABE635E56}"/>
              </a:ext>
            </a:extLst>
          </p:cNvPr>
          <p:cNvSpPr txBox="1"/>
          <p:nvPr/>
        </p:nvSpPr>
        <p:spPr>
          <a:xfrm>
            <a:off x="1296839" y="3619499"/>
            <a:ext cx="7432170" cy="126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dirty="0"/>
              <a:t>모터 형상과 제어기 영향을 고려한 고장신호 선정 </a:t>
            </a:r>
            <a:r>
              <a:rPr lang="en-US" altLang="ko-KR" dirty="0"/>
              <a:t>: </a:t>
            </a:r>
            <a:r>
              <a:rPr lang="ko-KR" altLang="en-US" dirty="0"/>
              <a:t>감자 고장 발생시 전류 증가</a:t>
            </a:r>
            <a:r>
              <a:rPr lang="en-US" altLang="ko-KR" dirty="0"/>
              <a:t>, </a:t>
            </a:r>
            <a:r>
              <a:rPr lang="ko-KR" altLang="en-US" dirty="0"/>
              <a:t>편심 고장 발생시 전류 </a:t>
            </a:r>
            <a:r>
              <a:rPr lang="en-US" altLang="ko-KR" dirty="0"/>
              <a:t>fractional </a:t>
            </a:r>
            <a:r>
              <a:rPr lang="ko-KR" altLang="en-US" dirty="0"/>
              <a:t>고조파 증가</a:t>
            </a:r>
            <a:r>
              <a:rPr lang="en-US" altLang="ko-KR" dirty="0"/>
              <a:t> 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dirty="0"/>
              <a:t>고장 모드를 반영한 모터의 전자기 해석 수행</a:t>
            </a:r>
            <a:r>
              <a:rPr lang="en-US" altLang="ko-KR" dirty="0"/>
              <a:t>(Ansys Maxwell) : </a:t>
            </a:r>
            <a:r>
              <a:rPr lang="ko-KR" altLang="en-US" dirty="0">
                <a:sym typeface="Wingdings" panose="05000000000000000000" pitchFamily="2" charset="2"/>
              </a:rPr>
              <a:t>감자 고장 </a:t>
            </a:r>
            <a:r>
              <a:rPr lang="ko-KR" altLang="en-US" dirty="0" err="1">
                <a:sym typeface="Wingdings" panose="05000000000000000000" pitchFamily="2" charset="2"/>
              </a:rPr>
              <a:t>쇄교자속</a:t>
            </a:r>
            <a:r>
              <a:rPr lang="ko-KR" altLang="en-US" dirty="0">
                <a:sym typeface="Wingdings" panose="05000000000000000000" pitchFamily="2" charset="2"/>
              </a:rPr>
              <a:t> 감소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>
                <a:sym typeface="Wingdings" panose="05000000000000000000" pitchFamily="2" charset="2"/>
              </a:rPr>
              <a:t> 편심 고장 </a:t>
            </a:r>
            <a:r>
              <a:rPr lang="ko-KR" altLang="en-US" dirty="0" err="1">
                <a:sym typeface="Wingdings" panose="05000000000000000000" pitchFamily="2" charset="2"/>
              </a:rPr>
              <a:t>쇄교자속</a:t>
            </a:r>
            <a:r>
              <a:rPr lang="ko-KR" altLang="en-US" dirty="0">
                <a:sym typeface="Wingdings" panose="05000000000000000000" pitchFamily="2" charset="2"/>
              </a:rPr>
              <a:t> 왜곡</a:t>
            </a:r>
            <a:endParaRPr lang="en-US" altLang="ko-KR" dirty="0"/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dirty="0"/>
              <a:t>시뮬레이션을 통한 검증 </a:t>
            </a:r>
            <a:r>
              <a:rPr lang="en-US" altLang="ko-KR" dirty="0"/>
              <a:t>: </a:t>
            </a:r>
            <a:r>
              <a:rPr lang="ko-KR" altLang="en-US" dirty="0"/>
              <a:t>정확성과 해석시간을 고려한 모터 및 인버터 모델링</a:t>
            </a:r>
            <a:endParaRPr lang="en-US" altLang="ko-KR" dirty="0"/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dirty="0"/>
              <a:t>실험적 검증을 위한 정상 및 고장 모터 제작 </a:t>
            </a:r>
            <a:r>
              <a:rPr lang="en-US" altLang="ko-KR" dirty="0"/>
              <a:t>: </a:t>
            </a:r>
            <a:r>
              <a:rPr lang="ko-KR" altLang="en-US" dirty="0"/>
              <a:t>정상 모터 및 감자</a:t>
            </a:r>
            <a:r>
              <a:rPr lang="en-US" altLang="ko-KR" dirty="0"/>
              <a:t>, </a:t>
            </a:r>
            <a:r>
              <a:rPr lang="ko-KR" altLang="en-US" dirty="0"/>
              <a:t>편심 결함을 위한 인위적으로 삽입한 모터 제작</a:t>
            </a:r>
            <a:endParaRPr lang="en-US" altLang="ko-KR" dirty="0"/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dirty="0"/>
              <a:t>200kW </a:t>
            </a:r>
            <a:r>
              <a:rPr lang="ko-KR" altLang="en-US" dirty="0"/>
              <a:t>급 </a:t>
            </a:r>
            <a:r>
              <a:rPr lang="ko-KR" altLang="en-US" dirty="0" err="1"/>
              <a:t>다이나모</a:t>
            </a:r>
            <a:r>
              <a:rPr lang="ko-KR" altLang="en-US" dirty="0"/>
              <a:t> 테스트 베드에서 실험 진행</a:t>
            </a:r>
            <a:endParaRPr lang="en-US" altLang="ko-KR" dirty="0"/>
          </a:p>
        </p:txBody>
      </p:sp>
      <p:sp>
        <p:nvSpPr>
          <p:cNvPr id="101" name="object 39">
            <a:extLst>
              <a:ext uri="{FF2B5EF4-FFF2-40B4-BE49-F238E27FC236}">
                <a16:creationId xmlns:a16="http://schemas.microsoft.com/office/drawing/2014/main" id="{13E11142-6850-D3EB-6E20-AC1B5E123FCE}"/>
              </a:ext>
            </a:extLst>
          </p:cNvPr>
          <p:cNvSpPr txBox="1"/>
          <p:nvPr/>
        </p:nvSpPr>
        <p:spPr>
          <a:xfrm>
            <a:off x="1400363" y="6280150"/>
            <a:ext cx="74321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rPr lang="ko-KR" altLang="en-US" dirty="0"/>
              <a:t>감자 및 편심 결함을 위한 이론적 고장진단 신호 파악 및 시뮬레이션과 실험을 통한 검증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774" y="2859386"/>
            <a:ext cx="270140" cy="493774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E27E130-C508-F927-E033-F682BB005841}"/>
              </a:ext>
            </a:extLst>
          </p:cNvPr>
          <p:cNvSpPr/>
          <p:nvPr/>
        </p:nvSpPr>
        <p:spPr>
          <a:xfrm>
            <a:off x="1412795" y="2843416"/>
            <a:ext cx="603709" cy="56042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9" name="object 23">
            <a:extLst>
              <a:ext uri="{FF2B5EF4-FFF2-40B4-BE49-F238E27FC236}">
                <a16:creationId xmlns:a16="http://schemas.microsoft.com/office/drawing/2014/main" id="{0E4AC42E-9BB3-37CD-D73A-7FDB4DDDBB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2869" y="2870572"/>
            <a:ext cx="270140" cy="493774"/>
          </a:xfrm>
          <a:prstGeom prst="rect">
            <a:avLst/>
          </a:prstGeom>
        </p:spPr>
      </p:pic>
      <p:sp>
        <p:nvSpPr>
          <p:cNvPr id="121" name="object 39">
            <a:extLst>
              <a:ext uri="{FF2B5EF4-FFF2-40B4-BE49-F238E27FC236}">
                <a16:creationId xmlns:a16="http://schemas.microsoft.com/office/drawing/2014/main" id="{77480FF4-12C6-13E9-C616-E72E72266CC8}"/>
              </a:ext>
            </a:extLst>
          </p:cNvPr>
          <p:cNvSpPr txBox="1"/>
          <p:nvPr/>
        </p:nvSpPr>
        <p:spPr>
          <a:xfrm>
            <a:off x="1402080" y="2938963"/>
            <a:ext cx="61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algn="ctr"/>
            <a:r>
              <a:rPr lang="ko-KR" altLang="en-US" sz="900" dirty="0"/>
              <a:t>고장 신호 분석</a:t>
            </a:r>
            <a:endParaRPr lang="en-US" altLang="ko-KR" sz="900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CB364FD-65F6-229B-1CCF-BA463E1B35CB}"/>
              </a:ext>
            </a:extLst>
          </p:cNvPr>
          <p:cNvGrpSpPr/>
          <p:nvPr/>
        </p:nvGrpSpPr>
        <p:grpSpPr>
          <a:xfrm>
            <a:off x="2224892" y="2843416"/>
            <a:ext cx="2272290" cy="560426"/>
            <a:chOff x="2750822" y="2843416"/>
            <a:chExt cx="2567938" cy="560426"/>
          </a:xfrm>
        </p:grpSpPr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DF1BE776-56E7-4360-C51C-19CCB679F5D0}"/>
                </a:ext>
              </a:extLst>
            </p:cNvPr>
            <p:cNvSpPr/>
            <p:nvPr/>
          </p:nvSpPr>
          <p:spPr>
            <a:xfrm>
              <a:off x="2887981" y="2843416"/>
              <a:ext cx="2293620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object 39">
              <a:extLst>
                <a:ext uri="{FF2B5EF4-FFF2-40B4-BE49-F238E27FC236}">
                  <a16:creationId xmlns:a16="http://schemas.microsoft.com/office/drawing/2014/main" id="{115D6AF8-66ED-452D-B496-51287779585B}"/>
                </a:ext>
              </a:extLst>
            </p:cNvPr>
            <p:cNvSpPr txBox="1"/>
            <p:nvPr/>
          </p:nvSpPr>
          <p:spPr>
            <a:xfrm>
              <a:off x="2750822" y="2948915"/>
              <a:ext cx="2567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모터 및 인버터 제어 시뮬레이션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(Ansys Maxwell &amp; MATLAB Simulink)</a:t>
              </a:r>
              <a:endParaRPr lang="ko-KR" altLang="en-US" sz="900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AAF4FE46-1EAF-E3B3-681B-687E97181547}"/>
              </a:ext>
            </a:extLst>
          </p:cNvPr>
          <p:cNvGrpSpPr/>
          <p:nvPr/>
        </p:nvGrpSpPr>
        <p:grpSpPr>
          <a:xfrm>
            <a:off x="4739492" y="2843416"/>
            <a:ext cx="2044674" cy="560426"/>
            <a:chOff x="5148075" y="2843416"/>
            <a:chExt cx="2247898" cy="560426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012DD42A-94B0-CBC0-462A-6C8592AFB69D}"/>
                </a:ext>
              </a:extLst>
            </p:cNvPr>
            <p:cNvSpPr/>
            <p:nvPr/>
          </p:nvSpPr>
          <p:spPr>
            <a:xfrm>
              <a:off x="5148075" y="2843416"/>
              <a:ext cx="2247898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object 39">
              <a:extLst>
                <a:ext uri="{FF2B5EF4-FFF2-40B4-BE49-F238E27FC236}">
                  <a16:creationId xmlns:a16="http://schemas.microsoft.com/office/drawing/2014/main" id="{29660566-2E94-D750-4258-924A6441C090}"/>
                </a:ext>
              </a:extLst>
            </p:cNvPr>
            <p:cNvSpPr txBox="1"/>
            <p:nvPr/>
          </p:nvSpPr>
          <p:spPr>
            <a:xfrm>
              <a:off x="5166535" y="2908186"/>
              <a:ext cx="22294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실험적 검증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</a:t>
              </a:r>
              <a:r>
                <a:rPr lang="ko-KR" altLang="en-US" sz="900" dirty="0"/>
                <a:t>정상 및 고장모터 제작</a:t>
              </a:r>
              <a:r>
                <a:rPr lang="en-US" altLang="ko-KR" sz="900" dirty="0"/>
                <a:t>/</a:t>
              </a:r>
              <a:r>
                <a:rPr lang="ko-KR" altLang="en-US" sz="900" dirty="0" err="1"/>
                <a:t>다이나모</a:t>
              </a:r>
              <a:r>
                <a:rPr lang="ko-KR" altLang="en-US" sz="900" dirty="0"/>
                <a:t> 테스트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15CF910-D32A-28F8-F772-415DB64224BB}"/>
              </a:ext>
            </a:extLst>
          </p:cNvPr>
          <p:cNvGrpSpPr/>
          <p:nvPr/>
        </p:nvGrpSpPr>
        <p:grpSpPr>
          <a:xfrm>
            <a:off x="6831552" y="2846591"/>
            <a:ext cx="967755" cy="560426"/>
            <a:chOff x="6884655" y="2846591"/>
            <a:chExt cx="967755" cy="560426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A7E49B17-264D-3E0C-9B1C-920691F97080}"/>
                </a:ext>
              </a:extLst>
            </p:cNvPr>
            <p:cNvSpPr/>
            <p:nvPr/>
          </p:nvSpPr>
          <p:spPr>
            <a:xfrm>
              <a:off x="7154795" y="2846591"/>
              <a:ext cx="663325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0" name="object 23">
              <a:extLst>
                <a:ext uri="{FF2B5EF4-FFF2-40B4-BE49-F238E27FC236}">
                  <a16:creationId xmlns:a16="http://schemas.microsoft.com/office/drawing/2014/main" id="{9D4EF150-10B9-D9FD-EA19-C97E4F39220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4655" y="2885812"/>
              <a:ext cx="270140" cy="493774"/>
            </a:xfrm>
            <a:prstGeom prst="rect">
              <a:avLst/>
            </a:prstGeom>
          </p:spPr>
        </p:pic>
        <p:sp>
          <p:nvSpPr>
            <p:cNvPr id="124" name="object 39">
              <a:extLst>
                <a:ext uri="{FF2B5EF4-FFF2-40B4-BE49-F238E27FC236}">
                  <a16:creationId xmlns:a16="http://schemas.microsoft.com/office/drawing/2014/main" id="{AF6B27A3-E05F-5458-56CA-5F8A143F8FC0}"/>
                </a:ext>
              </a:extLst>
            </p:cNvPr>
            <p:cNvSpPr txBox="1"/>
            <p:nvPr/>
          </p:nvSpPr>
          <p:spPr>
            <a:xfrm>
              <a:off x="7139555" y="2936880"/>
              <a:ext cx="712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고장신호 검증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결과</a:t>
              </a:r>
              <a:r>
                <a:rPr lang="en-US" altLang="ko-KR" sz="900" dirty="0"/>
                <a:t>)</a:t>
              </a: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098DF58-6CB7-195E-446B-C6712D054676}"/>
              </a:ext>
            </a:extLst>
          </p:cNvPr>
          <p:cNvSpPr/>
          <p:nvPr/>
        </p:nvSpPr>
        <p:spPr>
          <a:xfrm>
            <a:off x="8077052" y="2846591"/>
            <a:ext cx="663325" cy="56042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object 23">
            <a:extLst>
              <a:ext uri="{FF2B5EF4-FFF2-40B4-BE49-F238E27FC236}">
                <a16:creationId xmlns:a16="http://schemas.microsoft.com/office/drawing/2014/main" id="{074CCCC1-9A3B-680B-F2AB-28E6701F88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6912" y="2885812"/>
            <a:ext cx="270140" cy="493774"/>
          </a:xfrm>
          <a:prstGeom prst="rect">
            <a:avLst/>
          </a:prstGeom>
        </p:spPr>
      </p:pic>
      <p:sp>
        <p:nvSpPr>
          <p:cNvPr id="55" name="object 39">
            <a:extLst>
              <a:ext uri="{FF2B5EF4-FFF2-40B4-BE49-F238E27FC236}">
                <a16:creationId xmlns:a16="http://schemas.microsoft.com/office/drawing/2014/main" id="{1E4BF0F1-C6AC-5AA8-B342-1BBA3FBFB9DC}"/>
              </a:ext>
            </a:extLst>
          </p:cNvPr>
          <p:cNvSpPr txBox="1"/>
          <p:nvPr/>
        </p:nvSpPr>
        <p:spPr>
          <a:xfrm>
            <a:off x="8061812" y="2942636"/>
            <a:ext cx="712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algn="ctr"/>
            <a:r>
              <a:rPr lang="ko-KR" altLang="en-US" sz="900"/>
              <a:t>시뮬레이션 모델 개선</a:t>
            </a:r>
            <a:endParaRPr lang="en-US" altLang="ko-KR" sz="900" dirty="0"/>
          </a:p>
        </p:txBody>
      </p:sp>
      <p:sp>
        <p:nvSpPr>
          <p:cNvPr id="8" name="object 39">
            <a:extLst>
              <a:ext uri="{FF2B5EF4-FFF2-40B4-BE49-F238E27FC236}">
                <a16:creationId xmlns:a16="http://schemas.microsoft.com/office/drawing/2014/main" id="{C2EED69B-E001-20CA-F8EE-85490EE4B866}"/>
              </a:ext>
            </a:extLst>
          </p:cNvPr>
          <p:cNvSpPr txBox="1"/>
          <p:nvPr/>
        </p:nvSpPr>
        <p:spPr>
          <a:xfrm>
            <a:off x="1296839" y="1780752"/>
            <a:ext cx="7432170" cy="781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모터의 감자 </a:t>
            </a:r>
            <a:r>
              <a:rPr lang="en-US" altLang="ko-KR" dirty="0">
                <a:solidFill>
                  <a:schemeClr val="tx1"/>
                </a:solidFill>
              </a:rPr>
              <a:t>(demagnetization)</a:t>
            </a:r>
            <a:r>
              <a:rPr lang="ko-KR" altLang="en-US" dirty="0">
                <a:solidFill>
                  <a:schemeClr val="tx1"/>
                </a:solidFill>
              </a:rPr>
              <a:t> 및 편심 </a:t>
            </a:r>
            <a:r>
              <a:rPr lang="en-US" altLang="ko-KR" dirty="0">
                <a:solidFill>
                  <a:schemeClr val="tx1"/>
                </a:solidFill>
              </a:rPr>
              <a:t>(eccentricity) </a:t>
            </a:r>
            <a:r>
              <a:rPr lang="ko-KR" altLang="en-US" dirty="0">
                <a:solidFill>
                  <a:schemeClr val="tx1"/>
                </a:solidFill>
              </a:rPr>
              <a:t>결함 발생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진동 및 소음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/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모터 효율 저감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초기 진단 실패 시 </a:t>
            </a:r>
            <a:r>
              <a:rPr lang="en-US" altLang="ko-KR" dirty="0">
                <a:solidFill>
                  <a:schemeClr val="tx1"/>
                </a:solidFill>
              </a:rPr>
              <a:t>unbalanced magnetic pull (UMP) </a:t>
            </a:r>
            <a:r>
              <a:rPr lang="ko-KR" altLang="en-US" dirty="0">
                <a:solidFill>
                  <a:schemeClr val="tx1"/>
                </a:solidFill>
              </a:rPr>
              <a:t>지속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베어링 고장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/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편심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상태 모니터링을 통한 상태 기반 유지보수 필요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모터의 고장진단 기술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1" name="Picture 8">
            <a:extLst>
              <a:ext uri="{FF2B5EF4-FFF2-40B4-BE49-F238E27FC236}">
                <a16:creationId xmlns:a16="http://schemas.microsoft.com/office/drawing/2014/main" id="{A2E22706-E338-DF37-79A4-5B9774EF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221" y="4900363"/>
            <a:ext cx="1787312" cy="1166062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A359E343-A2BF-BB75-B84C-6D2A096B6B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917" y="4900363"/>
            <a:ext cx="1178257" cy="1178258"/>
          </a:xfrm>
          <a:prstGeom prst="rect">
            <a:avLst/>
          </a:prstGeom>
        </p:spPr>
      </p:pic>
      <p:grpSp>
        <p:nvGrpSpPr>
          <p:cNvPr id="73" name="그룹 72">
            <a:extLst>
              <a:ext uri="{FF2B5EF4-FFF2-40B4-BE49-F238E27FC236}">
                <a16:creationId xmlns:a16="http://schemas.microsoft.com/office/drawing/2014/main" id="{3CF00F5E-57AE-7571-DE31-A92FE42DA1A8}"/>
              </a:ext>
            </a:extLst>
          </p:cNvPr>
          <p:cNvGrpSpPr/>
          <p:nvPr/>
        </p:nvGrpSpPr>
        <p:grpSpPr>
          <a:xfrm>
            <a:off x="2547174" y="4900363"/>
            <a:ext cx="2834072" cy="1166062"/>
            <a:chOff x="1316809" y="1895457"/>
            <a:chExt cx="8048889" cy="3311668"/>
          </a:xfrm>
        </p:grpSpPr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E0DEDC29-8126-B07D-65F4-DEC290721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16809" y="1895457"/>
              <a:ext cx="6332515" cy="3298184"/>
            </a:xfrm>
            <a:prstGeom prst="rect">
              <a:avLst/>
            </a:prstGeom>
          </p:spPr>
        </p:pic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0F908B2F-F344-C858-F5A4-3AF298C5E4C3}"/>
                </a:ext>
              </a:extLst>
            </p:cNvPr>
            <p:cNvGrpSpPr/>
            <p:nvPr/>
          </p:nvGrpSpPr>
          <p:grpSpPr>
            <a:xfrm>
              <a:off x="7772603" y="4157773"/>
              <a:ext cx="1573098" cy="1049352"/>
              <a:chOff x="6269562" y="4754840"/>
              <a:chExt cx="3049439" cy="2034160"/>
            </a:xfrm>
          </p:grpSpPr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6E157ADF-A917-5C7C-B9B8-6ECABF7FAE9E}"/>
                  </a:ext>
                </a:extLst>
              </p:cNvPr>
              <p:cNvSpPr/>
              <p:nvPr/>
            </p:nvSpPr>
            <p:spPr>
              <a:xfrm>
                <a:off x="6269562" y="4754840"/>
                <a:ext cx="3049439" cy="203416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6" name="그림 95">
                <a:extLst>
                  <a:ext uri="{FF2B5EF4-FFF2-40B4-BE49-F238E27FC236}">
                    <a16:creationId xmlns:a16="http://schemas.microsoft.com/office/drawing/2014/main" id="{377F02C0-CC2F-E7D5-3B50-8DDE6C27E4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07869" y="4780979"/>
                <a:ext cx="2972824" cy="1981883"/>
              </a:xfrm>
              <a:prstGeom prst="rect">
                <a:avLst/>
              </a:prstGeom>
            </p:spPr>
          </p:pic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80AA65A0-A1E1-B5E5-E20E-F0EFA058CE28}"/>
                </a:ext>
              </a:extLst>
            </p:cNvPr>
            <p:cNvGrpSpPr/>
            <p:nvPr/>
          </p:nvGrpSpPr>
          <p:grpSpPr>
            <a:xfrm>
              <a:off x="7784826" y="1908941"/>
              <a:ext cx="1580872" cy="1051585"/>
              <a:chOff x="2052022" y="1529686"/>
              <a:chExt cx="3064508" cy="2038489"/>
            </a:xfrm>
          </p:grpSpPr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EF4C6C1A-FE23-87A0-0F71-2FA30FB8D6D6}"/>
                  </a:ext>
                </a:extLst>
              </p:cNvPr>
              <p:cNvSpPr/>
              <p:nvPr/>
            </p:nvSpPr>
            <p:spPr>
              <a:xfrm>
                <a:off x="2052022" y="1529686"/>
                <a:ext cx="3049439" cy="203416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4" name="그림 93">
                <a:extLst>
                  <a:ext uri="{FF2B5EF4-FFF2-40B4-BE49-F238E27FC236}">
                    <a16:creationId xmlns:a16="http://schemas.microsoft.com/office/drawing/2014/main" id="{33C38649-0E36-3FA0-FD60-2D1D85D14D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65289" y="1534014"/>
                <a:ext cx="3051241" cy="2034161"/>
              </a:xfrm>
              <a:prstGeom prst="rect">
                <a:avLst/>
              </a:prstGeom>
            </p:spPr>
          </p:pic>
        </p:grp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7A342CE2-FED1-4032-77BF-A83BC0403AF1}"/>
                </a:ext>
              </a:extLst>
            </p:cNvPr>
            <p:cNvGrpSpPr/>
            <p:nvPr/>
          </p:nvGrpSpPr>
          <p:grpSpPr>
            <a:xfrm>
              <a:off x="7772603" y="3025129"/>
              <a:ext cx="1586251" cy="1058696"/>
              <a:chOff x="6906892" y="1716668"/>
              <a:chExt cx="3074936" cy="2052275"/>
            </a:xfrm>
          </p:grpSpPr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162CBE52-FED9-343A-9590-DC4BDA48CD62}"/>
                  </a:ext>
                </a:extLst>
              </p:cNvPr>
              <p:cNvSpPr/>
              <p:nvPr/>
            </p:nvSpPr>
            <p:spPr>
              <a:xfrm>
                <a:off x="6906892" y="1734783"/>
                <a:ext cx="3049439" cy="203416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2" name="그림 91">
                <a:extLst>
                  <a:ext uri="{FF2B5EF4-FFF2-40B4-BE49-F238E27FC236}">
                    <a16:creationId xmlns:a16="http://schemas.microsoft.com/office/drawing/2014/main" id="{B7B6799A-2E48-21EF-8509-7261A5EB69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30587" y="1716668"/>
                <a:ext cx="3051241" cy="2034161"/>
              </a:xfrm>
              <a:prstGeom prst="rect">
                <a:avLst/>
              </a:prstGeom>
            </p:spPr>
          </p:pic>
        </p:grp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8C8E7CA-88A8-97E7-BA94-6989C4622955}"/>
              </a:ext>
            </a:extLst>
          </p:cNvPr>
          <p:cNvGrpSpPr/>
          <p:nvPr/>
        </p:nvGrpSpPr>
        <p:grpSpPr>
          <a:xfrm>
            <a:off x="5469798" y="4900363"/>
            <a:ext cx="1299857" cy="1169871"/>
            <a:chOff x="4905155" y="1291591"/>
            <a:chExt cx="1299857" cy="1169871"/>
          </a:xfrm>
        </p:grpSpPr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D7EA7126-BD51-CD7C-AA3A-83F591A0C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0800000">
              <a:off x="4905155" y="1291591"/>
              <a:ext cx="1299857" cy="1169871"/>
            </a:xfrm>
            <a:prstGeom prst="rect">
              <a:avLst/>
            </a:prstGeom>
          </p:spPr>
        </p:pic>
        <p:sp>
          <p:nvSpPr>
            <p:cNvPr id="102" name="모서리가 둥근 직사각형 17">
              <a:extLst>
                <a:ext uri="{FF2B5EF4-FFF2-40B4-BE49-F238E27FC236}">
                  <a16:creationId xmlns:a16="http://schemas.microsoft.com/office/drawing/2014/main" id="{87B85ACF-A26D-68CC-614F-6C01A1708418}"/>
                </a:ext>
              </a:extLst>
            </p:cNvPr>
            <p:cNvSpPr/>
            <p:nvPr/>
          </p:nvSpPr>
          <p:spPr>
            <a:xfrm rot="5400000">
              <a:off x="5405045" y="1737875"/>
              <a:ext cx="250882" cy="240572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83B0E03-B53E-A9AE-E234-47D1BDB3C085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8918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207" y="121412"/>
            <a:ext cx="32636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주요 연구 수행 이력</a:t>
            </a:r>
          </a:p>
        </p:txBody>
      </p:sp>
      <p:sp>
        <p:nvSpPr>
          <p:cNvPr id="25" name="object 28">
            <a:extLst>
              <a:ext uri="{FF2B5EF4-FFF2-40B4-BE49-F238E27FC236}">
                <a16:creationId xmlns:a16="http://schemas.microsoft.com/office/drawing/2014/main" id="{4472343D-55CD-895A-BBBF-DB63D9CADA4A}"/>
              </a:ext>
            </a:extLst>
          </p:cNvPr>
          <p:cNvSpPr txBox="1"/>
          <p:nvPr/>
        </p:nvSpPr>
        <p:spPr>
          <a:xfrm>
            <a:off x="340562" y="840485"/>
            <a:ext cx="476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>
                <a:solidFill>
                  <a:srgbClr val="001F5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rPr lang="en-US"/>
              <a:t>PMSM</a:t>
            </a:r>
            <a:r>
              <a:rPr lang="ko-KR" altLang="en-US" dirty="0"/>
              <a:t> 고장진단</a:t>
            </a:r>
            <a:endParaRPr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7207288-2EE8-1840-3336-FB3BB2B55DE9}"/>
              </a:ext>
            </a:extLst>
          </p:cNvPr>
          <p:cNvGrpSpPr/>
          <p:nvPr/>
        </p:nvGrpSpPr>
        <p:grpSpPr>
          <a:xfrm>
            <a:off x="448637" y="1370284"/>
            <a:ext cx="8425173" cy="603378"/>
            <a:chOff x="490227" y="1369897"/>
            <a:chExt cx="8425173" cy="603378"/>
          </a:xfrm>
        </p:grpSpPr>
        <p:pic>
          <p:nvPicPr>
            <p:cNvPr id="58" name="object 23">
              <a:extLst>
                <a:ext uri="{FF2B5EF4-FFF2-40B4-BE49-F238E27FC236}">
                  <a16:creationId xmlns:a16="http://schemas.microsoft.com/office/drawing/2014/main" id="{C576681C-FB12-7DC9-3CFD-5222578D14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231" y="1382692"/>
              <a:ext cx="496968" cy="493774"/>
            </a:xfrm>
            <a:prstGeom prst="rect">
              <a:avLst/>
            </a:prstGeom>
          </p:spPr>
        </p:pic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B6A8B171-5B90-FEE5-6721-EE263A6C5737}"/>
                </a:ext>
              </a:extLst>
            </p:cNvPr>
            <p:cNvSpPr/>
            <p:nvPr/>
          </p:nvSpPr>
          <p:spPr>
            <a:xfrm>
              <a:off x="490227" y="1369897"/>
              <a:ext cx="657336" cy="56042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D176FDD5-A935-1F50-368D-76D6985234BB}"/>
                </a:ext>
              </a:extLst>
            </p:cNvPr>
            <p:cNvSpPr/>
            <p:nvPr/>
          </p:nvSpPr>
          <p:spPr>
            <a:xfrm>
              <a:off x="6946894" y="1373072"/>
              <a:ext cx="770005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1" name="object 23">
              <a:extLst>
                <a:ext uri="{FF2B5EF4-FFF2-40B4-BE49-F238E27FC236}">
                  <a16:creationId xmlns:a16="http://schemas.microsoft.com/office/drawing/2014/main" id="{BE01AF63-7777-349B-CB02-9F5D251B752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8402" y="1397053"/>
              <a:ext cx="496968" cy="493774"/>
            </a:xfrm>
            <a:prstGeom prst="rect">
              <a:avLst/>
            </a:prstGeom>
          </p:spPr>
        </p:pic>
        <p:pic>
          <p:nvPicPr>
            <p:cNvPr id="62" name="object 23">
              <a:extLst>
                <a:ext uri="{FF2B5EF4-FFF2-40B4-BE49-F238E27FC236}">
                  <a16:creationId xmlns:a16="http://schemas.microsoft.com/office/drawing/2014/main" id="{10D1544A-BB78-3560-0750-F81791D699D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3774" y="1397053"/>
              <a:ext cx="496968" cy="493774"/>
            </a:xfrm>
            <a:prstGeom prst="rect">
              <a:avLst/>
            </a:prstGeom>
          </p:spPr>
        </p:pic>
        <p:sp>
          <p:nvSpPr>
            <p:cNvPr id="63" name="object 39">
              <a:extLst>
                <a:ext uri="{FF2B5EF4-FFF2-40B4-BE49-F238E27FC236}">
                  <a16:creationId xmlns:a16="http://schemas.microsoft.com/office/drawing/2014/main" id="{C44AF33F-35AA-0AB8-7FF0-93F28C305482}"/>
                </a:ext>
              </a:extLst>
            </p:cNvPr>
            <p:cNvSpPr txBox="1"/>
            <p:nvPr/>
          </p:nvSpPr>
          <p:spPr>
            <a:xfrm>
              <a:off x="514789" y="1465444"/>
              <a:ext cx="623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분석</a:t>
              </a:r>
              <a:endParaRPr lang="en-US" altLang="ko-KR" sz="900" dirty="0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3795D771-08AB-81D9-84C4-0C198D09A68A}"/>
                </a:ext>
              </a:extLst>
            </p:cNvPr>
            <p:cNvSpPr/>
            <p:nvPr/>
          </p:nvSpPr>
          <p:spPr>
            <a:xfrm>
              <a:off x="1732742" y="1369897"/>
              <a:ext cx="2029554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object 39">
              <a:extLst>
                <a:ext uri="{FF2B5EF4-FFF2-40B4-BE49-F238E27FC236}">
                  <a16:creationId xmlns:a16="http://schemas.microsoft.com/office/drawing/2014/main" id="{A7A96583-9F91-8F41-AAAE-2179537AEAF2}"/>
                </a:ext>
              </a:extLst>
            </p:cNvPr>
            <p:cNvSpPr txBox="1"/>
            <p:nvPr/>
          </p:nvSpPr>
          <p:spPr>
            <a:xfrm>
              <a:off x="1688110" y="1465444"/>
              <a:ext cx="21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모터 및 인버터 제어 시뮬레이션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(Ansys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Maxwell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&amp;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MATLAB Simulink)</a:t>
              </a:r>
              <a:endParaRPr lang="ko-KR" altLang="en-US" sz="900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6770ACD7-EB86-6C57-ED37-649489EE8D1F}"/>
                </a:ext>
              </a:extLst>
            </p:cNvPr>
            <p:cNvSpPr/>
            <p:nvPr/>
          </p:nvSpPr>
          <p:spPr>
            <a:xfrm>
              <a:off x="4354574" y="1369897"/>
              <a:ext cx="2044674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bject 39">
              <a:extLst>
                <a:ext uri="{FF2B5EF4-FFF2-40B4-BE49-F238E27FC236}">
                  <a16:creationId xmlns:a16="http://schemas.microsoft.com/office/drawing/2014/main" id="{53FA81E6-68DB-3BFF-09CE-1301A2E4A043}"/>
                </a:ext>
              </a:extLst>
            </p:cNvPr>
            <p:cNvSpPr txBox="1"/>
            <p:nvPr/>
          </p:nvSpPr>
          <p:spPr>
            <a:xfrm>
              <a:off x="4371365" y="1465444"/>
              <a:ext cx="2027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실험적 검증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</a:t>
              </a:r>
              <a:r>
                <a:rPr lang="ko-KR" altLang="en-US" sz="900" dirty="0"/>
                <a:t>정상 및 고장모터 제작</a:t>
              </a:r>
              <a:r>
                <a:rPr lang="en-US" altLang="ko-KR" sz="900" dirty="0"/>
                <a:t>/</a:t>
              </a:r>
              <a:r>
                <a:rPr lang="ko-KR" altLang="en-US" sz="900" dirty="0" err="1"/>
                <a:t>다이나모</a:t>
              </a:r>
              <a:r>
                <a:rPr lang="ko-KR" altLang="en-US" sz="900" dirty="0"/>
                <a:t> 테스트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68" name="object 39">
              <a:extLst>
                <a:ext uri="{FF2B5EF4-FFF2-40B4-BE49-F238E27FC236}">
                  <a16:creationId xmlns:a16="http://schemas.microsoft.com/office/drawing/2014/main" id="{A210E097-B8D0-8342-7248-416BFEDF4315}"/>
                </a:ext>
              </a:extLst>
            </p:cNvPr>
            <p:cNvSpPr txBox="1"/>
            <p:nvPr/>
          </p:nvSpPr>
          <p:spPr>
            <a:xfrm>
              <a:off x="6975469" y="1468619"/>
              <a:ext cx="712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검증 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결과</a:t>
              </a:r>
              <a:r>
                <a:rPr lang="en-US" altLang="ko-KR" sz="900" dirty="0"/>
                <a:t>)</a:t>
              </a:r>
            </a:p>
          </p:txBody>
        </p:sp>
        <p:pic>
          <p:nvPicPr>
            <p:cNvPr id="69" name="object 23">
              <a:extLst>
                <a:ext uri="{FF2B5EF4-FFF2-40B4-BE49-F238E27FC236}">
                  <a16:creationId xmlns:a16="http://schemas.microsoft.com/office/drawing/2014/main" id="{D03993E1-DC48-90FC-EEA0-4C3ABC96B8E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1626" y="1393878"/>
              <a:ext cx="496968" cy="493774"/>
            </a:xfrm>
            <a:prstGeom prst="rect">
              <a:avLst/>
            </a:prstGeom>
          </p:spPr>
        </p:pic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71A73BED-59F4-0431-39EA-76AA7DECD4B9}"/>
                </a:ext>
              </a:extLst>
            </p:cNvPr>
            <p:cNvGrpSpPr/>
            <p:nvPr/>
          </p:nvGrpSpPr>
          <p:grpSpPr>
            <a:xfrm>
              <a:off x="8202545" y="1369897"/>
              <a:ext cx="712855" cy="603378"/>
              <a:chOff x="8836721" y="1369897"/>
              <a:chExt cx="712855" cy="603378"/>
            </a:xfrm>
          </p:grpSpPr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3D015600-D851-C2F6-919A-165EE5EFBF4D}"/>
                  </a:ext>
                </a:extLst>
              </p:cNvPr>
              <p:cNvSpPr/>
              <p:nvPr/>
            </p:nvSpPr>
            <p:spPr>
              <a:xfrm>
                <a:off x="8887190" y="1369897"/>
                <a:ext cx="611918" cy="560426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object 39">
                <a:extLst>
                  <a:ext uri="{FF2B5EF4-FFF2-40B4-BE49-F238E27FC236}">
                    <a16:creationId xmlns:a16="http://schemas.microsoft.com/office/drawing/2014/main" id="{7A32B385-579C-50BF-511C-A5846F7F37CA}"/>
                  </a:ext>
                </a:extLst>
              </p:cNvPr>
              <p:cNvSpPr txBox="1"/>
              <p:nvPr/>
            </p:nvSpPr>
            <p:spPr>
              <a:xfrm>
                <a:off x="8836721" y="1465444"/>
                <a:ext cx="712855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0"/>
                </a:defPPr>
                <a:lvl1pPr>
                  <a:defRPr>
                    <a:latin typeface="현대하모니 M" panose="02020603020101020101" pitchFamily="18" charset="-127"/>
                    <a:ea typeface="현대하모니 M" panose="02020603020101020101" pitchFamily="18" charset="-127"/>
                  </a:defRPr>
                </a:lvl1pPr>
              </a:lstStyle>
              <a:p>
                <a:pPr algn="ctr"/>
                <a:r>
                  <a:rPr lang="ko-KR" altLang="en-US" sz="900" dirty="0"/>
                  <a:t>시뮬레이션 모델 개선</a:t>
                </a:r>
                <a:endParaRPr lang="en-US" altLang="ko-KR" sz="900" dirty="0"/>
              </a:p>
              <a:p>
                <a:pPr algn="ctr"/>
                <a:endParaRPr lang="en-US" altLang="ko-KR" sz="900" dirty="0"/>
              </a:p>
            </p:txBody>
          </p:sp>
        </p:grpSp>
      </p:grpSp>
      <p:sp>
        <p:nvSpPr>
          <p:cNvPr id="77" name="object 39">
            <a:extLst>
              <a:ext uri="{FF2B5EF4-FFF2-40B4-BE49-F238E27FC236}">
                <a16:creationId xmlns:a16="http://schemas.microsoft.com/office/drawing/2014/main" id="{097BE436-A5ED-627D-0BEE-92D43AADF407}"/>
              </a:ext>
            </a:extLst>
          </p:cNvPr>
          <p:cNvSpPr txBox="1"/>
          <p:nvPr/>
        </p:nvSpPr>
        <p:spPr>
          <a:xfrm>
            <a:off x="363774" y="2022148"/>
            <a:ext cx="4055826" cy="1104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1) </a:t>
            </a:r>
            <a:r>
              <a:rPr lang="ko-KR" altLang="en-US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모터의 고장신호 분석</a:t>
            </a:r>
            <a:endParaRPr lang="en-US" altLang="ko-KR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모터 고장 발생시 전류 신호의 변화를 이용한 모터 고장진단 가능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고장 발생시 전류의 변화 형태를 사전에 알고 진단하는 것이 중요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고장신호는 모터 고장의 종류와 형상에 영향을 받음</a:t>
            </a:r>
            <a:endParaRPr lang="en-US" altLang="ko-KR" dirty="0">
              <a:solidFill>
                <a:schemeClr val="tx1"/>
              </a:solidFill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54D12ED1-5D48-4809-C24B-562178D65E33}"/>
              </a:ext>
            </a:extLst>
          </p:cNvPr>
          <p:cNvGrpSpPr/>
          <p:nvPr/>
        </p:nvGrpSpPr>
        <p:grpSpPr>
          <a:xfrm>
            <a:off x="4312984" y="3216531"/>
            <a:ext cx="4510358" cy="3031378"/>
            <a:chOff x="4312984" y="3449290"/>
            <a:chExt cx="4510358" cy="3031378"/>
          </a:xfrm>
        </p:grpSpPr>
        <p:sp>
          <p:nvSpPr>
            <p:cNvPr id="87" name="object 5">
              <a:extLst>
                <a:ext uri="{FF2B5EF4-FFF2-40B4-BE49-F238E27FC236}">
                  <a16:creationId xmlns:a16="http://schemas.microsoft.com/office/drawing/2014/main" id="{BB93B6A2-EA8E-9838-CAF3-4CD258CEE048}"/>
                </a:ext>
              </a:extLst>
            </p:cNvPr>
            <p:cNvSpPr/>
            <p:nvPr/>
          </p:nvSpPr>
          <p:spPr>
            <a:xfrm>
              <a:off x="4314454" y="3820905"/>
              <a:ext cx="4508888" cy="2659763"/>
            </a:xfrm>
            <a:custGeom>
              <a:avLst/>
              <a:gdLst/>
              <a:ahLst/>
              <a:cxnLst/>
              <a:rect l="l" t="t" r="r" b="b"/>
              <a:pathLst>
                <a:path w="2700655" h="3221990">
                  <a:moveTo>
                    <a:pt x="0" y="3221736"/>
                  </a:moveTo>
                  <a:lnTo>
                    <a:pt x="2700528" y="3221736"/>
                  </a:lnTo>
                  <a:lnTo>
                    <a:pt x="2700528" y="0"/>
                  </a:lnTo>
                  <a:lnTo>
                    <a:pt x="0" y="0"/>
                  </a:lnTo>
                  <a:lnTo>
                    <a:pt x="0" y="3221736"/>
                  </a:lnTo>
                  <a:close/>
                </a:path>
              </a:pathLst>
            </a:custGeom>
            <a:ln w="285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159CDC73-0491-5F62-8B2B-06EC75B1123F}"/>
                </a:ext>
              </a:extLst>
            </p:cNvPr>
            <p:cNvGrpSpPr/>
            <p:nvPr/>
          </p:nvGrpSpPr>
          <p:grpSpPr>
            <a:xfrm>
              <a:off x="4312984" y="3449290"/>
              <a:ext cx="1777052" cy="363759"/>
              <a:chOff x="1922491" y="6410217"/>
              <a:chExt cx="1777052" cy="363759"/>
            </a:xfrm>
          </p:grpSpPr>
          <p:sp>
            <p:nvSpPr>
              <p:cNvPr id="91" name="object 91">
                <a:extLst>
                  <a:ext uri="{FF2B5EF4-FFF2-40B4-BE49-F238E27FC236}">
                    <a16:creationId xmlns:a16="http://schemas.microsoft.com/office/drawing/2014/main" id="{34C6210F-E87B-E482-33C5-CA6A738CD833}"/>
                  </a:ext>
                </a:extLst>
              </p:cNvPr>
              <p:cNvSpPr/>
              <p:nvPr/>
            </p:nvSpPr>
            <p:spPr>
              <a:xfrm>
                <a:off x="1922491" y="6410217"/>
                <a:ext cx="1777052" cy="363759"/>
              </a:xfrm>
              <a:custGeom>
                <a:avLst/>
                <a:gdLst/>
                <a:ahLst/>
                <a:cxnLst/>
                <a:rect l="l" t="t" r="r" b="b"/>
                <a:pathLst>
                  <a:path w="815339" h="203200">
                    <a:moveTo>
                      <a:pt x="815339" y="0"/>
                    </a:moveTo>
                    <a:lnTo>
                      <a:pt x="0" y="0"/>
                    </a:lnTo>
                    <a:lnTo>
                      <a:pt x="0" y="202691"/>
                    </a:lnTo>
                    <a:lnTo>
                      <a:pt x="815339" y="202691"/>
                    </a:lnTo>
                    <a:lnTo>
                      <a:pt x="815339" y="0"/>
                    </a:lnTo>
                    <a:close/>
                  </a:path>
                </a:pathLst>
              </a:custGeom>
              <a:solidFill>
                <a:srgbClr val="002C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" name="object 92">
                <a:extLst>
                  <a:ext uri="{FF2B5EF4-FFF2-40B4-BE49-F238E27FC236}">
                    <a16:creationId xmlns:a16="http://schemas.microsoft.com/office/drawing/2014/main" id="{739FCAE0-5813-7C9A-6564-0B1DA2D0FE03}"/>
                  </a:ext>
                </a:extLst>
              </p:cNvPr>
              <p:cNvSpPr txBox="1"/>
              <p:nvPr/>
            </p:nvSpPr>
            <p:spPr>
              <a:xfrm>
                <a:off x="1939628" y="6422819"/>
                <a:ext cx="1742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kern="0"/>
                </a:defPPr>
                <a:lvl1pPr>
                  <a:defRPr sz="1050">
                    <a:latin typeface="현대하모니 L" panose="02020603020101020101" pitchFamily="18" charset="-127"/>
                    <a:ea typeface="현대하모니 L" panose="02020603020101020101" pitchFamily="18" charset="-127"/>
                  </a:defRPr>
                </a:lvl1pPr>
              </a:lstStyle>
              <a:p>
                <a:pPr algn="ctr"/>
                <a:r>
                  <a:rPr lang="en-US" altLang="ko-KR" sz="1600" dirty="0">
                    <a:solidFill>
                      <a:schemeClr val="bg1"/>
                    </a:solidFill>
                  </a:rPr>
                  <a:t>2. </a:t>
                </a:r>
                <a:r>
                  <a:rPr lang="ko-KR" altLang="en-US" sz="1600" dirty="0">
                    <a:solidFill>
                      <a:schemeClr val="bg1"/>
                    </a:solidFill>
                  </a:rPr>
                  <a:t>고장신호 특성화</a:t>
                </a:r>
                <a:endParaRPr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0" name="object 39">
              <a:extLst>
                <a:ext uri="{FF2B5EF4-FFF2-40B4-BE49-F238E27FC236}">
                  <a16:creationId xmlns:a16="http://schemas.microsoft.com/office/drawing/2014/main" id="{6650E9B8-A3D1-6231-AA06-BD2529885B87}"/>
                </a:ext>
              </a:extLst>
            </p:cNvPr>
            <p:cNvSpPr txBox="1"/>
            <p:nvPr/>
          </p:nvSpPr>
          <p:spPr>
            <a:xfrm>
              <a:off x="4498856" y="3824080"/>
              <a:ext cx="3108201" cy="78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tx1"/>
                  </a:solidFill>
                </a:rPr>
                <a:t>정상 및 고장 모터에 대한 전자기 해석 진행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tx1"/>
                  </a:solidFill>
                </a:rPr>
                <a:t>모터의</a:t>
              </a:r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 err="1">
                  <a:solidFill>
                    <a:schemeClr val="tx1"/>
                  </a:solidFill>
                </a:rPr>
                <a:t>쇄교자속</a:t>
              </a:r>
              <a:r>
                <a:rPr lang="ko-KR" altLang="en-US" dirty="0">
                  <a:solidFill>
                    <a:schemeClr val="tx1"/>
                  </a:solidFill>
                </a:rPr>
                <a:t> 추출 및 신호 분석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393D296D-166B-6759-F82B-FDD3C54BAA16}"/>
              </a:ext>
            </a:extLst>
          </p:cNvPr>
          <p:cNvGrpSpPr/>
          <p:nvPr/>
        </p:nvGrpSpPr>
        <p:grpSpPr>
          <a:xfrm>
            <a:off x="287327" y="3216531"/>
            <a:ext cx="3522673" cy="3031378"/>
            <a:chOff x="287327" y="3449290"/>
            <a:chExt cx="3522673" cy="3031378"/>
          </a:xfrm>
        </p:grpSpPr>
        <p:sp>
          <p:nvSpPr>
            <p:cNvPr id="5" name="object 5"/>
            <p:cNvSpPr/>
            <p:nvPr/>
          </p:nvSpPr>
          <p:spPr>
            <a:xfrm>
              <a:off x="288797" y="3820905"/>
              <a:ext cx="3521203" cy="2659763"/>
            </a:xfrm>
            <a:custGeom>
              <a:avLst/>
              <a:gdLst/>
              <a:ahLst/>
              <a:cxnLst/>
              <a:rect l="l" t="t" r="r" b="b"/>
              <a:pathLst>
                <a:path w="2700655" h="3221990">
                  <a:moveTo>
                    <a:pt x="0" y="3221736"/>
                  </a:moveTo>
                  <a:lnTo>
                    <a:pt x="2700528" y="3221736"/>
                  </a:lnTo>
                  <a:lnTo>
                    <a:pt x="2700528" y="0"/>
                  </a:lnTo>
                  <a:lnTo>
                    <a:pt x="0" y="0"/>
                  </a:lnTo>
                  <a:lnTo>
                    <a:pt x="0" y="3221736"/>
                  </a:lnTo>
                  <a:close/>
                </a:path>
              </a:pathLst>
            </a:custGeom>
            <a:ln w="285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8020A34A-592C-7BC9-BFD3-446045400C02}"/>
                </a:ext>
              </a:extLst>
            </p:cNvPr>
            <p:cNvGrpSpPr/>
            <p:nvPr/>
          </p:nvGrpSpPr>
          <p:grpSpPr>
            <a:xfrm>
              <a:off x="287327" y="3449290"/>
              <a:ext cx="1777052" cy="363759"/>
              <a:chOff x="1922491" y="6410217"/>
              <a:chExt cx="1777052" cy="363759"/>
            </a:xfrm>
          </p:grpSpPr>
          <p:sp>
            <p:nvSpPr>
              <p:cNvPr id="52" name="object 91">
                <a:extLst>
                  <a:ext uri="{FF2B5EF4-FFF2-40B4-BE49-F238E27FC236}">
                    <a16:creationId xmlns:a16="http://schemas.microsoft.com/office/drawing/2014/main" id="{885741C2-FD1A-6B25-0030-E86E512433A1}"/>
                  </a:ext>
                </a:extLst>
              </p:cNvPr>
              <p:cNvSpPr/>
              <p:nvPr/>
            </p:nvSpPr>
            <p:spPr>
              <a:xfrm>
                <a:off x="1922491" y="6410217"/>
                <a:ext cx="1777052" cy="363759"/>
              </a:xfrm>
              <a:custGeom>
                <a:avLst/>
                <a:gdLst/>
                <a:ahLst/>
                <a:cxnLst/>
                <a:rect l="l" t="t" r="r" b="b"/>
                <a:pathLst>
                  <a:path w="815339" h="203200">
                    <a:moveTo>
                      <a:pt x="815339" y="0"/>
                    </a:moveTo>
                    <a:lnTo>
                      <a:pt x="0" y="0"/>
                    </a:lnTo>
                    <a:lnTo>
                      <a:pt x="0" y="202691"/>
                    </a:lnTo>
                    <a:lnTo>
                      <a:pt x="815339" y="202691"/>
                    </a:lnTo>
                    <a:lnTo>
                      <a:pt x="815339" y="0"/>
                    </a:lnTo>
                    <a:close/>
                  </a:path>
                </a:pathLst>
              </a:custGeom>
              <a:solidFill>
                <a:srgbClr val="002C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92">
                <a:extLst>
                  <a:ext uri="{FF2B5EF4-FFF2-40B4-BE49-F238E27FC236}">
                    <a16:creationId xmlns:a16="http://schemas.microsoft.com/office/drawing/2014/main" id="{0D333F48-C7BE-8203-2437-0D536C440897}"/>
                  </a:ext>
                </a:extLst>
              </p:cNvPr>
              <p:cNvSpPr txBox="1"/>
              <p:nvPr/>
            </p:nvSpPr>
            <p:spPr>
              <a:xfrm>
                <a:off x="2208934" y="6422819"/>
                <a:ext cx="12041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kern="0"/>
                </a:defPPr>
                <a:lvl1pPr>
                  <a:defRPr sz="1050">
                    <a:latin typeface="현대하모니 L" panose="02020603020101020101" pitchFamily="18" charset="-127"/>
                    <a:ea typeface="현대하모니 L" panose="02020603020101020101" pitchFamily="18" charset="-127"/>
                  </a:defRPr>
                </a:lvl1pPr>
              </a:lstStyle>
              <a:p>
                <a:pPr algn="ctr"/>
                <a:r>
                  <a:rPr lang="en-US" altLang="ko-KR" sz="1600" dirty="0">
                    <a:solidFill>
                      <a:schemeClr val="bg1"/>
                    </a:solidFill>
                  </a:rPr>
                  <a:t>1. </a:t>
                </a:r>
                <a:r>
                  <a:rPr lang="ko-KR" altLang="en-US" sz="1600" dirty="0">
                    <a:solidFill>
                      <a:schemeClr val="bg1"/>
                    </a:solidFill>
                  </a:rPr>
                  <a:t>고장 분석</a:t>
                </a:r>
                <a:endParaRPr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6" name="object 39">
              <a:extLst>
                <a:ext uri="{FF2B5EF4-FFF2-40B4-BE49-F238E27FC236}">
                  <a16:creationId xmlns:a16="http://schemas.microsoft.com/office/drawing/2014/main" id="{8352AA69-5CA0-E832-0EBC-8CB330EB60F5}"/>
                </a:ext>
              </a:extLst>
            </p:cNvPr>
            <p:cNvSpPr txBox="1"/>
            <p:nvPr/>
          </p:nvSpPr>
          <p:spPr>
            <a:xfrm>
              <a:off x="473199" y="3820905"/>
              <a:ext cx="3108201" cy="78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tx1"/>
                  </a:solidFill>
                </a:rPr>
                <a:t>정상 및 고장 모터에 대한 전자기 해석 진행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chemeClr val="tx1"/>
                  </a:solidFill>
                </a:rPr>
                <a:t>모터 파라미터 </a:t>
              </a:r>
              <a:r>
                <a:rPr lang="en-US" altLang="ko-KR" dirty="0">
                  <a:solidFill>
                    <a:schemeClr val="tx1"/>
                  </a:solidFill>
                </a:rPr>
                <a:t>(</a:t>
              </a:r>
              <a:r>
                <a:rPr lang="ko-KR" altLang="en-US" dirty="0" err="1">
                  <a:solidFill>
                    <a:schemeClr val="tx1"/>
                  </a:solidFill>
                </a:rPr>
                <a:t>쇄교자속</a:t>
              </a:r>
              <a:r>
                <a:rPr lang="ko-KR" altLang="en-US" dirty="0">
                  <a:solidFill>
                    <a:schemeClr val="tx1"/>
                  </a:solidFill>
                </a:rPr>
                <a:t> 및 토크</a:t>
              </a:r>
              <a:r>
                <a:rPr lang="en-US" altLang="ko-KR" dirty="0">
                  <a:solidFill>
                    <a:schemeClr val="tx1"/>
                  </a:solidFill>
                </a:rPr>
                <a:t>)</a:t>
              </a:r>
              <a:r>
                <a:rPr lang="ko-KR" altLang="en-US" dirty="0">
                  <a:solidFill>
                    <a:schemeClr val="tx1"/>
                  </a:solidFill>
                </a:rPr>
                <a:t> 추출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49741579-9327-75E1-F002-329F3FDA19DD}"/>
              </a:ext>
            </a:extLst>
          </p:cNvPr>
          <p:cNvGrpSpPr/>
          <p:nvPr/>
        </p:nvGrpSpPr>
        <p:grpSpPr>
          <a:xfrm>
            <a:off x="414642" y="4081330"/>
            <a:ext cx="3201359" cy="1947665"/>
            <a:chOff x="414642" y="4150581"/>
            <a:chExt cx="3201359" cy="1947665"/>
          </a:xfrm>
        </p:grpSpPr>
        <p:pic>
          <p:nvPicPr>
            <p:cNvPr id="4" name="그림 36">
              <a:extLst>
                <a:ext uri="{FF2B5EF4-FFF2-40B4-BE49-F238E27FC236}">
                  <a16:creationId xmlns:a16="http://schemas.microsoft.com/office/drawing/2014/main" id="{1C9D7205-F18A-FA76-18BD-4C735E8B1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9290" y="4150581"/>
              <a:ext cx="486711" cy="193073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28A978E-E0FB-FED9-896B-E614FB6B6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4642" y="4379497"/>
              <a:ext cx="2689587" cy="1426699"/>
            </a:xfrm>
            <a:prstGeom prst="rect">
              <a:avLst/>
            </a:prstGeom>
          </p:spPr>
        </p:pic>
        <p:sp>
          <p:nvSpPr>
            <p:cNvPr id="7" name="직사각형 29">
              <a:extLst>
                <a:ext uri="{FF2B5EF4-FFF2-40B4-BE49-F238E27FC236}">
                  <a16:creationId xmlns:a16="http://schemas.microsoft.com/office/drawing/2014/main" id="{D9A29F33-360C-2D03-FE1C-4963CC5C0529}"/>
                </a:ext>
              </a:extLst>
            </p:cNvPr>
            <p:cNvSpPr/>
            <p:nvPr/>
          </p:nvSpPr>
          <p:spPr>
            <a:xfrm>
              <a:off x="630637" y="5805858"/>
              <a:ext cx="916776" cy="292388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algn="ctr" defTabSz="457200" latinLnBrk="0">
                <a:defRPr/>
              </a:pPr>
              <a:r>
                <a:rPr lang="ko-KR" altLang="en-US" sz="1300" b="1" dirty="0">
                  <a:latin typeface="맑은 고딕"/>
                  <a:ea typeface="맑은 고딕" panose="020B0503020000020004" pitchFamily="50" charset="-127"/>
                </a:rPr>
                <a:t>정상 모터</a:t>
              </a:r>
              <a:endParaRPr lang="en-US" altLang="ko-KR" sz="1300" b="1" dirty="0"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29">
              <a:extLst>
                <a:ext uri="{FF2B5EF4-FFF2-40B4-BE49-F238E27FC236}">
                  <a16:creationId xmlns:a16="http://schemas.microsoft.com/office/drawing/2014/main" id="{50E498BE-F7E2-8D22-4F71-F4CA7A69AD79}"/>
                </a:ext>
              </a:extLst>
            </p:cNvPr>
            <p:cNvSpPr/>
            <p:nvPr/>
          </p:nvSpPr>
          <p:spPr>
            <a:xfrm>
              <a:off x="1969756" y="5805858"/>
              <a:ext cx="916776" cy="292388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algn="ctr" defTabSz="457200" latinLnBrk="0">
                <a:defRPr/>
              </a:pPr>
              <a:r>
                <a:rPr lang="ko-KR" altLang="en-US" sz="1300" b="1" dirty="0">
                  <a:latin typeface="맑은 고딕"/>
                  <a:ea typeface="맑은 고딕" panose="020B0503020000020004" pitchFamily="50" charset="-127"/>
                </a:rPr>
                <a:t>감자 모터</a:t>
              </a:r>
              <a:endParaRPr lang="en-US" altLang="ko-KR" sz="1300" b="1" dirty="0"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object 23">
            <a:extLst>
              <a:ext uri="{FF2B5EF4-FFF2-40B4-BE49-F238E27FC236}">
                <a16:creationId xmlns:a16="http://schemas.microsoft.com/office/drawing/2014/main" id="{86C77F45-3ACD-5595-199C-26EDB835A9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728" y="6247909"/>
            <a:ext cx="496968" cy="4937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BFE72A-5391-4AEF-596A-8D7471704F88}"/>
              </a:ext>
            </a:extLst>
          </p:cNvPr>
          <p:cNvSpPr txBox="1"/>
          <p:nvPr/>
        </p:nvSpPr>
        <p:spPr>
          <a:xfrm>
            <a:off x="1196641" y="63246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감자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전류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증가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및 편심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(fractional harmonics)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결함 신호 이론적 도출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E46074-3F66-5661-72AB-6DACB54A30FB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4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98" name="object 23">
            <a:extLst>
              <a:ext uri="{FF2B5EF4-FFF2-40B4-BE49-F238E27FC236}">
                <a16:creationId xmlns:a16="http://schemas.microsoft.com/office/drawing/2014/main" id="{571CB1CF-B8FC-E799-7BE9-3B3C67AC07E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5065" y="4746617"/>
            <a:ext cx="371721" cy="369332"/>
          </a:xfrm>
          <a:prstGeom prst="rect">
            <a:avLst/>
          </a:prstGeom>
        </p:spPr>
      </p:pic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30E1EC21-BD70-5332-5A2F-A2F581C0E83C}"/>
              </a:ext>
            </a:extLst>
          </p:cNvPr>
          <p:cNvGrpSpPr/>
          <p:nvPr/>
        </p:nvGrpSpPr>
        <p:grpSpPr>
          <a:xfrm>
            <a:off x="4337395" y="4341607"/>
            <a:ext cx="2869158" cy="1434579"/>
            <a:chOff x="4335473" y="4422042"/>
            <a:chExt cx="2869158" cy="1434579"/>
          </a:xfrm>
        </p:grpSpPr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7431D2EB-842D-4DA4-B432-FB51156B1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35473" y="4422042"/>
              <a:ext cx="2869158" cy="1434579"/>
            </a:xfrm>
            <a:prstGeom prst="rect">
              <a:avLst/>
            </a:prstGeom>
          </p:spPr>
        </p:pic>
        <p:sp>
          <p:nvSpPr>
            <p:cNvPr id="84" name="object 39">
              <a:extLst>
                <a:ext uri="{FF2B5EF4-FFF2-40B4-BE49-F238E27FC236}">
                  <a16:creationId xmlns:a16="http://schemas.microsoft.com/office/drawing/2014/main" id="{3C681AA9-99D8-B769-FB45-0F8CBB710F6C}"/>
                </a:ext>
              </a:extLst>
            </p:cNvPr>
            <p:cNvSpPr txBox="1"/>
            <p:nvPr/>
          </p:nvSpPr>
          <p:spPr>
            <a:xfrm>
              <a:off x="4903235" y="4861650"/>
              <a:ext cx="1325054" cy="273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ko-KR" altLang="en-US" dirty="0">
                  <a:solidFill>
                    <a:schemeClr val="accent1">
                      <a:lumMod val="50000"/>
                    </a:schemeClr>
                  </a:solidFill>
                </a:rPr>
                <a:t>감자 고장 </a:t>
              </a:r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</a:rPr>
                <a:t>:</a:t>
              </a:r>
              <a:r>
                <a:rPr lang="ko-KR" altLang="en-US" dirty="0">
                  <a:solidFill>
                    <a:schemeClr val="accent1">
                      <a:lumMod val="50000"/>
                    </a:schemeClr>
                  </a:solidFill>
                </a:rPr>
                <a:t> </a:t>
              </a:r>
              <a:r>
                <a:rPr lang="ko-KR" altLang="en-US" dirty="0" err="1">
                  <a:solidFill>
                    <a:schemeClr val="accent1">
                      <a:lumMod val="50000"/>
                    </a:schemeClr>
                  </a:solidFill>
                </a:rPr>
                <a:t>자속</a:t>
              </a:r>
              <a:r>
                <a:rPr lang="ko-KR" altLang="en-US" dirty="0">
                  <a:solidFill>
                    <a:schemeClr val="accent1">
                      <a:lumMod val="50000"/>
                    </a:schemeClr>
                  </a:solidFill>
                </a:rPr>
                <a:t> 감소</a:t>
              </a:r>
              <a:endParaRPr lang="en-US" altLang="ko-KR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25693BC7-3FE5-E835-BAB9-673A24682E86}"/>
                </a:ext>
              </a:extLst>
            </p:cNvPr>
            <p:cNvCxnSpPr/>
            <p:nvPr/>
          </p:nvCxnSpPr>
          <p:spPr>
            <a:xfrm>
              <a:off x="4816141" y="4698369"/>
              <a:ext cx="0" cy="635631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4AA21A2-E5EF-47D8-843B-D16DCF806B72}"/>
              </a:ext>
            </a:extLst>
          </p:cNvPr>
          <p:cNvGrpSpPr/>
          <p:nvPr/>
        </p:nvGrpSpPr>
        <p:grpSpPr>
          <a:xfrm>
            <a:off x="7206732" y="3729683"/>
            <a:ext cx="1594569" cy="1225815"/>
            <a:chOff x="7206732" y="3729683"/>
            <a:chExt cx="1594569" cy="1225815"/>
          </a:xfrm>
        </p:grpSpPr>
        <p:sp>
          <p:nvSpPr>
            <p:cNvPr id="45" name="object 39">
              <a:extLst>
                <a:ext uri="{FF2B5EF4-FFF2-40B4-BE49-F238E27FC236}">
                  <a16:creationId xmlns:a16="http://schemas.microsoft.com/office/drawing/2014/main" id="{32B0CD4E-B13D-434E-4082-CA929AB000F9}"/>
                </a:ext>
              </a:extLst>
            </p:cNvPr>
            <p:cNvSpPr txBox="1"/>
            <p:nvPr/>
          </p:nvSpPr>
          <p:spPr>
            <a:xfrm>
              <a:off x="7206732" y="4687668"/>
              <a:ext cx="1594569" cy="267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accent1">
                      <a:lumMod val="50000"/>
                    </a:schemeClr>
                  </a:solidFill>
                </a:rPr>
                <a:t>동적 및 정적 편심 </a:t>
              </a:r>
              <a:r>
                <a:rPr lang="ko-KR" altLang="en-US" sz="900" dirty="0" err="1">
                  <a:solidFill>
                    <a:schemeClr val="accent1">
                      <a:lumMod val="50000"/>
                    </a:schemeClr>
                  </a:solidFill>
                </a:rPr>
                <a:t>자속</a:t>
              </a:r>
              <a:r>
                <a:rPr lang="ko-KR" altLang="en-US" sz="900" dirty="0">
                  <a:solidFill>
                    <a:schemeClr val="accent1">
                      <a:lumMod val="50000"/>
                    </a:schemeClr>
                  </a:solidFill>
                </a:rPr>
                <a:t> 증가</a:t>
              </a:r>
              <a:endParaRPr lang="en-US" altLang="ko-KR" sz="9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11907D94-0DC8-5147-2A8F-41314EFC9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30168" y="3729683"/>
              <a:ext cx="1347697" cy="1000233"/>
            </a:xfrm>
            <a:prstGeom prst="rect">
              <a:avLst/>
            </a:prstGeom>
          </p:spPr>
        </p:pic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1117662F-2E82-62F2-57B8-76AB59282DB5}"/>
              </a:ext>
            </a:extLst>
          </p:cNvPr>
          <p:cNvGrpSpPr/>
          <p:nvPr/>
        </p:nvGrpSpPr>
        <p:grpSpPr>
          <a:xfrm>
            <a:off x="7316982" y="4931283"/>
            <a:ext cx="1405824" cy="1275103"/>
            <a:chOff x="7505726" y="4852750"/>
            <a:chExt cx="1217080" cy="1103909"/>
          </a:xfrm>
        </p:grpSpPr>
        <p:sp>
          <p:nvSpPr>
            <p:cNvPr id="44" name="object 39">
              <a:extLst>
                <a:ext uri="{FF2B5EF4-FFF2-40B4-BE49-F238E27FC236}">
                  <a16:creationId xmlns:a16="http://schemas.microsoft.com/office/drawing/2014/main" id="{20580D87-EEEB-B6F0-7931-C74D27FAEA9B}"/>
                </a:ext>
              </a:extLst>
            </p:cNvPr>
            <p:cNvSpPr txBox="1"/>
            <p:nvPr/>
          </p:nvSpPr>
          <p:spPr>
            <a:xfrm>
              <a:off x="7505726" y="5688829"/>
              <a:ext cx="1217080" cy="267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accent1">
                      <a:lumMod val="50000"/>
                    </a:schemeClr>
                  </a:solidFill>
                </a:rPr>
                <a:t>복합 편심 </a:t>
              </a:r>
              <a:r>
                <a:rPr lang="en-US" altLang="ko-KR" sz="900" dirty="0">
                  <a:solidFill>
                    <a:schemeClr val="accent1">
                      <a:lumMod val="50000"/>
                    </a:schemeClr>
                  </a:solidFill>
                </a:rPr>
                <a:t>: </a:t>
              </a:r>
              <a:r>
                <a:rPr lang="ko-KR" altLang="en-US" sz="900" dirty="0">
                  <a:solidFill>
                    <a:schemeClr val="accent1">
                      <a:lumMod val="50000"/>
                    </a:schemeClr>
                  </a:solidFill>
                </a:rPr>
                <a:t>주기성</a:t>
              </a:r>
              <a:endParaRPr lang="en-US" altLang="ko-KR" sz="9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0677CBD1-94B4-B7DD-C586-FF38782E6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05726" y="4852750"/>
              <a:ext cx="1217080" cy="9205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4107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207" y="121412"/>
            <a:ext cx="32636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주요 연구 수행 이력</a:t>
            </a:r>
          </a:p>
        </p:txBody>
      </p:sp>
      <p:sp>
        <p:nvSpPr>
          <p:cNvPr id="22" name="object 28">
            <a:extLst>
              <a:ext uri="{FF2B5EF4-FFF2-40B4-BE49-F238E27FC236}">
                <a16:creationId xmlns:a16="http://schemas.microsoft.com/office/drawing/2014/main" id="{467A5A3F-ABD4-5D6C-45EE-E558CE861EDE}"/>
              </a:ext>
            </a:extLst>
          </p:cNvPr>
          <p:cNvSpPr txBox="1"/>
          <p:nvPr/>
        </p:nvSpPr>
        <p:spPr>
          <a:xfrm>
            <a:off x="340562" y="840485"/>
            <a:ext cx="476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>
                <a:solidFill>
                  <a:srgbClr val="001F5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rPr lang="en-US"/>
              <a:t>PMSM</a:t>
            </a:r>
            <a:r>
              <a:rPr lang="ko-KR" altLang="en-US" dirty="0"/>
              <a:t> 고장진단</a:t>
            </a:r>
            <a:endParaRPr dirty="0"/>
          </a:p>
        </p:txBody>
      </p:sp>
      <p:sp>
        <p:nvSpPr>
          <p:cNvPr id="23" name="object 39">
            <a:extLst>
              <a:ext uri="{FF2B5EF4-FFF2-40B4-BE49-F238E27FC236}">
                <a16:creationId xmlns:a16="http://schemas.microsoft.com/office/drawing/2014/main" id="{76D7A605-BCEF-5692-A086-7776431272B4}"/>
              </a:ext>
            </a:extLst>
          </p:cNvPr>
          <p:cNvSpPr txBox="1"/>
          <p:nvPr/>
        </p:nvSpPr>
        <p:spPr>
          <a:xfrm>
            <a:off x="363774" y="2022148"/>
            <a:ext cx="4055826" cy="36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2) </a:t>
            </a:r>
            <a:r>
              <a:rPr lang="ko-KR" altLang="en-US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모터 및 인버터 제어 시뮬레이션</a:t>
            </a:r>
            <a:endParaRPr lang="en-US" altLang="ko-KR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1DBFFF0C-5D44-0265-F478-2AF98E7AC033}"/>
              </a:ext>
            </a:extLst>
          </p:cNvPr>
          <p:cNvSpPr/>
          <p:nvPr/>
        </p:nvSpPr>
        <p:spPr>
          <a:xfrm>
            <a:off x="288797" y="2804357"/>
            <a:ext cx="3521203" cy="3445918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2714B8D-D8C0-365D-48F1-449A45A12A14}"/>
              </a:ext>
            </a:extLst>
          </p:cNvPr>
          <p:cNvGrpSpPr/>
          <p:nvPr/>
        </p:nvGrpSpPr>
        <p:grpSpPr>
          <a:xfrm>
            <a:off x="287327" y="2440598"/>
            <a:ext cx="1777052" cy="363759"/>
            <a:chOff x="1922491" y="5401525"/>
            <a:chExt cx="1777052" cy="363759"/>
          </a:xfrm>
        </p:grpSpPr>
        <p:sp>
          <p:nvSpPr>
            <p:cNvPr id="32" name="object 91">
              <a:extLst>
                <a:ext uri="{FF2B5EF4-FFF2-40B4-BE49-F238E27FC236}">
                  <a16:creationId xmlns:a16="http://schemas.microsoft.com/office/drawing/2014/main" id="{CE236F7D-906A-368C-E3C5-7A271F316169}"/>
                </a:ext>
              </a:extLst>
            </p:cNvPr>
            <p:cNvSpPr/>
            <p:nvPr/>
          </p:nvSpPr>
          <p:spPr>
            <a:xfrm>
              <a:off x="1922491" y="5401525"/>
              <a:ext cx="1777052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92">
              <a:extLst>
                <a:ext uri="{FF2B5EF4-FFF2-40B4-BE49-F238E27FC236}">
                  <a16:creationId xmlns:a16="http://schemas.microsoft.com/office/drawing/2014/main" id="{2592C950-824A-9242-BCD4-E24B060960DB}"/>
                </a:ext>
              </a:extLst>
            </p:cNvPr>
            <p:cNvSpPr txBox="1"/>
            <p:nvPr/>
          </p:nvSpPr>
          <p:spPr>
            <a:xfrm>
              <a:off x="1968485" y="5414127"/>
              <a:ext cx="16850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1. </a:t>
              </a:r>
              <a:r>
                <a:rPr lang="ko-KR" altLang="en-US" sz="1600" dirty="0">
                  <a:solidFill>
                    <a:schemeClr val="bg1"/>
                  </a:solidFill>
                </a:rPr>
                <a:t>모터 모델 선정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object 39">
            <a:extLst>
              <a:ext uri="{FF2B5EF4-FFF2-40B4-BE49-F238E27FC236}">
                <a16:creationId xmlns:a16="http://schemas.microsoft.com/office/drawing/2014/main" id="{6759EE5E-812D-2ECD-2555-B10C04E1B02B}"/>
              </a:ext>
            </a:extLst>
          </p:cNvPr>
          <p:cNvSpPr txBox="1"/>
          <p:nvPr/>
        </p:nvSpPr>
        <p:spPr>
          <a:xfrm>
            <a:off x="473199" y="2808926"/>
            <a:ext cx="3108201" cy="781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모터 결함 반영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모델 정확도 중요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다양한 동작환경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계산시간 중요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정확성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계산시간을 모두 고려한 모델 선정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6" name="object 5">
            <a:extLst>
              <a:ext uri="{FF2B5EF4-FFF2-40B4-BE49-F238E27FC236}">
                <a16:creationId xmlns:a16="http://schemas.microsoft.com/office/drawing/2014/main" id="{9EACDA89-11DF-3EA1-3E28-5CE67DD51032}"/>
              </a:ext>
            </a:extLst>
          </p:cNvPr>
          <p:cNvSpPr/>
          <p:nvPr/>
        </p:nvSpPr>
        <p:spPr>
          <a:xfrm>
            <a:off x="4314454" y="2804357"/>
            <a:ext cx="4508888" cy="3445917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280749B-620E-95D5-6D8F-4308F37CFFA6}"/>
              </a:ext>
            </a:extLst>
          </p:cNvPr>
          <p:cNvGrpSpPr/>
          <p:nvPr/>
        </p:nvGrpSpPr>
        <p:grpSpPr>
          <a:xfrm>
            <a:off x="4312984" y="2440598"/>
            <a:ext cx="1478216" cy="363759"/>
            <a:chOff x="1922491" y="5401525"/>
            <a:chExt cx="1478216" cy="363759"/>
          </a:xfrm>
        </p:grpSpPr>
        <p:sp>
          <p:nvSpPr>
            <p:cNvPr id="40" name="object 91">
              <a:extLst>
                <a:ext uri="{FF2B5EF4-FFF2-40B4-BE49-F238E27FC236}">
                  <a16:creationId xmlns:a16="http://schemas.microsoft.com/office/drawing/2014/main" id="{87DD8514-749F-2957-42C5-315CA969ECEE}"/>
                </a:ext>
              </a:extLst>
            </p:cNvPr>
            <p:cNvSpPr/>
            <p:nvPr/>
          </p:nvSpPr>
          <p:spPr>
            <a:xfrm>
              <a:off x="1922491" y="5401525"/>
              <a:ext cx="1478216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92">
              <a:extLst>
                <a:ext uri="{FF2B5EF4-FFF2-40B4-BE49-F238E27FC236}">
                  <a16:creationId xmlns:a16="http://schemas.microsoft.com/office/drawing/2014/main" id="{5E3D9559-0705-B77E-CA87-DACF95F32271}"/>
                </a:ext>
              </a:extLst>
            </p:cNvPr>
            <p:cNvSpPr txBox="1"/>
            <p:nvPr/>
          </p:nvSpPr>
          <p:spPr>
            <a:xfrm>
              <a:off x="1939628" y="5414127"/>
              <a:ext cx="14610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2. </a:t>
              </a:r>
              <a:r>
                <a:rPr lang="ko-KR" altLang="en-US" sz="1600" dirty="0">
                  <a:solidFill>
                    <a:schemeClr val="bg1"/>
                  </a:solidFill>
                </a:rPr>
                <a:t>모터 모델링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object 39">
            <a:extLst>
              <a:ext uri="{FF2B5EF4-FFF2-40B4-BE49-F238E27FC236}">
                <a16:creationId xmlns:a16="http://schemas.microsoft.com/office/drawing/2014/main" id="{33268631-7A68-2D57-BCA7-6DD74951FD9B}"/>
              </a:ext>
            </a:extLst>
          </p:cNvPr>
          <p:cNvSpPr txBox="1"/>
          <p:nvPr/>
        </p:nvSpPr>
        <p:spPr>
          <a:xfrm>
            <a:off x="4498856" y="2816959"/>
            <a:ext cx="3108201" cy="102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Transient FEM </a:t>
            </a:r>
            <a:r>
              <a:rPr lang="ko-KR" altLang="en-US" dirty="0">
                <a:solidFill>
                  <a:schemeClr val="tx1"/>
                </a:solidFill>
              </a:rPr>
              <a:t>해석 </a:t>
            </a:r>
            <a:r>
              <a:rPr lang="en-US" altLang="ko-KR" dirty="0">
                <a:solidFill>
                  <a:schemeClr val="tx1"/>
                </a:solidFill>
              </a:rPr>
              <a:t>(Ansys Maxwell)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정상 및 고장 모터에 대한 </a:t>
            </a:r>
            <a:r>
              <a:rPr lang="ko-KR" altLang="en-US" dirty="0" err="1">
                <a:solidFill>
                  <a:schemeClr val="tx1"/>
                </a:solidFill>
              </a:rPr>
              <a:t>쇄교자속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 토크 추출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모터 파라미터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Look-up table (LUT) MATLAB Simulink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모터 모델 </a:t>
            </a:r>
            <a:r>
              <a:rPr lang="ko-KR" alt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구현시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 활용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9" name="object 39">
            <a:extLst>
              <a:ext uri="{FF2B5EF4-FFF2-40B4-BE49-F238E27FC236}">
                <a16:creationId xmlns:a16="http://schemas.microsoft.com/office/drawing/2014/main" id="{8A450933-EFBA-FED2-E0F1-F55C352E00DD}"/>
              </a:ext>
            </a:extLst>
          </p:cNvPr>
          <p:cNvSpPr txBox="1"/>
          <p:nvPr/>
        </p:nvSpPr>
        <p:spPr>
          <a:xfrm>
            <a:off x="473199" y="5486400"/>
            <a:ext cx="3108201" cy="60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</a:rPr>
              <a:t>포화특성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</a:rPr>
              <a:t>공간고조파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</a:rPr>
              <a:t>손실을 반영한</a:t>
            </a:r>
            <a:endParaRPr lang="en-US" altLang="ko-KR" sz="1200" dirty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Flux state variable model 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</a:rPr>
              <a:t>사용</a:t>
            </a:r>
            <a:endParaRPr lang="en-US" altLang="ko-K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" name="object 39">
            <a:extLst>
              <a:ext uri="{FF2B5EF4-FFF2-40B4-BE49-F238E27FC236}">
                <a16:creationId xmlns:a16="http://schemas.microsoft.com/office/drawing/2014/main" id="{4074826D-A2BF-7429-DAD2-821A8BE21BE1}"/>
              </a:ext>
            </a:extLst>
          </p:cNvPr>
          <p:cNvSpPr txBox="1"/>
          <p:nvPr/>
        </p:nvSpPr>
        <p:spPr>
          <a:xfrm>
            <a:off x="4803557" y="5562600"/>
            <a:ext cx="3108201" cy="61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1200" dirty="0" err="1">
                <a:solidFill>
                  <a:schemeClr val="accent1">
                    <a:lumMod val="50000"/>
                  </a:schemeClr>
                </a:solidFill>
              </a:rPr>
              <a:t>쇄교자속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/ 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</a:rPr>
              <a:t>모터 토크</a:t>
            </a:r>
            <a:endParaRPr lang="en-US" altLang="ko-KR" sz="1200" dirty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3D Look-up table(LUT)</a:t>
            </a:r>
            <a:endParaRPr lang="en-US" altLang="ko-K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표 19">
            <a:extLst>
              <a:ext uri="{FF2B5EF4-FFF2-40B4-BE49-F238E27FC236}">
                <a16:creationId xmlns:a16="http://schemas.microsoft.com/office/drawing/2014/main" id="{5FAB39CE-78CA-A983-7489-F32A2BB89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405534"/>
              </p:ext>
            </p:extLst>
          </p:nvPr>
        </p:nvGraphicFramePr>
        <p:xfrm>
          <a:off x="502821" y="3651063"/>
          <a:ext cx="2952121" cy="172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222">
                  <a:extLst>
                    <a:ext uri="{9D8B030D-6E8A-4147-A177-3AD203B41FA5}">
                      <a16:colId xmlns:a16="http://schemas.microsoft.com/office/drawing/2014/main" val="3485073348"/>
                    </a:ext>
                  </a:extLst>
                </a:gridCol>
                <a:gridCol w="2237899">
                  <a:extLst>
                    <a:ext uri="{9D8B030D-6E8A-4147-A177-3AD203B41FA5}">
                      <a16:colId xmlns:a16="http://schemas.microsoft.com/office/drawing/2014/main" val="3597001149"/>
                    </a:ext>
                  </a:extLst>
                </a:gridCol>
              </a:tblGrid>
              <a:tr h="3138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정확도</a:t>
                      </a: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주요특징</a:t>
                      </a: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259629"/>
                  </a:ext>
                </a:extLst>
              </a:tr>
              <a:tr h="313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Lumped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32788"/>
                  </a:ext>
                </a:extLst>
              </a:tr>
              <a:tr h="389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Magnetic saturation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Spatial harmonics</a:t>
                      </a: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83577"/>
                  </a:ext>
                </a:extLst>
              </a:tr>
              <a:tr h="313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Saturation / Spatial harmonics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101830"/>
                  </a:ext>
                </a:extLst>
              </a:tr>
              <a:tr h="389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Saturation / Spatial harmonics  Loss(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Hyesteresis&amp;Eddy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current)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7394" marR="77394" marT="38697" marB="3869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8042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2599F7A-8CD1-F2B6-DCD5-397000982B69}"/>
              </a:ext>
            </a:extLst>
          </p:cNvPr>
          <p:cNvSpPr/>
          <p:nvPr/>
        </p:nvSpPr>
        <p:spPr bwMode="auto">
          <a:xfrm>
            <a:off x="515212" y="5010231"/>
            <a:ext cx="2939730" cy="32376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D1DDE1-387F-0DFD-1C4A-611179DE9975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5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451B480-9A9A-622E-8F85-7B6D53E7746A}"/>
              </a:ext>
            </a:extLst>
          </p:cNvPr>
          <p:cNvGrpSpPr/>
          <p:nvPr/>
        </p:nvGrpSpPr>
        <p:grpSpPr>
          <a:xfrm>
            <a:off x="448637" y="1370284"/>
            <a:ext cx="8425173" cy="603378"/>
            <a:chOff x="490227" y="1369897"/>
            <a:chExt cx="8425173" cy="603378"/>
          </a:xfrm>
        </p:grpSpPr>
        <p:pic>
          <p:nvPicPr>
            <p:cNvPr id="43" name="object 23">
              <a:extLst>
                <a:ext uri="{FF2B5EF4-FFF2-40B4-BE49-F238E27FC236}">
                  <a16:creationId xmlns:a16="http://schemas.microsoft.com/office/drawing/2014/main" id="{BBA0CC04-67C1-ED62-2F43-B22352C96D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231" y="1382692"/>
              <a:ext cx="496968" cy="493774"/>
            </a:xfrm>
            <a:prstGeom prst="rect">
              <a:avLst/>
            </a:prstGeom>
          </p:spPr>
        </p:pic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8BA1BBA-100A-8E3F-B7D9-D882A8DE1377}"/>
                </a:ext>
              </a:extLst>
            </p:cNvPr>
            <p:cNvSpPr/>
            <p:nvPr/>
          </p:nvSpPr>
          <p:spPr>
            <a:xfrm>
              <a:off x="490227" y="1369897"/>
              <a:ext cx="657336" cy="56042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322F68E2-B4F0-5FA7-E621-7ED519877443}"/>
                </a:ext>
              </a:extLst>
            </p:cNvPr>
            <p:cNvSpPr/>
            <p:nvPr/>
          </p:nvSpPr>
          <p:spPr>
            <a:xfrm>
              <a:off x="6946894" y="1373072"/>
              <a:ext cx="770005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6" name="object 23">
              <a:extLst>
                <a:ext uri="{FF2B5EF4-FFF2-40B4-BE49-F238E27FC236}">
                  <a16:creationId xmlns:a16="http://schemas.microsoft.com/office/drawing/2014/main" id="{A38A1B09-FA7B-8D16-E3A0-CF2A21F0D20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8402" y="1397053"/>
              <a:ext cx="496968" cy="493774"/>
            </a:xfrm>
            <a:prstGeom prst="rect">
              <a:avLst/>
            </a:prstGeom>
          </p:spPr>
        </p:pic>
        <p:pic>
          <p:nvPicPr>
            <p:cNvPr id="47" name="object 23">
              <a:extLst>
                <a:ext uri="{FF2B5EF4-FFF2-40B4-BE49-F238E27FC236}">
                  <a16:creationId xmlns:a16="http://schemas.microsoft.com/office/drawing/2014/main" id="{F8A9D3A1-CAA0-CF94-21F5-36BE2F64BD7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3774" y="1397053"/>
              <a:ext cx="496968" cy="493774"/>
            </a:xfrm>
            <a:prstGeom prst="rect">
              <a:avLst/>
            </a:prstGeom>
          </p:spPr>
        </p:pic>
        <p:sp>
          <p:nvSpPr>
            <p:cNvPr id="48" name="object 39">
              <a:extLst>
                <a:ext uri="{FF2B5EF4-FFF2-40B4-BE49-F238E27FC236}">
                  <a16:creationId xmlns:a16="http://schemas.microsoft.com/office/drawing/2014/main" id="{6BB21A34-AF04-7102-F053-878F274F2669}"/>
                </a:ext>
              </a:extLst>
            </p:cNvPr>
            <p:cNvSpPr txBox="1"/>
            <p:nvPr/>
          </p:nvSpPr>
          <p:spPr>
            <a:xfrm>
              <a:off x="514789" y="1465444"/>
              <a:ext cx="623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분석</a:t>
              </a:r>
              <a:endParaRPr lang="en-US" altLang="ko-KR" sz="900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C5053F8-B391-66EC-C1FA-6E66EC54388D}"/>
                </a:ext>
              </a:extLst>
            </p:cNvPr>
            <p:cNvSpPr/>
            <p:nvPr/>
          </p:nvSpPr>
          <p:spPr>
            <a:xfrm>
              <a:off x="1732742" y="1369897"/>
              <a:ext cx="2029554" cy="56042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object 39">
              <a:extLst>
                <a:ext uri="{FF2B5EF4-FFF2-40B4-BE49-F238E27FC236}">
                  <a16:creationId xmlns:a16="http://schemas.microsoft.com/office/drawing/2014/main" id="{2220930A-C33B-332F-5519-DD85C8009CF0}"/>
                </a:ext>
              </a:extLst>
            </p:cNvPr>
            <p:cNvSpPr txBox="1"/>
            <p:nvPr/>
          </p:nvSpPr>
          <p:spPr>
            <a:xfrm>
              <a:off x="1688110" y="1465444"/>
              <a:ext cx="21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모터 및 인버터 제어 시뮬레이션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(Ansys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Maxwell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&amp;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MATLAB Simulink)</a:t>
              </a:r>
              <a:endParaRPr lang="ko-KR" altLang="en-US" sz="900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CC105C2-1C7D-93A5-5935-F5715547A367}"/>
                </a:ext>
              </a:extLst>
            </p:cNvPr>
            <p:cNvSpPr/>
            <p:nvPr/>
          </p:nvSpPr>
          <p:spPr>
            <a:xfrm>
              <a:off x="4354574" y="1369897"/>
              <a:ext cx="2044674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object 39">
              <a:extLst>
                <a:ext uri="{FF2B5EF4-FFF2-40B4-BE49-F238E27FC236}">
                  <a16:creationId xmlns:a16="http://schemas.microsoft.com/office/drawing/2014/main" id="{CE2F7962-DB86-6058-0575-C459237D17EE}"/>
                </a:ext>
              </a:extLst>
            </p:cNvPr>
            <p:cNvSpPr txBox="1"/>
            <p:nvPr/>
          </p:nvSpPr>
          <p:spPr>
            <a:xfrm>
              <a:off x="4371365" y="1465444"/>
              <a:ext cx="2027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실험적 검증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</a:t>
              </a:r>
              <a:r>
                <a:rPr lang="ko-KR" altLang="en-US" sz="900" dirty="0"/>
                <a:t>정상 및 고장모터 제작</a:t>
              </a:r>
              <a:r>
                <a:rPr lang="en-US" altLang="ko-KR" sz="900" dirty="0"/>
                <a:t>/</a:t>
              </a:r>
              <a:r>
                <a:rPr lang="ko-KR" altLang="en-US" sz="900" dirty="0" err="1"/>
                <a:t>다이나모</a:t>
              </a:r>
              <a:r>
                <a:rPr lang="ko-KR" altLang="en-US" sz="900" dirty="0"/>
                <a:t> 테스트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55" name="object 39">
              <a:extLst>
                <a:ext uri="{FF2B5EF4-FFF2-40B4-BE49-F238E27FC236}">
                  <a16:creationId xmlns:a16="http://schemas.microsoft.com/office/drawing/2014/main" id="{B4C4BD48-EB4E-BE52-D46C-DDFC0B997E67}"/>
                </a:ext>
              </a:extLst>
            </p:cNvPr>
            <p:cNvSpPr txBox="1"/>
            <p:nvPr/>
          </p:nvSpPr>
          <p:spPr>
            <a:xfrm>
              <a:off x="6975469" y="1468619"/>
              <a:ext cx="712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검증 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결과</a:t>
              </a:r>
              <a:r>
                <a:rPr lang="en-US" altLang="ko-KR" sz="900" dirty="0"/>
                <a:t>)</a:t>
              </a:r>
            </a:p>
          </p:txBody>
        </p:sp>
        <p:pic>
          <p:nvPicPr>
            <p:cNvPr id="56" name="object 23">
              <a:extLst>
                <a:ext uri="{FF2B5EF4-FFF2-40B4-BE49-F238E27FC236}">
                  <a16:creationId xmlns:a16="http://schemas.microsoft.com/office/drawing/2014/main" id="{C161E4F3-F74A-CE4A-549A-852557A6670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1626" y="1393878"/>
              <a:ext cx="496968" cy="493774"/>
            </a:xfrm>
            <a:prstGeom prst="rect">
              <a:avLst/>
            </a:prstGeom>
          </p:spPr>
        </p:pic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398751D-5D52-DC6B-8A8E-A677E3927A65}"/>
                </a:ext>
              </a:extLst>
            </p:cNvPr>
            <p:cNvGrpSpPr/>
            <p:nvPr/>
          </p:nvGrpSpPr>
          <p:grpSpPr>
            <a:xfrm>
              <a:off x="8202545" y="1369897"/>
              <a:ext cx="712855" cy="603378"/>
              <a:chOff x="8836721" y="1369897"/>
              <a:chExt cx="712855" cy="603378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D7C8CAC0-1DFB-EB77-BA90-99BAA0B5EC91}"/>
                  </a:ext>
                </a:extLst>
              </p:cNvPr>
              <p:cNvSpPr/>
              <p:nvPr/>
            </p:nvSpPr>
            <p:spPr>
              <a:xfrm>
                <a:off x="8887190" y="1369897"/>
                <a:ext cx="611918" cy="560426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object 39">
                <a:extLst>
                  <a:ext uri="{FF2B5EF4-FFF2-40B4-BE49-F238E27FC236}">
                    <a16:creationId xmlns:a16="http://schemas.microsoft.com/office/drawing/2014/main" id="{37BB2ED1-D0F2-371A-9495-99FAB9CC7F6E}"/>
                  </a:ext>
                </a:extLst>
              </p:cNvPr>
              <p:cNvSpPr txBox="1"/>
              <p:nvPr/>
            </p:nvSpPr>
            <p:spPr>
              <a:xfrm>
                <a:off x="8836721" y="1465444"/>
                <a:ext cx="712855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0"/>
                </a:defPPr>
                <a:lvl1pPr>
                  <a:defRPr>
                    <a:latin typeface="현대하모니 M" panose="02020603020101020101" pitchFamily="18" charset="-127"/>
                    <a:ea typeface="현대하모니 M" panose="02020603020101020101" pitchFamily="18" charset="-127"/>
                  </a:defRPr>
                </a:lvl1pPr>
              </a:lstStyle>
              <a:p>
                <a:pPr algn="ctr"/>
                <a:r>
                  <a:rPr lang="ko-KR" altLang="en-US" sz="900" dirty="0"/>
                  <a:t>시뮬레이션 모델 개선</a:t>
                </a:r>
                <a:endParaRPr lang="en-US" altLang="ko-KR" sz="900" dirty="0"/>
              </a:p>
              <a:p>
                <a:pPr algn="ctr"/>
                <a:endParaRPr lang="en-US" altLang="ko-KR" sz="900" dirty="0"/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B9E25DA-0E3E-7D83-A9DC-99E9411F2545}"/>
              </a:ext>
            </a:extLst>
          </p:cNvPr>
          <p:cNvGrpSpPr/>
          <p:nvPr/>
        </p:nvGrpSpPr>
        <p:grpSpPr>
          <a:xfrm>
            <a:off x="4498856" y="3874309"/>
            <a:ext cx="2806727" cy="1643848"/>
            <a:chOff x="4498856" y="3811775"/>
            <a:chExt cx="2806727" cy="1643848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FF61601-BEBB-9E40-5E25-5AF7722EA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08917" y="3811775"/>
              <a:ext cx="2786605" cy="1451356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3D3BD3F-D047-2E22-6E97-A424131AA99F}"/>
                </a:ext>
              </a:extLst>
            </p:cNvPr>
            <p:cNvSpPr txBox="1"/>
            <p:nvPr/>
          </p:nvSpPr>
          <p:spPr>
            <a:xfrm>
              <a:off x="4498856" y="5240179"/>
              <a:ext cx="280672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&lt;Flux state variable model&gt;</a:t>
              </a:r>
              <a:endParaRPr lang="ko-KR" altLang="en-US" sz="800" dirty="0">
                <a:solidFill>
                  <a:schemeClr val="tx2">
                    <a:lumMod val="7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3ECDEE-0791-A22B-05B5-D41AD32FF1E1}"/>
              </a:ext>
            </a:extLst>
          </p:cNvPr>
          <p:cNvGrpSpPr/>
          <p:nvPr/>
        </p:nvGrpSpPr>
        <p:grpSpPr>
          <a:xfrm>
            <a:off x="7455900" y="3048000"/>
            <a:ext cx="1245823" cy="3026601"/>
            <a:chOff x="7455900" y="3075030"/>
            <a:chExt cx="1245823" cy="3026601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D806D9C5-7559-E69F-8F51-74422E91C3D2}"/>
                </a:ext>
              </a:extLst>
            </p:cNvPr>
            <p:cNvGrpSpPr/>
            <p:nvPr/>
          </p:nvGrpSpPr>
          <p:grpSpPr>
            <a:xfrm>
              <a:off x="7465231" y="3075030"/>
              <a:ext cx="1236492" cy="1039773"/>
              <a:chOff x="4953000" y="3730718"/>
              <a:chExt cx="1262204" cy="1061393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78032DEA-F1DA-426E-1D08-B130FFF253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3000" y="3730718"/>
                <a:ext cx="1262204" cy="841472"/>
              </a:xfrm>
              <a:prstGeom prst="rect">
                <a:avLst/>
              </a:prstGeom>
            </p:spPr>
          </p:pic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F0B5140-4375-40D1-0CBB-DBBD79C6D405}"/>
                  </a:ext>
                </a:extLst>
              </p:cNvPr>
              <p:cNvSpPr txBox="1"/>
              <p:nvPr/>
            </p:nvSpPr>
            <p:spPr>
              <a:xfrm>
                <a:off x="4953000" y="4572187"/>
                <a:ext cx="1261460" cy="219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&lt;id map&gt;</a:t>
                </a:r>
                <a:endPara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D30A4F6-AF8A-8CEC-131C-EA5912A711B4}"/>
                </a:ext>
              </a:extLst>
            </p:cNvPr>
            <p:cNvGrpSpPr/>
            <p:nvPr/>
          </p:nvGrpSpPr>
          <p:grpSpPr>
            <a:xfrm>
              <a:off x="7455900" y="4057729"/>
              <a:ext cx="1236491" cy="1047670"/>
              <a:chOff x="1714880" y="2796630"/>
              <a:chExt cx="1262203" cy="1069455"/>
            </a:xfrm>
          </p:grpSpPr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99551FBD-D5F2-444A-592A-5304E05560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4880" y="2796630"/>
                <a:ext cx="1262203" cy="841469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F779AF-C822-B681-EA16-D2554C6BA3C0}"/>
                  </a:ext>
                </a:extLst>
              </p:cNvPr>
              <p:cNvSpPr txBox="1"/>
              <p:nvPr/>
            </p:nvSpPr>
            <p:spPr>
              <a:xfrm>
                <a:off x="1714880" y="3646161"/>
                <a:ext cx="1261460" cy="219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&lt;</a:t>
                </a:r>
                <a:r>
                  <a:rPr lang="en-US" altLang="ko-KR" sz="800" dirty="0" err="1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iq</a:t>
                </a:r>
                <a:r>
                  <a:rPr lang="en-US" altLang="ko-KR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map&gt;</a:t>
                </a:r>
                <a:endPara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029AD75-372A-609F-7004-34C76C57B5A9}"/>
                </a:ext>
              </a:extLst>
            </p:cNvPr>
            <p:cNvGrpSpPr/>
            <p:nvPr/>
          </p:nvGrpSpPr>
          <p:grpSpPr>
            <a:xfrm>
              <a:off x="7455900" y="5075144"/>
              <a:ext cx="1235763" cy="1026487"/>
              <a:chOff x="2976340" y="1560711"/>
              <a:chExt cx="1261460" cy="1047832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6A607C13-48F0-3FC8-4EFA-0442C8FB73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85865" y="1560711"/>
                <a:ext cx="1229766" cy="81984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E51F13-289E-E0D3-156B-12C682D408BE}"/>
                  </a:ext>
                </a:extLst>
              </p:cNvPr>
              <p:cNvSpPr txBox="1"/>
              <p:nvPr/>
            </p:nvSpPr>
            <p:spPr>
              <a:xfrm>
                <a:off x="2976340" y="2388619"/>
                <a:ext cx="1261460" cy="219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&lt;Torque map&gt;</a:t>
                </a:r>
                <a:endPara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007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207" y="121412"/>
            <a:ext cx="32636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주요 연구 수행 이력</a:t>
            </a:r>
          </a:p>
        </p:txBody>
      </p:sp>
      <p:sp>
        <p:nvSpPr>
          <p:cNvPr id="22" name="object 28">
            <a:extLst>
              <a:ext uri="{FF2B5EF4-FFF2-40B4-BE49-F238E27FC236}">
                <a16:creationId xmlns:a16="http://schemas.microsoft.com/office/drawing/2014/main" id="{467A5A3F-ABD4-5D6C-45EE-E558CE861EDE}"/>
              </a:ext>
            </a:extLst>
          </p:cNvPr>
          <p:cNvSpPr txBox="1"/>
          <p:nvPr/>
        </p:nvSpPr>
        <p:spPr>
          <a:xfrm>
            <a:off x="340562" y="840485"/>
            <a:ext cx="476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>
                <a:solidFill>
                  <a:srgbClr val="001F5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rPr lang="en-US"/>
              <a:t>PMSM</a:t>
            </a:r>
            <a:r>
              <a:rPr lang="ko-KR" altLang="en-US" dirty="0"/>
              <a:t> 고장진단</a:t>
            </a:r>
            <a:endParaRPr dirty="0"/>
          </a:p>
        </p:txBody>
      </p:sp>
      <p:sp>
        <p:nvSpPr>
          <p:cNvPr id="23" name="object 39">
            <a:extLst>
              <a:ext uri="{FF2B5EF4-FFF2-40B4-BE49-F238E27FC236}">
                <a16:creationId xmlns:a16="http://schemas.microsoft.com/office/drawing/2014/main" id="{76D7A605-BCEF-5692-A086-7776431272B4}"/>
              </a:ext>
            </a:extLst>
          </p:cNvPr>
          <p:cNvSpPr txBox="1"/>
          <p:nvPr/>
        </p:nvSpPr>
        <p:spPr>
          <a:xfrm>
            <a:off x="363774" y="2022148"/>
            <a:ext cx="4055826" cy="36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2) </a:t>
            </a:r>
            <a:r>
              <a:rPr lang="ko-KR" altLang="en-US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모터 및 인버터 제어 시뮬레이션</a:t>
            </a:r>
            <a:endParaRPr lang="en-US" altLang="ko-KR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1DBFFF0C-5D44-0265-F478-2AF98E7AC033}"/>
              </a:ext>
            </a:extLst>
          </p:cNvPr>
          <p:cNvSpPr/>
          <p:nvPr/>
        </p:nvSpPr>
        <p:spPr>
          <a:xfrm>
            <a:off x="288797" y="2804357"/>
            <a:ext cx="3521203" cy="3445918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2714B8D-D8C0-365D-48F1-449A45A12A14}"/>
              </a:ext>
            </a:extLst>
          </p:cNvPr>
          <p:cNvGrpSpPr/>
          <p:nvPr/>
        </p:nvGrpSpPr>
        <p:grpSpPr>
          <a:xfrm>
            <a:off x="287326" y="2440598"/>
            <a:ext cx="2913074" cy="363759"/>
            <a:chOff x="1922490" y="5401525"/>
            <a:chExt cx="2913074" cy="363759"/>
          </a:xfrm>
        </p:grpSpPr>
        <p:sp>
          <p:nvSpPr>
            <p:cNvPr id="32" name="object 91">
              <a:extLst>
                <a:ext uri="{FF2B5EF4-FFF2-40B4-BE49-F238E27FC236}">
                  <a16:creationId xmlns:a16="http://schemas.microsoft.com/office/drawing/2014/main" id="{CE236F7D-906A-368C-E3C5-7A271F316169}"/>
                </a:ext>
              </a:extLst>
            </p:cNvPr>
            <p:cNvSpPr/>
            <p:nvPr/>
          </p:nvSpPr>
          <p:spPr>
            <a:xfrm>
              <a:off x="1922491" y="5401525"/>
              <a:ext cx="2736181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92">
              <a:extLst>
                <a:ext uri="{FF2B5EF4-FFF2-40B4-BE49-F238E27FC236}">
                  <a16:creationId xmlns:a16="http://schemas.microsoft.com/office/drawing/2014/main" id="{2592C950-824A-9242-BCD4-E24B060960DB}"/>
                </a:ext>
              </a:extLst>
            </p:cNvPr>
            <p:cNvSpPr txBox="1"/>
            <p:nvPr/>
          </p:nvSpPr>
          <p:spPr>
            <a:xfrm>
              <a:off x="1922490" y="5414127"/>
              <a:ext cx="2913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3. </a:t>
              </a:r>
              <a:r>
                <a:rPr lang="ko-KR" altLang="en-US" sz="1600" dirty="0">
                  <a:solidFill>
                    <a:schemeClr val="bg1"/>
                  </a:solidFill>
                </a:rPr>
                <a:t>인버터 스위치 모델 선정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object 39">
            <a:extLst>
              <a:ext uri="{FF2B5EF4-FFF2-40B4-BE49-F238E27FC236}">
                <a16:creationId xmlns:a16="http://schemas.microsoft.com/office/drawing/2014/main" id="{6759EE5E-812D-2ECD-2555-B10C04E1B02B}"/>
              </a:ext>
            </a:extLst>
          </p:cNvPr>
          <p:cNvSpPr txBox="1"/>
          <p:nvPr/>
        </p:nvSpPr>
        <p:spPr>
          <a:xfrm>
            <a:off x="473199" y="2808926"/>
            <a:ext cx="3108201" cy="539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다양한 동작환경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계산시간 중요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계산시간을 고려한 모델 선정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6" name="object 5">
            <a:extLst>
              <a:ext uri="{FF2B5EF4-FFF2-40B4-BE49-F238E27FC236}">
                <a16:creationId xmlns:a16="http://schemas.microsoft.com/office/drawing/2014/main" id="{9EACDA89-11DF-3EA1-3E28-5CE67DD51032}"/>
              </a:ext>
            </a:extLst>
          </p:cNvPr>
          <p:cNvSpPr/>
          <p:nvPr/>
        </p:nvSpPr>
        <p:spPr>
          <a:xfrm>
            <a:off x="4314454" y="2804357"/>
            <a:ext cx="4508888" cy="3445917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280749B-620E-95D5-6D8F-4308F37CFFA6}"/>
              </a:ext>
            </a:extLst>
          </p:cNvPr>
          <p:cNvGrpSpPr/>
          <p:nvPr/>
        </p:nvGrpSpPr>
        <p:grpSpPr>
          <a:xfrm>
            <a:off x="4312982" y="2440598"/>
            <a:ext cx="2499114" cy="363759"/>
            <a:chOff x="1922491" y="5401525"/>
            <a:chExt cx="1630616" cy="363759"/>
          </a:xfrm>
        </p:grpSpPr>
        <p:sp>
          <p:nvSpPr>
            <p:cNvPr id="40" name="object 91">
              <a:extLst>
                <a:ext uri="{FF2B5EF4-FFF2-40B4-BE49-F238E27FC236}">
                  <a16:creationId xmlns:a16="http://schemas.microsoft.com/office/drawing/2014/main" id="{87DD8514-749F-2957-42C5-315CA969ECEE}"/>
                </a:ext>
              </a:extLst>
            </p:cNvPr>
            <p:cNvSpPr/>
            <p:nvPr/>
          </p:nvSpPr>
          <p:spPr>
            <a:xfrm>
              <a:off x="1922491" y="5401525"/>
              <a:ext cx="1630616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92">
              <a:extLst>
                <a:ext uri="{FF2B5EF4-FFF2-40B4-BE49-F238E27FC236}">
                  <a16:creationId xmlns:a16="http://schemas.microsoft.com/office/drawing/2014/main" id="{5E3D9559-0705-B77E-CA87-DACF95F32271}"/>
                </a:ext>
              </a:extLst>
            </p:cNvPr>
            <p:cNvSpPr txBox="1"/>
            <p:nvPr/>
          </p:nvSpPr>
          <p:spPr>
            <a:xfrm>
              <a:off x="1939628" y="5414127"/>
              <a:ext cx="1613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4. </a:t>
              </a:r>
              <a:r>
                <a:rPr lang="ko-KR" altLang="en-US" sz="1600" dirty="0">
                  <a:solidFill>
                    <a:schemeClr val="bg1"/>
                  </a:solidFill>
                </a:rPr>
                <a:t>모터 및 제어시스템 해석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object 39">
            <a:extLst>
              <a:ext uri="{FF2B5EF4-FFF2-40B4-BE49-F238E27FC236}">
                <a16:creationId xmlns:a16="http://schemas.microsoft.com/office/drawing/2014/main" id="{33268631-7A68-2D57-BCA7-6DD74951FD9B}"/>
              </a:ext>
            </a:extLst>
          </p:cNvPr>
          <p:cNvSpPr txBox="1"/>
          <p:nvPr/>
        </p:nvSpPr>
        <p:spPr>
          <a:xfrm>
            <a:off x="4498856" y="2816959"/>
            <a:ext cx="4171945" cy="1993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MATLAB Simulink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이용 모터 모델 구현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PMSM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속도 제어 시스템 구현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Space vector pulse width modulation(SVPWM)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Vector control(Field-oriented control)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dirty="0" err="1">
                <a:solidFill>
                  <a:schemeClr val="tx1"/>
                </a:solidFill>
                <a:sym typeface="Wingdings" panose="05000000000000000000" pitchFamily="2" charset="2"/>
              </a:rPr>
              <a:t>dq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-axis PI current control with Anti-windup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PI speed control with Anti-windup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Maximum torque per ampere(MTPA) and Field-weakening(FW)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    and Maximum torque per voltage(MTPV)</a:t>
            </a:r>
          </a:p>
        </p:txBody>
      </p:sp>
      <p:sp>
        <p:nvSpPr>
          <p:cNvPr id="49" name="object 39">
            <a:extLst>
              <a:ext uri="{FF2B5EF4-FFF2-40B4-BE49-F238E27FC236}">
                <a16:creationId xmlns:a16="http://schemas.microsoft.com/office/drawing/2014/main" id="{8A450933-EFBA-FED2-E0F1-F55C352E00DD}"/>
              </a:ext>
            </a:extLst>
          </p:cNvPr>
          <p:cNvSpPr txBox="1"/>
          <p:nvPr/>
        </p:nvSpPr>
        <p:spPr>
          <a:xfrm>
            <a:off x="473199" y="5569553"/>
            <a:ext cx="3108201" cy="60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</a:rPr>
              <a:t>해석시간과 모터의 고장신호의 관찰 가능성 고려</a:t>
            </a:r>
            <a:endParaRPr lang="en-US" altLang="ko-KR" sz="1200" dirty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Turn-on &amp; off /Dead time 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</a:rPr>
              <a:t>반영</a:t>
            </a:r>
            <a:endParaRPr lang="en-US" altLang="ko-K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표 19">
            <a:extLst>
              <a:ext uri="{FF2B5EF4-FFF2-40B4-BE49-F238E27FC236}">
                <a16:creationId xmlns:a16="http://schemas.microsoft.com/office/drawing/2014/main" id="{B5664A87-3FC4-02F6-EE57-7A04DC9B0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998312"/>
              </p:ext>
            </p:extLst>
          </p:nvPr>
        </p:nvGraphicFramePr>
        <p:xfrm>
          <a:off x="533400" y="3461263"/>
          <a:ext cx="2753108" cy="1463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74">
                  <a:extLst>
                    <a:ext uri="{9D8B030D-6E8A-4147-A177-3AD203B41FA5}">
                      <a16:colId xmlns:a16="http://schemas.microsoft.com/office/drawing/2014/main" val="3485073348"/>
                    </a:ext>
                  </a:extLst>
                </a:gridCol>
                <a:gridCol w="2087034">
                  <a:extLst>
                    <a:ext uri="{9D8B030D-6E8A-4147-A177-3AD203B41FA5}">
                      <a16:colId xmlns:a16="http://schemas.microsoft.com/office/drawing/2014/main" val="3597001149"/>
                    </a:ext>
                  </a:extLst>
                </a:gridCol>
              </a:tblGrid>
              <a:tr h="2927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정확도</a:t>
                      </a: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주요특징</a:t>
                      </a: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259629"/>
                  </a:ext>
                </a:extLst>
              </a:tr>
              <a:tr h="2927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Ideal model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32788"/>
                  </a:ext>
                </a:extLst>
              </a:tr>
              <a:tr h="2927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Turn-on &amp; off / Dead time</a:t>
                      </a: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83577"/>
                  </a:ext>
                </a:extLst>
              </a:tr>
              <a:tr h="2927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Even-based simplified model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101830"/>
                  </a:ext>
                </a:extLst>
              </a:tr>
              <a:tr h="2927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Full model IGBT Model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177" marR="72177" marT="36089" marB="3608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8042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C61F6CF-641E-E554-3759-D462E66214C7}"/>
              </a:ext>
            </a:extLst>
          </p:cNvPr>
          <p:cNvSpPr/>
          <p:nvPr/>
        </p:nvSpPr>
        <p:spPr bwMode="auto">
          <a:xfrm>
            <a:off x="533400" y="4041940"/>
            <a:ext cx="2753107" cy="30223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 sz="1400" dirty="0"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BE71E64B-E78E-0232-87ED-613304F06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88" y="4956841"/>
            <a:ext cx="1948220" cy="629556"/>
          </a:xfrm>
          <a:prstGeom prst="rect">
            <a:avLst/>
          </a:prstGeom>
        </p:spPr>
      </p:pic>
      <p:grpSp>
        <p:nvGrpSpPr>
          <p:cNvPr id="83" name="그룹 82">
            <a:extLst>
              <a:ext uri="{FF2B5EF4-FFF2-40B4-BE49-F238E27FC236}">
                <a16:creationId xmlns:a16="http://schemas.microsoft.com/office/drawing/2014/main" id="{FFA1ADCF-68C6-4098-0D0C-328DE6E903E8}"/>
              </a:ext>
            </a:extLst>
          </p:cNvPr>
          <p:cNvGrpSpPr/>
          <p:nvPr/>
        </p:nvGrpSpPr>
        <p:grpSpPr>
          <a:xfrm>
            <a:off x="4411443" y="4800599"/>
            <a:ext cx="2237212" cy="1143000"/>
            <a:chOff x="4419600" y="4622949"/>
            <a:chExt cx="2281708" cy="1165733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D850D54-E297-54CD-18FE-BAE6BB32FCDE}"/>
                </a:ext>
              </a:extLst>
            </p:cNvPr>
            <p:cNvGrpSpPr/>
            <p:nvPr/>
          </p:nvGrpSpPr>
          <p:grpSpPr>
            <a:xfrm>
              <a:off x="4510474" y="4622949"/>
              <a:ext cx="2099961" cy="888149"/>
              <a:chOff x="2706509" y="1557223"/>
              <a:chExt cx="5500489" cy="2326356"/>
            </a:xfrm>
          </p:grpSpPr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0F851314-6425-C242-D13E-AAE75EFF81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6509" y="1557223"/>
                <a:ext cx="5500489" cy="2326356"/>
              </a:xfrm>
              <a:prstGeom prst="rect">
                <a:avLst/>
              </a:prstGeom>
            </p:spPr>
          </p:pic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B1C3718-1946-D66A-6752-81842D4B9CFA}"/>
                  </a:ext>
                </a:extLst>
              </p:cNvPr>
              <p:cNvSpPr txBox="1"/>
              <p:nvPr/>
            </p:nvSpPr>
            <p:spPr>
              <a:xfrm>
                <a:off x="4708059" y="3329896"/>
                <a:ext cx="1288164" cy="482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SVPWM</a:t>
                </a:r>
                <a:endParaRPr lang="ko-KR" altLang="en-US" sz="600" dirty="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712681D-E8D4-2FC7-C985-3498C0E1F3B7}"/>
                  </a:ext>
                </a:extLst>
              </p:cNvPr>
              <p:cNvSpPr txBox="1"/>
              <p:nvPr/>
            </p:nvSpPr>
            <p:spPr>
              <a:xfrm>
                <a:off x="3554928" y="3281487"/>
                <a:ext cx="1026796" cy="482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MCU</a:t>
                </a:r>
                <a:endParaRPr lang="ko-KR" altLang="en-US" sz="600" dirty="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7E94F7E-AB26-0552-3AB0-580C0F8A4DA4}"/>
                  </a:ext>
                </a:extLst>
              </p:cNvPr>
              <p:cNvSpPr txBox="1"/>
              <p:nvPr/>
            </p:nvSpPr>
            <p:spPr>
              <a:xfrm>
                <a:off x="6035569" y="3364670"/>
                <a:ext cx="863713" cy="482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모터</a:t>
                </a:r>
              </a:p>
            </p:txBody>
          </p:sp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A8EE6415-0C77-F4F8-DE36-86EBC2732264}"/>
                  </a:ext>
                </a:extLst>
              </p:cNvPr>
              <p:cNvSpPr/>
              <p:nvPr/>
            </p:nvSpPr>
            <p:spPr>
              <a:xfrm>
                <a:off x="3135265" y="2500741"/>
                <a:ext cx="1766324" cy="780113"/>
              </a:xfrm>
              <a:prstGeom prst="roundRect">
                <a:avLst/>
              </a:prstGeom>
              <a:noFill/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id="{74CE462D-CB2A-D912-6549-DAB36E082ED2}"/>
                  </a:ext>
                </a:extLst>
              </p:cNvPr>
              <p:cNvSpPr/>
              <p:nvPr/>
            </p:nvSpPr>
            <p:spPr>
              <a:xfrm>
                <a:off x="5093451" y="2594935"/>
                <a:ext cx="433486" cy="780114"/>
              </a:xfrm>
              <a:prstGeom prst="roundRect">
                <a:avLst/>
              </a:prstGeom>
              <a:noFill/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  <p:sp>
            <p:nvSpPr>
              <p:cNvPr id="78" name="사각형: 둥근 모서리 77">
                <a:extLst>
                  <a:ext uri="{FF2B5EF4-FFF2-40B4-BE49-F238E27FC236}">
                    <a16:creationId xmlns:a16="http://schemas.microsoft.com/office/drawing/2014/main" id="{F683877A-0AD4-00A0-AD11-AF3E80DEA97F}"/>
                  </a:ext>
                </a:extLst>
              </p:cNvPr>
              <p:cNvSpPr/>
              <p:nvPr/>
            </p:nvSpPr>
            <p:spPr>
              <a:xfrm>
                <a:off x="6073810" y="2637039"/>
                <a:ext cx="773591" cy="694366"/>
              </a:xfrm>
              <a:prstGeom prst="roundRect">
                <a:avLst/>
              </a:prstGeom>
              <a:noFill/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B231C1D-920A-9225-BA89-D5A5766923BB}"/>
                </a:ext>
              </a:extLst>
            </p:cNvPr>
            <p:cNvSpPr txBox="1"/>
            <p:nvPr/>
          </p:nvSpPr>
          <p:spPr>
            <a:xfrm>
              <a:off x="4419600" y="5573238"/>
              <a:ext cx="22817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&lt;PMSM</a:t>
              </a:r>
              <a:r>
                <a: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</a:t>
              </a:r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drive</a:t>
              </a:r>
              <a:r>
                <a: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</a:t>
              </a:r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system</a:t>
              </a:r>
              <a:r>
                <a: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</a:t>
              </a:r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in</a:t>
              </a:r>
              <a:r>
                <a: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</a:t>
              </a:r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MATLAB Simulink&gt;</a:t>
              </a:r>
              <a:endParaRPr lang="ko-KR" altLang="en-US" sz="800" dirty="0">
                <a:solidFill>
                  <a:schemeClr val="tx2">
                    <a:lumMod val="7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8D466B2-D291-06A5-29B3-0B5604C592DC}"/>
              </a:ext>
            </a:extLst>
          </p:cNvPr>
          <p:cNvGrpSpPr/>
          <p:nvPr/>
        </p:nvGrpSpPr>
        <p:grpSpPr>
          <a:xfrm>
            <a:off x="6525788" y="5022731"/>
            <a:ext cx="2237212" cy="920868"/>
            <a:chOff x="6511238" y="4828618"/>
            <a:chExt cx="2281708" cy="939183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CCB29AA-6D24-07D1-C4DA-5A8DDA3D1BE1}"/>
                </a:ext>
              </a:extLst>
            </p:cNvPr>
            <p:cNvSpPr txBox="1"/>
            <p:nvPr/>
          </p:nvSpPr>
          <p:spPr>
            <a:xfrm>
              <a:off x="6511238" y="5552357"/>
              <a:ext cx="228170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&lt;PMSM</a:t>
              </a:r>
              <a:r>
                <a: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</a:t>
              </a:r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model in</a:t>
              </a:r>
              <a:r>
                <a: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</a:t>
              </a:r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MATLAB Simulink&gt;</a:t>
              </a:r>
              <a:endParaRPr lang="ko-KR" altLang="en-US" sz="800" dirty="0">
                <a:solidFill>
                  <a:schemeClr val="tx2">
                    <a:lumMod val="7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ED03C434-87E3-792C-3F26-A3C16BBF5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4055" y="4828618"/>
              <a:ext cx="1816075" cy="677232"/>
            </a:xfrm>
            <a:prstGeom prst="rect">
              <a:avLst/>
            </a:prstGeom>
          </p:spPr>
        </p:pic>
      </p:grpSp>
      <p:pic>
        <p:nvPicPr>
          <p:cNvPr id="24" name="object 23">
            <a:extLst>
              <a:ext uri="{FF2B5EF4-FFF2-40B4-BE49-F238E27FC236}">
                <a16:creationId xmlns:a16="http://schemas.microsoft.com/office/drawing/2014/main" id="{6591FDD2-BC00-DAFA-5A18-905C97015D9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5728" y="6247909"/>
            <a:ext cx="496968" cy="4937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EC54789-E4B3-33CF-4241-DD42F13F1225}"/>
              </a:ext>
            </a:extLst>
          </p:cNvPr>
          <p:cNvSpPr txBox="1"/>
          <p:nvPr/>
        </p:nvSpPr>
        <p:spPr>
          <a:xfrm>
            <a:off x="1196641" y="63246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모델의 정확도 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/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계산시간을 고려한 정상 및 고장 모터 제어 시스템 모델링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342F73-8AAF-E31D-23D4-85AD3DAD9946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6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E5D314-50AE-08D4-0202-3ED626816B9D}"/>
              </a:ext>
            </a:extLst>
          </p:cNvPr>
          <p:cNvGrpSpPr/>
          <p:nvPr/>
        </p:nvGrpSpPr>
        <p:grpSpPr>
          <a:xfrm>
            <a:off x="448637" y="1370284"/>
            <a:ext cx="8425173" cy="603378"/>
            <a:chOff x="490227" y="1369897"/>
            <a:chExt cx="8425173" cy="603378"/>
          </a:xfrm>
        </p:grpSpPr>
        <p:pic>
          <p:nvPicPr>
            <p:cNvPr id="58" name="object 23">
              <a:extLst>
                <a:ext uri="{FF2B5EF4-FFF2-40B4-BE49-F238E27FC236}">
                  <a16:creationId xmlns:a16="http://schemas.microsoft.com/office/drawing/2014/main" id="{AC8A79E6-5323-C4DF-74AD-A203E4AE2D8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8231" y="1382692"/>
              <a:ext cx="496968" cy="493774"/>
            </a:xfrm>
            <a:prstGeom prst="rect">
              <a:avLst/>
            </a:prstGeom>
          </p:spPr>
        </p:pic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375CA16-1811-DE68-31C6-0DEA3D313DCE}"/>
                </a:ext>
              </a:extLst>
            </p:cNvPr>
            <p:cNvSpPr/>
            <p:nvPr/>
          </p:nvSpPr>
          <p:spPr>
            <a:xfrm>
              <a:off x="490227" y="1369897"/>
              <a:ext cx="657336" cy="56042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3E9205A-D6D1-A75E-3AE0-D64D20FA00B5}"/>
                </a:ext>
              </a:extLst>
            </p:cNvPr>
            <p:cNvSpPr/>
            <p:nvPr/>
          </p:nvSpPr>
          <p:spPr>
            <a:xfrm>
              <a:off x="6946894" y="1373072"/>
              <a:ext cx="770005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1" name="object 23">
              <a:extLst>
                <a:ext uri="{FF2B5EF4-FFF2-40B4-BE49-F238E27FC236}">
                  <a16:creationId xmlns:a16="http://schemas.microsoft.com/office/drawing/2014/main" id="{3066763C-6B17-CF33-0935-AF55DA5C758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8402" y="1397053"/>
              <a:ext cx="496968" cy="493774"/>
            </a:xfrm>
            <a:prstGeom prst="rect">
              <a:avLst/>
            </a:prstGeom>
          </p:spPr>
        </p:pic>
        <p:pic>
          <p:nvPicPr>
            <p:cNvPr id="62" name="object 23">
              <a:extLst>
                <a:ext uri="{FF2B5EF4-FFF2-40B4-BE49-F238E27FC236}">
                  <a16:creationId xmlns:a16="http://schemas.microsoft.com/office/drawing/2014/main" id="{59C8776C-249A-48DF-72CE-DFFA5942C6A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23774" y="1397053"/>
              <a:ext cx="496968" cy="493774"/>
            </a:xfrm>
            <a:prstGeom prst="rect">
              <a:avLst/>
            </a:prstGeom>
          </p:spPr>
        </p:pic>
        <p:sp>
          <p:nvSpPr>
            <p:cNvPr id="63" name="object 39">
              <a:extLst>
                <a:ext uri="{FF2B5EF4-FFF2-40B4-BE49-F238E27FC236}">
                  <a16:creationId xmlns:a16="http://schemas.microsoft.com/office/drawing/2014/main" id="{B62CE214-BAAF-DA4A-BA99-5E414BADEC45}"/>
                </a:ext>
              </a:extLst>
            </p:cNvPr>
            <p:cNvSpPr txBox="1"/>
            <p:nvPr/>
          </p:nvSpPr>
          <p:spPr>
            <a:xfrm>
              <a:off x="514789" y="1465444"/>
              <a:ext cx="623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분석</a:t>
              </a:r>
              <a:endParaRPr lang="en-US" altLang="ko-KR" sz="900" dirty="0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7FAE8DE-FF2E-EB05-2EDB-41BF33E958EE}"/>
                </a:ext>
              </a:extLst>
            </p:cNvPr>
            <p:cNvSpPr/>
            <p:nvPr/>
          </p:nvSpPr>
          <p:spPr>
            <a:xfrm>
              <a:off x="1732742" y="1369897"/>
              <a:ext cx="2029554" cy="56042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object 39">
              <a:extLst>
                <a:ext uri="{FF2B5EF4-FFF2-40B4-BE49-F238E27FC236}">
                  <a16:creationId xmlns:a16="http://schemas.microsoft.com/office/drawing/2014/main" id="{A57B8817-2C9E-7D42-18B3-CA15D4B4BB83}"/>
                </a:ext>
              </a:extLst>
            </p:cNvPr>
            <p:cNvSpPr txBox="1"/>
            <p:nvPr/>
          </p:nvSpPr>
          <p:spPr>
            <a:xfrm>
              <a:off x="1688110" y="1465444"/>
              <a:ext cx="21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모터 및 인버터 제어 시뮬레이션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(Ansys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Maxwell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&amp;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MATLAB Simulink)</a:t>
              </a:r>
              <a:endParaRPr lang="ko-KR" altLang="en-US" sz="900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A2465E9-D5F6-02A1-0788-8849DAB1CD17}"/>
                </a:ext>
              </a:extLst>
            </p:cNvPr>
            <p:cNvSpPr/>
            <p:nvPr/>
          </p:nvSpPr>
          <p:spPr>
            <a:xfrm>
              <a:off x="4354574" y="1369897"/>
              <a:ext cx="2044674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bject 39">
              <a:extLst>
                <a:ext uri="{FF2B5EF4-FFF2-40B4-BE49-F238E27FC236}">
                  <a16:creationId xmlns:a16="http://schemas.microsoft.com/office/drawing/2014/main" id="{DCB3187F-6EDA-CC39-7C3D-A746084F8F86}"/>
                </a:ext>
              </a:extLst>
            </p:cNvPr>
            <p:cNvSpPr txBox="1"/>
            <p:nvPr/>
          </p:nvSpPr>
          <p:spPr>
            <a:xfrm>
              <a:off x="4371365" y="1465444"/>
              <a:ext cx="2027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실험적 검증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</a:t>
              </a:r>
              <a:r>
                <a:rPr lang="ko-KR" altLang="en-US" sz="900" dirty="0"/>
                <a:t>정상 및 고장모터 제작</a:t>
              </a:r>
              <a:r>
                <a:rPr lang="en-US" altLang="ko-KR" sz="900" dirty="0"/>
                <a:t>/</a:t>
              </a:r>
              <a:r>
                <a:rPr lang="ko-KR" altLang="en-US" sz="900" dirty="0" err="1"/>
                <a:t>다이나모</a:t>
              </a:r>
              <a:r>
                <a:rPr lang="ko-KR" altLang="en-US" sz="900" dirty="0"/>
                <a:t> 테스트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68" name="object 39">
              <a:extLst>
                <a:ext uri="{FF2B5EF4-FFF2-40B4-BE49-F238E27FC236}">
                  <a16:creationId xmlns:a16="http://schemas.microsoft.com/office/drawing/2014/main" id="{95842810-CE92-1E78-EBE6-434C999A2BE2}"/>
                </a:ext>
              </a:extLst>
            </p:cNvPr>
            <p:cNvSpPr txBox="1"/>
            <p:nvPr/>
          </p:nvSpPr>
          <p:spPr>
            <a:xfrm>
              <a:off x="6975469" y="1468619"/>
              <a:ext cx="712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검증 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결과</a:t>
              </a:r>
              <a:r>
                <a:rPr lang="en-US" altLang="ko-KR" sz="900" dirty="0"/>
                <a:t>)</a:t>
              </a:r>
            </a:p>
          </p:txBody>
        </p:sp>
        <p:pic>
          <p:nvPicPr>
            <p:cNvPr id="69" name="object 23">
              <a:extLst>
                <a:ext uri="{FF2B5EF4-FFF2-40B4-BE49-F238E27FC236}">
                  <a16:creationId xmlns:a16="http://schemas.microsoft.com/office/drawing/2014/main" id="{A2A6C911-587E-F118-82EE-2CCBEB0E5CF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1626" y="1393878"/>
              <a:ext cx="496968" cy="493774"/>
            </a:xfrm>
            <a:prstGeom prst="rect">
              <a:avLst/>
            </a:prstGeom>
          </p:spPr>
        </p:pic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5A4CF694-891D-23FC-2B80-B104850BA121}"/>
                </a:ext>
              </a:extLst>
            </p:cNvPr>
            <p:cNvGrpSpPr/>
            <p:nvPr/>
          </p:nvGrpSpPr>
          <p:grpSpPr>
            <a:xfrm>
              <a:off x="8202545" y="1369897"/>
              <a:ext cx="712855" cy="603378"/>
              <a:chOff x="8836721" y="1369897"/>
              <a:chExt cx="712855" cy="603378"/>
            </a:xfrm>
          </p:grpSpPr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F5F6BA89-8B46-337E-BF9F-E1BD2167D72F}"/>
                  </a:ext>
                </a:extLst>
              </p:cNvPr>
              <p:cNvSpPr/>
              <p:nvPr/>
            </p:nvSpPr>
            <p:spPr>
              <a:xfrm>
                <a:off x="8887190" y="1369897"/>
                <a:ext cx="611918" cy="560426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object 39">
                <a:extLst>
                  <a:ext uri="{FF2B5EF4-FFF2-40B4-BE49-F238E27FC236}">
                    <a16:creationId xmlns:a16="http://schemas.microsoft.com/office/drawing/2014/main" id="{E23460A2-FFA1-3659-6681-511BC738C6BC}"/>
                  </a:ext>
                </a:extLst>
              </p:cNvPr>
              <p:cNvSpPr txBox="1"/>
              <p:nvPr/>
            </p:nvSpPr>
            <p:spPr>
              <a:xfrm>
                <a:off x="8836721" y="1465444"/>
                <a:ext cx="712855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0"/>
                </a:defPPr>
                <a:lvl1pPr>
                  <a:defRPr>
                    <a:latin typeface="현대하모니 M" panose="02020603020101020101" pitchFamily="18" charset="-127"/>
                    <a:ea typeface="현대하모니 M" panose="02020603020101020101" pitchFamily="18" charset="-127"/>
                  </a:defRPr>
                </a:lvl1pPr>
              </a:lstStyle>
              <a:p>
                <a:pPr algn="ctr"/>
                <a:r>
                  <a:rPr lang="ko-KR" altLang="en-US" sz="900" dirty="0"/>
                  <a:t>시뮬레이션 모델 개선</a:t>
                </a:r>
                <a:endParaRPr lang="en-US" altLang="ko-KR" sz="900" dirty="0"/>
              </a:p>
              <a:p>
                <a:pPr algn="ctr"/>
                <a:endParaRPr lang="en-US" altLang="ko-KR" sz="9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883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207" y="121412"/>
            <a:ext cx="32636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주요 연구 수행 이력</a:t>
            </a:r>
          </a:p>
        </p:txBody>
      </p:sp>
      <p:sp>
        <p:nvSpPr>
          <p:cNvPr id="22" name="object 28">
            <a:extLst>
              <a:ext uri="{FF2B5EF4-FFF2-40B4-BE49-F238E27FC236}">
                <a16:creationId xmlns:a16="http://schemas.microsoft.com/office/drawing/2014/main" id="{467A5A3F-ABD4-5D6C-45EE-E558CE861EDE}"/>
              </a:ext>
            </a:extLst>
          </p:cNvPr>
          <p:cNvSpPr txBox="1"/>
          <p:nvPr/>
        </p:nvSpPr>
        <p:spPr>
          <a:xfrm>
            <a:off x="340562" y="840485"/>
            <a:ext cx="476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>
                <a:solidFill>
                  <a:srgbClr val="001F5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rPr lang="en-US"/>
              <a:t>PMSM</a:t>
            </a:r>
            <a:r>
              <a:rPr lang="ko-KR" altLang="en-US" dirty="0"/>
              <a:t> 고장진단</a:t>
            </a:r>
            <a:endParaRPr dirty="0"/>
          </a:p>
        </p:txBody>
      </p:sp>
      <p:sp>
        <p:nvSpPr>
          <p:cNvPr id="23" name="object 39">
            <a:extLst>
              <a:ext uri="{FF2B5EF4-FFF2-40B4-BE49-F238E27FC236}">
                <a16:creationId xmlns:a16="http://schemas.microsoft.com/office/drawing/2014/main" id="{76D7A605-BCEF-5692-A086-7776431272B4}"/>
              </a:ext>
            </a:extLst>
          </p:cNvPr>
          <p:cNvSpPr txBox="1"/>
          <p:nvPr/>
        </p:nvSpPr>
        <p:spPr>
          <a:xfrm>
            <a:off x="363774" y="2022148"/>
            <a:ext cx="4055826" cy="36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3) </a:t>
            </a:r>
            <a:r>
              <a:rPr lang="ko-KR" altLang="en-US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실험적 검증</a:t>
            </a:r>
            <a:endParaRPr lang="en-US" altLang="ko-KR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1DBFFF0C-5D44-0265-F478-2AF98E7AC033}"/>
              </a:ext>
            </a:extLst>
          </p:cNvPr>
          <p:cNvSpPr/>
          <p:nvPr/>
        </p:nvSpPr>
        <p:spPr>
          <a:xfrm>
            <a:off x="288797" y="2804357"/>
            <a:ext cx="2632625" cy="3444042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2714B8D-D8C0-365D-48F1-449A45A12A14}"/>
              </a:ext>
            </a:extLst>
          </p:cNvPr>
          <p:cNvGrpSpPr/>
          <p:nvPr/>
        </p:nvGrpSpPr>
        <p:grpSpPr>
          <a:xfrm>
            <a:off x="287326" y="2440598"/>
            <a:ext cx="1236674" cy="363759"/>
            <a:chOff x="1922490" y="5401525"/>
            <a:chExt cx="1236674" cy="363759"/>
          </a:xfrm>
        </p:grpSpPr>
        <p:sp>
          <p:nvSpPr>
            <p:cNvPr id="32" name="object 91">
              <a:extLst>
                <a:ext uri="{FF2B5EF4-FFF2-40B4-BE49-F238E27FC236}">
                  <a16:creationId xmlns:a16="http://schemas.microsoft.com/office/drawing/2014/main" id="{CE236F7D-906A-368C-E3C5-7A271F316169}"/>
                </a:ext>
              </a:extLst>
            </p:cNvPr>
            <p:cNvSpPr/>
            <p:nvPr/>
          </p:nvSpPr>
          <p:spPr>
            <a:xfrm>
              <a:off x="1922491" y="5401525"/>
              <a:ext cx="1236673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92">
              <a:extLst>
                <a:ext uri="{FF2B5EF4-FFF2-40B4-BE49-F238E27FC236}">
                  <a16:creationId xmlns:a16="http://schemas.microsoft.com/office/drawing/2014/main" id="{2592C950-824A-9242-BCD4-E24B060960DB}"/>
                </a:ext>
              </a:extLst>
            </p:cNvPr>
            <p:cNvSpPr txBox="1"/>
            <p:nvPr/>
          </p:nvSpPr>
          <p:spPr>
            <a:xfrm>
              <a:off x="1922490" y="5414127"/>
              <a:ext cx="12366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1. </a:t>
              </a:r>
              <a:r>
                <a:rPr lang="ko-KR" altLang="en-US" sz="1600" dirty="0">
                  <a:solidFill>
                    <a:schemeClr val="bg1"/>
                  </a:solidFill>
                </a:rPr>
                <a:t>모터 제작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object 39">
            <a:extLst>
              <a:ext uri="{FF2B5EF4-FFF2-40B4-BE49-F238E27FC236}">
                <a16:creationId xmlns:a16="http://schemas.microsoft.com/office/drawing/2014/main" id="{6759EE5E-812D-2ECD-2555-B10C04E1B02B}"/>
              </a:ext>
            </a:extLst>
          </p:cNvPr>
          <p:cNvSpPr txBox="1"/>
          <p:nvPr/>
        </p:nvSpPr>
        <p:spPr>
          <a:xfrm>
            <a:off x="473199" y="2808926"/>
            <a:ext cx="3108201" cy="539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정상 및 고장 모터 제작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인위적 고장 삽입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6" name="object 5">
            <a:extLst>
              <a:ext uri="{FF2B5EF4-FFF2-40B4-BE49-F238E27FC236}">
                <a16:creationId xmlns:a16="http://schemas.microsoft.com/office/drawing/2014/main" id="{9EACDA89-11DF-3EA1-3E28-5CE67DD51032}"/>
              </a:ext>
            </a:extLst>
          </p:cNvPr>
          <p:cNvSpPr/>
          <p:nvPr/>
        </p:nvSpPr>
        <p:spPr>
          <a:xfrm>
            <a:off x="3240402" y="2804357"/>
            <a:ext cx="5582940" cy="3444043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280749B-620E-95D5-6D8F-4308F37CFFA6}"/>
              </a:ext>
            </a:extLst>
          </p:cNvPr>
          <p:cNvGrpSpPr/>
          <p:nvPr/>
        </p:nvGrpSpPr>
        <p:grpSpPr>
          <a:xfrm>
            <a:off x="3238930" y="2440598"/>
            <a:ext cx="1790270" cy="363759"/>
            <a:chOff x="1922491" y="5401525"/>
            <a:chExt cx="1168111" cy="363759"/>
          </a:xfrm>
        </p:grpSpPr>
        <p:sp>
          <p:nvSpPr>
            <p:cNvPr id="40" name="object 91">
              <a:extLst>
                <a:ext uri="{FF2B5EF4-FFF2-40B4-BE49-F238E27FC236}">
                  <a16:creationId xmlns:a16="http://schemas.microsoft.com/office/drawing/2014/main" id="{87DD8514-749F-2957-42C5-315CA969ECEE}"/>
                </a:ext>
              </a:extLst>
            </p:cNvPr>
            <p:cNvSpPr/>
            <p:nvPr/>
          </p:nvSpPr>
          <p:spPr>
            <a:xfrm>
              <a:off x="1922491" y="5401525"/>
              <a:ext cx="1168111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92">
              <a:extLst>
                <a:ext uri="{FF2B5EF4-FFF2-40B4-BE49-F238E27FC236}">
                  <a16:creationId xmlns:a16="http://schemas.microsoft.com/office/drawing/2014/main" id="{5E3D9559-0705-B77E-CA87-DACF95F32271}"/>
                </a:ext>
              </a:extLst>
            </p:cNvPr>
            <p:cNvSpPr txBox="1"/>
            <p:nvPr/>
          </p:nvSpPr>
          <p:spPr>
            <a:xfrm>
              <a:off x="1939628" y="5414127"/>
              <a:ext cx="11509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2. 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다이나모</a:t>
              </a:r>
              <a:r>
                <a:rPr lang="ko-KR" altLang="en-US" sz="1600" dirty="0">
                  <a:solidFill>
                    <a:schemeClr val="bg1"/>
                  </a:solidFill>
                </a:rPr>
                <a:t> 테스트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object 39">
            <a:extLst>
              <a:ext uri="{FF2B5EF4-FFF2-40B4-BE49-F238E27FC236}">
                <a16:creationId xmlns:a16="http://schemas.microsoft.com/office/drawing/2014/main" id="{33268631-7A68-2D57-BCA7-6DD74951FD9B}"/>
              </a:ext>
            </a:extLst>
          </p:cNvPr>
          <p:cNvSpPr txBox="1"/>
          <p:nvPr/>
        </p:nvSpPr>
        <p:spPr>
          <a:xfrm>
            <a:off x="3424802" y="2816959"/>
            <a:ext cx="5073039" cy="126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200kW </a:t>
            </a:r>
            <a:r>
              <a:rPr lang="ko-KR" alt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다이나모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 테스트 베드 이용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기본구성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: </a:t>
            </a:r>
            <a:r>
              <a:rPr lang="ko-KR" alt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파워스토리지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모터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인버터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다이나모미터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추가구성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: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가속도계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전류센서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전압센서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, DAQ(</a:t>
            </a:r>
            <a:r>
              <a:rPr lang="en-US" altLang="ko-KR" dirty="0" err="1">
                <a:solidFill>
                  <a:schemeClr val="tx1"/>
                </a:solidFill>
                <a:sym typeface="Wingdings" panose="05000000000000000000" pitchFamily="2" charset="2"/>
              </a:rPr>
              <a:t>Labview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MTPA-FW-MTPV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영역을 고려한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가지 실험조건 설계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(2000rpm 50/100/250/400 Nm, 5500rpm 50/100 Nm, 8500rpm 50/100 Nm)</a:t>
            </a:r>
          </a:p>
        </p:txBody>
      </p: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1E4B784C-3ABF-0A25-D882-0F37A189AFD7}"/>
              </a:ext>
            </a:extLst>
          </p:cNvPr>
          <p:cNvGrpSpPr/>
          <p:nvPr/>
        </p:nvGrpSpPr>
        <p:grpSpPr>
          <a:xfrm>
            <a:off x="3448097" y="4144539"/>
            <a:ext cx="2343103" cy="1996884"/>
            <a:chOff x="3574548" y="3922712"/>
            <a:chExt cx="2343103" cy="1996884"/>
          </a:xfrm>
        </p:grpSpPr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76491EC3-8B26-5DC5-2482-3C56CB922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4548" y="3922712"/>
              <a:ext cx="2343103" cy="1768837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2F2B676-4115-7CE2-5421-199A09214950}"/>
                </a:ext>
              </a:extLst>
            </p:cNvPr>
            <p:cNvSpPr txBox="1"/>
            <p:nvPr/>
          </p:nvSpPr>
          <p:spPr>
            <a:xfrm>
              <a:off x="3576978" y="5704152"/>
              <a:ext cx="233824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&lt;Schematic diagram of experiment&gt;</a:t>
              </a:r>
              <a:endParaRPr lang="ko-KR" altLang="en-US" sz="800" dirty="0">
                <a:solidFill>
                  <a:schemeClr val="tx2">
                    <a:lumMod val="7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26073E7F-D80A-697F-0F37-F55605B4074B}"/>
              </a:ext>
            </a:extLst>
          </p:cNvPr>
          <p:cNvGrpSpPr/>
          <p:nvPr/>
        </p:nvGrpSpPr>
        <p:grpSpPr>
          <a:xfrm>
            <a:off x="470427" y="3486921"/>
            <a:ext cx="2223679" cy="1219887"/>
            <a:chOff x="533400" y="3398110"/>
            <a:chExt cx="2237212" cy="1227311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6C1714FF-F531-4A12-A34E-19EB75D7DA61}"/>
                </a:ext>
              </a:extLst>
            </p:cNvPr>
            <p:cNvGrpSpPr/>
            <p:nvPr/>
          </p:nvGrpSpPr>
          <p:grpSpPr>
            <a:xfrm>
              <a:off x="666473" y="3398110"/>
              <a:ext cx="1971067" cy="909725"/>
              <a:chOff x="519244" y="3398110"/>
              <a:chExt cx="1971067" cy="909725"/>
            </a:xfrm>
          </p:grpSpPr>
          <p:grpSp>
            <p:nvGrpSpPr>
              <p:cNvPr id="179" name="그룹 178">
                <a:extLst>
                  <a:ext uri="{FF2B5EF4-FFF2-40B4-BE49-F238E27FC236}">
                    <a16:creationId xmlns:a16="http://schemas.microsoft.com/office/drawing/2014/main" id="{FF6F691E-8ECA-780B-F8E8-C86FDB91AAE8}"/>
                  </a:ext>
                </a:extLst>
              </p:cNvPr>
              <p:cNvGrpSpPr/>
              <p:nvPr/>
            </p:nvGrpSpPr>
            <p:grpSpPr>
              <a:xfrm>
                <a:off x="519244" y="3398110"/>
                <a:ext cx="885448" cy="909725"/>
                <a:chOff x="8615080" y="2074976"/>
                <a:chExt cx="2415987" cy="2482231"/>
              </a:xfrm>
            </p:grpSpPr>
            <p:grpSp>
              <p:nvGrpSpPr>
                <p:cNvPr id="215" name="그룹 214">
                  <a:extLst>
                    <a:ext uri="{FF2B5EF4-FFF2-40B4-BE49-F238E27FC236}">
                      <a16:creationId xmlns:a16="http://schemas.microsoft.com/office/drawing/2014/main" id="{2E6F6848-2242-E4E3-0E67-A5AE2A2DCF80}"/>
                    </a:ext>
                  </a:extLst>
                </p:cNvPr>
                <p:cNvGrpSpPr/>
                <p:nvPr/>
              </p:nvGrpSpPr>
              <p:grpSpPr>
                <a:xfrm>
                  <a:off x="8615080" y="2074976"/>
                  <a:ext cx="2415987" cy="2482231"/>
                  <a:chOff x="8547280" y="2162175"/>
                  <a:chExt cx="2690202" cy="2763966"/>
                </a:xfrm>
              </p:grpSpPr>
              <p:sp>
                <p:nvSpPr>
                  <p:cNvPr id="246" name="타원 245">
                    <a:extLst>
                      <a:ext uri="{FF2B5EF4-FFF2-40B4-BE49-F238E27FC236}">
                        <a16:creationId xmlns:a16="http://schemas.microsoft.com/office/drawing/2014/main" id="{FF65A154-0D5E-CD5E-A8BB-C7049D5FA920}"/>
                      </a:ext>
                    </a:extLst>
                  </p:cNvPr>
                  <p:cNvSpPr/>
                  <p:nvPr/>
                </p:nvSpPr>
                <p:spPr>
                  <a:xfrm>
                    <a:off x="8680134" y="2331910"/>
                    <a:ext cx="2424492" cy="2424493"/>
                  </a:xfrm>
                  <a:prstGeom prst="ellipse">
                    <a:avLst/>
                  </a:prstGeom>
                  <a:solidFill>
                    <a:schemeClr val="bg2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47" name="타원 246">
                    <a:extLst>
                      <a:ext uri="{FF2B5EF4-FFF2-40B4-BE49-F238E27FC236}">
                        <a16:creationId xmlns:a16="http://schemas.microsoft.com/office/drawing/2014/main" id="{4DCFA337-F28E-755F-CF0D-228B760A431E}"/>
                      </a:ext>
                    </a:extLst>
                  </p:cNvPr>
                  <p:cNvSpPr/>
                  <p:nvPr/>
                </p:nvSpPr>
                <p:spPr>
                  <a:xfrm>
                    <a:off x="8547280" y="2162175"/>
                    <a:ext cx="2690202" cy="2763966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</p:grpSp>
            <p:grpSp>
              <p:nvGrpSpPr>
                <p:cNvPr id="216" name="그룹 215">
                  <a:extLst>
                    <a:ext uri="{FF2B5EF4-FFF2-40B4-BE49-F238E27FC236}">
                      <a16:creationId xmlns:a16="http://schemas.microsoft.com/office/drawing/2014/main" id="{1EF86553-4A08-732B-B6A3-EB752FD4407A}"/>
                    </a:ext>
                  </a:extLst>
                </p:cNvPr>
                <p:cNvGrpSpPr/>
                <p:nvPr/>
              </p:nvGrpSpPr>
              <p:grpSpPr>
                <a:xfrm>
                  <a:off x="8942908" y="2437645"/>
                  <a:ext cx="1751715" cy="1757786"/>
                  <a:chOff x="8942908" y="2437645"/>
                  <a:chExt cx="1751715" cy="1757786"/>
                </a:xfrm>
              </p:grpSpPr>
              <p:sp>
                <p:nvSpPr>
                  <p:cNvPr id="217" name="타원 216">
                    <a:extLst>
                      <a:ext uri="{FF2B5EF4-FFF2-40B4-BE49-F238E27FC236}">
                        <a16:creationId xmlns:a16="http://schemas.microsoft.com/office/drawing/2014/main" id="{0CEBB6D5-1578-8E60-7D3C-DC8A99C2B714}"/>
                      </a:ext>
                    </a:extLst>
                  </p:cNvPr>
                  <p:cNvSpPr/>
                  <p:nvPr/>
                </p:nvSpPr>
                <p:spPr>
                  <a:xfrm>
                    <a:off x="9497922" y="3001867"/>
                    <a:ext cx="657052" cy="65705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  <p:grpSp>
                <p:nvGrpSpPr>
                  <p:cNvPr id="218" name="그룹 217">
                    <a:extLst>
                      <a:ext uri="{FF2B5EF4-FFF2-40B4-BE49-F238E27FC236}">
                        <a16:creationId xmlns:a16="http://schemas.microsoft.com/office/drawing/2014/main" id="{191FACC4-3F5E-A140-76A2-B57C4CB8E96B}"/>
                      </a:ext>
                    </a:extLst>
                  </p:cNvPr>
                  <p:cNvGrpSpPr/>
                  <p:nvPr/>
                </p:nvGrpSpPr>
                <p:grpSpPr>
                  <a:xfrm>
                    <a:off x="10448016" y="2600418"/>
                    <a:ext cx="246607" cy="1419483"/>
                    <a:chOff x="10425725" y="2602706"/>
                    <a:chExt cx="246607" cy="1419483"/>
                  </a:xfrm>
                </p:grpSpPr>
                <p:grpSp>
                  <p:nvGrpSpPr>
                    <p:cNvPr id="241" name="그룹 240">
                      <a:extLst>
                        <a:ext uri="{FF2B5EF4-FFF2-40B4-BE49-F238E27FC236}">
                          <a16:creationId xmlns:a16="http://schemas.microsoft.com/office/drawing/2014/main" id="{EBC93D80-C3C8-413E-144D-83E4526FF4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25725" y="2690335"/>
                      <a:ext cx="162873" cy="1251510"/>
                      <a:chOff x="10536093" y="2767722"/>
                      <a:chExt cx="114277" cy="1079286"/>
                    </a:xfrm>
                    <a:solidFill>
                      <a:srgbClr val="FF0000"/>
                    </a:solidFill>
                  </p:grpSpPr>
                  <p:sp>
                    <p:nvSpPr>
                      <p:cNvPr id="244" name="사각형: 둥근 모서리 243">
                        <a:extLst>
                          <a:ext uri="{FF2B5EF4-FFF2-40B4-BE49-F238E27FC236}">
                            <a16:creationId xmlns:a16="http://schemas.microsoft.com/office/drawing/2014/main" id="{4F72FD1E-A1D4-E9EB-0015-A27855CE6F4D}"/>
                          </a:ext>
                        </a:extLst>
                      </p:cNvPr>
                      <p:cNvSpPr/>
                      <p:nvPr/>
                    </p:nvSpPr>
                    <p:spPr>
                      <a:xfrm rot="1290762">
                        <a:off x="10536093" y="2767722"/>
                        <a:ext cx="114042" cy="510318"/>
                      </a:xfrm>
                      <a:prstGeom prst="roundRect">
                        <a:avLst/>
                      </a:prstGeom>
                      <a:grpFill/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  <p:sp>
                    <p:nvSpPr>
                      <p:cNvPr id="245" name="사각형: 둥근 모서리 244">
                        <a:extLst>
                          <a:ext uri="{FF2B5EF4-FFF2-40B4-BE49-F238E27FC236}">
                            <a16:creationId xmlns:a16="http://schemas.microsoft.com/office/drawing/2014/main" id="{EBD8D635-9635-42C4-4A7D-F7C0F70F3F3B}"/>
                          </a:ext>
                        </a:extLst>
                      </p:cNvPr>
                      <p:cNvSpPr/>
                      <p:nvPr/>
                    </p:nvSpPr>
                    <p:spPr>
                      <a:xfrm rot="9513645">
                        <a:off x="10536328" y="3336690"/>
                        <a:ext cx="114042" cy="510318"/>
                      </a:xfrm>
                      <a:prstGeom prst="roundRect">
                        <a:avLst/>
                      </a:prstGeom>
                      <a:grpFill/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</p:grpSp>
                <p:sp>
                  <p:nvSpPr>
                    <p:cNvPr id="242" name="자유형: 도형 241">
                      <a:extLst>
                        <a:ext uri="{FF2B5EF4-FFF2-40B4-BE49-F238E27FC236}">
                          <a16:creationId xmlns:a16="http://schemas.microsoft.com/office/drawing/2014/main" id="{7B633A28-EA23-7D50-9036-60588E26EC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94170" y="2602706"/>
                      <a:ext cx="178162" cy="130969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  <p:sp>
                  <p:nvSpPr>
                    <p:cNvPr id="243" name="자유형: 도형 242">
                      <a:extLst>
                        <a:ext uri="{FF2B5EF4-FFF2-40B4-BE49-F238E27FC236}">
                          <a16:creationId xmlns:a16="http://schemas.microsoft.com/office/drawing/2014/main" id="{895B327D-5AC2-3E81-0DC2-C7B93CC4FE6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483494" y="3908189"/>
                      <a:ext cx="178162" cy="114000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</p:grpSp>
              <p:grpSp>
                <p:nvGrpSpPr>
                  <p:cNvPr id="219" name="그룹 218">
                    <a:extLst>
                      <a:ext uri="{FF2B5EF4-FFF2-40B4-BE49-F238E27FC236}">
                        <a16:creationId xmlns:a16="http://schemas.microsoft.com/office/drawing/2014/main" id="{9D03339F-43EF-E988-EA32-7497A77786E0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942908" y="2610249"/>
                    <a:ext cx="246640" cy="1419483"/>
                    <a:chOff x="10425692" y="2602706"/>
                    <a:chExt cx="246640" cy="1419483"/>
                  </a:xfrm>
                </p:grpSpPr>
                <p:grpSp>
                  <p:nvGrpSpPr>
                    <p:cNvPr id="236" name="그룹 235">
                      <a:extLst>
                        <a:ext uri="{FF2B5EF4-FFF2-40B4-BE49-F238E27FC236}">
                          <a16:creationId xmlns:a16="http://schemas.microsoft.com/office/drawing/2014/main" id="{32EC2C59-E4B3-F19D-E0A3-0FBDAEF0E8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25692" y="2690334"/>
                      <a:ext cx="162864" cy="1251511"/>
                      <a:chOff x="10536099" y="2767721"/>
                      <a:chExt cx="114271" cy="1079287"/>
                    </a:xfrm>
                    <a:solidFill>
                      <a:srgbClr val="FF0000"/>
                    </a:solidFill>
                  </p:grpSpPr>
                  <p:sp>
                    <p:nvSpPr>
                      <p:cNvPr id="239" name="사각형: 둥근 모서리 238">
                        <a:extLst>
                          <a:ext uri="{FF2B5EF4-FFF2-40B4-BE49-F238E27FC236}">
                            <a16:creationId xmlns:a16="http://schemas.microsoft.com/office/drawing/2014/main" id="{36B1F4E1-665D-E432-4EA3-9A3E2D5B4A24}"/>
                          </a:ext>
                        </a:extLst>
                      </p:cNvPr>
                      <p:cNvSpPr/>
                      <p:nvPr/>
                    </p:nvSpPr>
                    <p:spPr>
                      <a:xfrm rot="1290762">
                        <a:off x="10536099" y="2767721"/>
                        <a:ext cx="114042" cy="510318"/>
                      </a:xfrm>
                      <a:prstGeom prst="roundRect">
                        <a:avLst/>
                      </a:prstGeom>
                      <a:grpFill/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  <p:sp>
                    <p:nvSpPr>
                      <p:cNvPr id="240" name="사각형: 둥근 모서리 239">
                        <a:extLst>
                          <a:ext uri="{FF2B5EF4-FFF2-40B4-BE49-F238E27FC236}">
                            <a16:creationId xmlns:a16="http://schemas.microsoft.com/office/drawing/2014/main" id="{C300AD62-0F4C-9D74-8417-C77028D3306D}"/>
                          </a:ext>
                        </a:extLst>
                      </p:cNvPr>
                      <p:cNvSpPr/>
                      <p:nvPr/>
                    </p:nvSpPr>
                    <p:spPr>
                      <a:xfrm rot="9513645">
                        <a:off x="10536328" y="3336690"/>
                        <a:ext cx="114042" cy="510318"/>
                      </a:xfrm>
                      <a:prstGeom prst="roundRect">
                        <a:avLst/>
                      </a:prstGeom>
                      <a:grpFill/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</p:grpSp>
                <p:sp>
                  <p:nvSpPr>
                    <p:cNvPr id="237" name="자유형: 도형 236">
                      <a:extLst>
                        <a:ext uri="{FF2B5EF4-FFF2-40B4-BE49-F238E27FC236}">
                          <a16:creationId xmlns:a16="http://schemas.microsoft.com/office/drawing/2014/main" id="{179A5FB9-9E7C-D99E-E7C4-B79458EE69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94170" y="2602706"/>
                      <a:ext cx="178162" cy="130969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  <p:sp>
                  <p:nvSpPr>
                    <p:cNvPr id="238" name="자유형: 도형 237">
                      <a:extLst>
                        <a:ext uri="{FF2B5EF4-FFF2-40B4-BE49-F238E27FC236}">
                          <a16:creationId xmlns:a16="http://schemas.microsoft.com/office/drawing/2014/main" id="{3B7674AE-6CC6-F96F-4E1C-111CFEDE343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483494" y="3908189"/>
                      <a:ext cx="178162" cy="114000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</p:grpSp>
              <p:grpSp>
                <p:nvGrpSpPr>
                  <p:cNvPr id="220" name="그룹 219">
                    <a:extLst>
                      <a:ext uri="{FF2B5EF4-FFF2-40B4-BE49-F238E27FC236}">
                        <a16:creationId xmlns:a16="http://schemas.microsoft.com/office/drawing/2014/main" id="{56F640E4-EDA6-2690-7A30-F07F154D7095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9707935" y="1851223"/>
                    <a:ext cx="246640" cy="1419483"/>
                    <a:chOff x="10425692" y="2602706"/>
                    <a:chExt cx="246640" cy="1419483"/>
                  </a:xfrm>
                </p:grpSpPr>
                <p:grpSp>
                  <p:nvGrpSpPr>
                    <p:cNvPr id="231" name="그룹 230">
                      <a:extLst>
                        <a:ext uri="{FF2B5EF4-FFF2-40B4-BE49-F238E27FC236}">
                          <a16:creationId xmlns:a16="http://schemas.microsoft.com/office/drawing/2014/main" id="{4E0F8846-4B47-D83F-E027-0CE7759E34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25692" y="2690334"/>
                      <a:ext cx="162864" cy="1251511"/>
                      <a:chOff x="10536099" y="2767721"/>
                      <a:chExt cx="114271" cy="1079287"/>
                    </a:xfrm>
                    <a:solidFill>
                      <a:srgbClr val="FF0000"/>
                    </a:solidFill>
                  </p:grpSpPr>
                  <p:sp>
                    <p:nvSpPr>
                      <p:cNvPr id="234" name="사각형: 둥근 모서리 233">
                        <a:extLst>
                          <a:ext uri="{FF2B5EF4-FFF2-40B4-BE49-F238E27FC236}">
                            <a16:creationId xmlns:a16="http://schemas.microsoft.com/office/drawing/2014/main" id="{4D7BEAB5-BBB4-59E3-2EBF-648F95136E71}"/>
                          </a:ext>
                        </a:extLst>
                      </p:cNvPr>
                      <p:cNvSpPr/>
                      <p:nvPr/>
                    </p:nvSpPr>
                    <p:spPr>
                      <a:xfrm rot="1290762">
                        <a:off x="10536099" y="2767721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002060"/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  <p:sp>
                    <p:nvSpPr>
                      <p:cNvPr id="235" name="사각형: 둥근 모서리 234">
                        <a:extLst>
                          <a:ext uri="{FF2B5EF4-FFF2-40B4-BE49-F238E27FC236}">
                            <a16:creationId xmlns:a16="http://schemas.microsoft.com/office/drawing/2014/main" id="{31478BD1-F99C-1A56-55C5-FD06A9102CC6}"/>
                          </a:ext>
                        </a:extLst>
                      </p:cNvPr>
                      <p:cNvSpPr/>
                      <p:nvPr/>
                    </p:nvSpPr>
                    <p:spPr>
                      <a:xfrm rot="9513645">
                        <a:off x="10536328" y="3336690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002060"/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</p:grpSp>
                <p:sp>
                  <p:nvSpPr>
                    <p:cNvPr id="232" name="자유형: 도형 231">
                      <a:extLst>
                        <a:ext uri="{FF2B5EF4-FFF2-40B4-BE49-F238E27FC236}">
                          <a16:creationId xmlns:a16="http://schemas.microsoft.com/office/drawing/2014/main" id="{E479722A-0644-6C9C-0A45-6BDFEA1C3D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94170" y="2602706"/>
                      <a:ext cx="178162" cy="130969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  <p:sp>
                  <p:nvSpPr>
                    <p:cNvPr id="233" name="자유형: 도형 232">
                      <a:extLst>
                        <a:ext uri="{FF2B5EF4-FFF2-40B4-BE49-F238E27FC236}">
                          <a16:creationId xmlns:a16="http://schemas.microsoft.com/office/drawing/2014/main" id="{BD6C4AF4-7E4F-C0D1-BFF6-2C1DA17EF7C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483494" y="3908189"/>
                      <a:ext cx="178162" cy="114000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</p:grpSp>
              <p:grpSp>
                <p:nvGrpSpPr>
                  <p:cNvPr id="221" name="그룹 220">
                    <a:extLst>
                      <a:ext uri="{FF2B5EF4-FFF2-40B4-BE49-F238E27FC236}">
                        <a16:creationId xmlns:a16="http://schemas.microsoft.com/office/drawing/2014/main" id="{F626F840-73A6-BE4B-4F47-A14B58DBE31C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699750" y="3362369"/>
                    <a:ext cx="246640" cy="1419483"/>
                    <a:chOff x="10425692" y="2602706"/>
                    <a:chExt cx="246640" cy="1419483"/>
                  </a:xfrm>
                </p:grpSpPr>
                <p:grpSp>
                  <p:nvGrpSpPr>
                    <p:cNvPr id="226" name="그룹 225">
                      <a:extLst>
                        <a:ext uri="{FF2B5EF4-FFF2-40B4-BE49-F238E27FC236}">
                          <a16:creationId xmlns:a16="http://schemas.microsoft.com/office/drawing/2014/main" id="{90D78032-EF6A-ADAB-3156-8E2E900F48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25692" y="2690334"/>
                      <a:ext cx="162864" cy="1251511"/>
                      <a:chOff x="10536099" y="2767721"/>
                      <a:chExt cx="114271" cy="1079287"/>
                    </a:xfrm>
                    <a:solidFill>
                      <a:srgbClr val="FF0000"/>
                    </a:solidFill>
                  </p:grpSpPr>
                  <p:sp>
                    <p:nvSpPr>
                      <p:cNvPr id="229" name="사각형: 둥근 모서리 228">
                        <a:extLst>
                          <a:ext uri="{FF2B5EF4-FFF2-40B4-BE49-F238E27FC236}">
                            <a16:creationId xmlns:a16="http://schemas.microsoft.com/office/drawing/2014/main" id="{DC070198-2D64-775E-C62F-E9E70F8DB804}"/>
                          </a:ext>
                        </a:extLst>
                      </p:cNvPr>
                      <p:cNvSpPr/>
                      <p:nvPr/>
                    </p:nvSpPr>
                    <p:spPr>
                      <a:xfrm rot="1290762">
                        <a:off x="10536099" y="2767721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002060"/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  <p:sp>
                    <p:nvSpPr>
                      <p:cNvPr id="230" name="사각형: 둥근 모서리 229">
                        <a:extLst>
                          <a:ext uri="{FF2B5EF4-FFF2-40B4-BE49-F238E27FC236}">
                            <a16:creationId xmlns:a16="http://schemas.microsoft.com/office/drawing/2014/main" id="{FF504CE1-6258-5BCB-9664-ABD0FE09DF57}"/>
                          </a:ext>
                        </a:extLst>
                      </p:cNvPr>
                      <p:cNvSpPr/>
                      <p:nvPr/>
                    </p:nvSpPr>
                    <p:spPr>
                      <a:xfrm rot="9513645">
                        <a:off x="10536328" y="3336690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002060"/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</p:grpSp>
                <p:sp>
                  <p:nvSpPr>
                    <p:cNvPr id="227" name="자유형: 도형 226">
                      <a:extLst>
                        <a:ext uri="{FF2B5EF4-FFF2-40B4-BE49-F238E27FC236}">
                          <a16:creationId xmlns:a16="http://schemas.microsoft.com/office/drawing/2014/main" id="{E4212566-4B42-2DFA-D0FD-8253266F00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94170" y="2602706"/>
                      <a:ext cx="178162" cy="130969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  <p:sp>
                  <p:nvSpPr>
                    <p:cNvPr id="228" name="자유형: 도형 227">
                      <a:extLst>
                        <a:ext uri="{FF2B5EF4-FFF2-40B4-BE49-F238E27FC236}">
                          <a16:creationId xmlns:a16="http://schemas.microsoft.com/office/drawing/2014/main" id="{C578EA60-178F-BD4E-8C44-B8D2A8F0EE1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483494" y="3908189"/>
                      <a:ext cx="178162" cy="114000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</p:grpSp>
              <p:sp>
                <p:nvSpPr>
                  <p:cNvPr id="222" name="타원 221">
                    <a:extLst>
                      <a:ext uri="{FF2B5EF4-FFF2-40B4-BE49-F238E27FC236}">
                        <a16:creationId xmlns:a16="http://schemas.microsoft.com/office/drawing/2014/main" id="{902A86D4-4CDA-1DF4-778E-2D5A34A5CC67}"/>
                      </a:ext>
                    </a:extLst>
                  </p:cNvPr>
                  <p:cNvSpPr/>
                  <p:nvPr/>
                </p:nvSpPr>
                <p:spPr>
                  <a:xfrm>
                    <a:off x="9333005" y="2811436"/>
                    <a:ext cx="148043" cy="14804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  <p:sp>
                <p:nvSpPr>
                  <p:cNvPr id="223" name="타원 222">
                    <a:extLst>
                      <a:ext uri="{FF2B5EF4-FFF2-40B4-BE49-F238E27FC236}">
                        <a16:creationId xmlns:a16="http://schemas.microsoft.com/office/drawing/2014/main" id="{314C6545-AD48-070E-5EAC-B58B65270D24}"/>
                      </a:ext>
                    </a:extLst>
                  </p:cNvPr>
                  <p:cNvSpPr/>
                  <p:nvPr/>
                </p:nvSpPr>
                <p:spPr>
                  <a:xfrm>
                    <a:off x="9310261" y="3685512"/>
                    <a:ext cx="148043" cy="14804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  <p:sp>
                <p:nvSpPr>
                  <p:cNvPr id="224" name="타원 223">
                    <a:extLst>
                      <a:ext uri="{FF2B5EF4-FFF2-40B4-BE49-F238E27FC236}">
                        <a16:creationId xmlns:a16="http://schemas.microsoft.com/office/drawing/2014/main" id="{8A6EEA41-5ABC-E34C-2062-4E1708742782}"/>
                      </a:ext>
                    </a:extLst>
                  </p:cNvPr>
                  <p:cNvSpPr/>
                  <p:nvPr/>
                </p:nvSpPr>
                <p:spPr>
                  <a:xfrm>
                    <a:off x="10206665" y="3679294"/>
                    <a:ext cx="148043" cy="14804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  <p:sp>
                <p:nvSpPr>
                  <p:cNvPr id="225" name="타원 224">
                    <a:extLst>
                      <a:ext uri="{FF2B5EF4-FFF2-40B4-BE49-F238E27FC236}">
                        <a16:creationId xmlns:a16="http://schemas.microsoft.com/office/drawing/2014/main" id="{24CEE05D-52DE-0210-9F82-EA103DA03F6D}"/>
                      </a:ext>
                    </a:extLst>
                  </p:cNvPr>
                  <p:cNvSpPr/>
                  <p:nvPr/>
                </p:nvSpPr>
                <p:spPr>
                  <a:xfrm>
                    <a:off x="10206665" y="2808963"/>
                    <a:ext cx="148043" cy="14804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</p:grpSp>
          </p:grpSp>
          <p:grpSp>
            <p:nvGrpSpPr>
              <p:cNvPr id="180" name="그룹 179">
                <a:extLst>
                  <a:ext uri="{FF2B5EF4-FFF2-40B4-BE49-F238E27FC236}">
                    <a16:creationId xmlns:a16="http://schemas.microsoft.com/office/drawing/2014/main" id="{CA42CD07-6178-AD0B-B087-97B08FD1AFEF}"/>
                  </a:ext>
                </a:extLst>
              </p:cNvPr>
              <p:cNvGrpSpPr/>
              <p:nvPr/>
            </p:nvGrpSpPr>
            <p:grpSpPr>
              <a:xfrm>
                <a:off x="1604863" y="3398110"/>
                <a:ext cx="885448" cy="909725"/>
                <a:chOff x="8615080" y="2074976"/>
                <a:chExt cx="2415987" cy="2482231"/>
              </a:xfrm>
            </p:grpSpPr>
            <p:grpSp>
              <p:nvGrpSpPr>
                <p:cNvPr id="181" name="그룹 180">
                  <a:extLst>
                    <a:ext uri="{FF2B5EF4-FFF2-40B4-BE49-F238E27FC236}">
                      <a16:creationId xmlns:a16="http://schemas.microsoft.com/office/drawing/2014/main" id="{E39FCE87-34C4-2EC2-0E89-B3EA4B1A0162}"/>
                    </a:ext>
                  </a:extLst>
                </p:cNvPr>
                <p:cNvGrpSpPr/>
                <p:nvPr/>
              </p:nvGrpSpPr>
              <p:grpSpPr>
                <a:xfrm>
                  <a:off x="8615080" y="2074976"/>
                  <a:ext cx="2415987" cy="2482231"/>
                  <a:chOff x="8547280" y="2162175"/>
                  <a:chExt cx="2690202" cy="2763966"/>
                </a:xfrm>
              </p:grpSpPr>
              <p:sp>
                <p:nvSpPr>
                  <p:cNvPr id="213" name="타원 212">
                    <a:extLst>
                      <a:ext uri="{FF2B5EF4-FFF2-40B4-BE49-F238E27FC236}">
                        <a16:creationId xmlns:a16="http://schemas.microsoft.com/office/drawing/2014/main" id="{FDAF6EDF-612E-4941-784D-588669BAF775}"/>
                      </a:ext>
                    </a:extLst>
                  </p:cNvPr>
                  <p:cNvSpPr/>
                  <p:nvPr/>
                </p:nvSpPr>
                <p:spPr>
                  <a:xfrm>
                    <a:off x="8680134" y="2331910"/>
                    <a:ext cx="2424492" cy="2424493"/>
                  </a:xfrm>
                  <a:prstGeom prst="ellipse">
                    <a:avLst/>
                  </a:prstGeom>
                  <a:solidFill>
                    <a:schemeClr val="bg2"/>
                  </a:solidFill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4" name="타원 213">
                    <a:extLst>
                      <a:ext uri="{FF2B5EF4-FFF2-40B4-BE49-F238E27FC236}">
                        <a16:creationId xmlns:a16="http://schemas.microsoft.com/office/drawing/2014/main" id="{B9EEF7B0-5512-6DB0-9E9D-52B2C556DD88}"/>
                      </a:ext>
                    </a:extLst>
                  </p:cNvPr>
                  <p:cNvSpPr/>
                  <p:nvPr/>
                </p:nvSpPr>
                <p:spPr>
                  <a:xfrm>
                    <a:off x="8547280" y="2162175"/>
                    <a:ext cx="2690202" cy="2763966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</p:grpSp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9113A291-F7EB-5096-5116-C05204D345F1}"/>
                    </a:ext>
                  </a:extLst>
                </p:cNvPr>
                <p:cNvGrpSpPr/>
                <p:nvPr/>
              </p:nvGrpSpPr>
              <p:grpSpPr>
                <a:xfrm>
                  <a:off x="8942908" y="2437645"/>
                  <a:ext cx="1751715" cy="1757786"/>
                  <a:chOff x="8942908" y="2437645"/>
                  <a:chExt cx="1751715" cy="1757786"/>
                </a:xfrm>
              </p:grpSpPr>
              <p:sp>
                <p:nvSpPr>
                  <p:cNvPr id="184" name="타원 183">
                    <a:extLst>
                      <a:ext uri="{FF2B5EF4-FFF2-40B4-BE49-F238E27FC236}">
                        <a16:creationId xmlns:a16="http://schemas.microsoft.com/office/drawing/2014/main" id="{B070D372-D007-2C64-1F39-3476B242EB95}"/>
                      </a:ext>
                    </a:extLst>
                  </p:cNvPr>
                  <p:cNvSpPr/>
                  <p:nvPr/>
                </p:nvSpPr>
                <p:spPr>
                  <a:xfrm>
                    <a:off x="9497922" y="3001867"/>
                    <a:ext cx="657052" cy="65705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  <p:grpSp>
                <p:nvGrpSpPr>
                  <p:cNvPr id="185" name="그룹 184">
                    <a:extLst>
                      <a:ext uri="{FF2B5EF4-FFF2-40B4-BE49-F238E27FC236}">
                        <a16:creationId xmlns:a16="http://schemas.microsoft.com/office/drawing/2014/main" id="{1EEE94FB-D790-E229-C131-9C91B1BE2033}"/>
                      </a:ext>
                    </a:extLst>
                  </p:cNvPr>
                  <p:cNvGrpSpPr/>
                  <p:nvPr/>
                </p:nvGrpSpPr>
                <p:grpSpPr>
                  <a:xfrm>
                    <a:off x="10448016" y="2600418"/>
                    <a:ext cx="246607" cy="1419483"/>
                    <a:chOff x="10425725" y="2602706"/>
                    <a:chExt cx="246607" cy="1419483"/>
                  </a:xfrm>
                </p:grpSpPr>
                <p:grpSp>
                  <p:nvGrpSpPr>
                    <p:cNvPr id="208" name="그룹 207">
                      <a:extLst>
                        <a:ext uri="{FF2B5EF4-FFF2-40B4-BE49-F238E27FC236}">
                          <a16:creationId xmlns:a16="http://schemas.microsoft.com/office/drawing/2014/main" id="{8AA9B029-4FE9-D344-21AC-4FF3801AE5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25725" y="2690335"/>
                      <a:ext cx="162873" cy="1251510"/>
                      <a:chOff x="10536093" y="2767722"/>
                      <a:chExt cx="114277" cy="1079286"/>
                    </a:xfrm>
                    <a:solidFill>
                      <a:srgbClr val="FF0000"/>
                    </a:solidFill>
                  </p:grpSpPr>
                  <p:sp>
                    <p:nvSpPr>
                      <p:cNvPr id="211" name="사각형: 둥근 모서리 210">
                        <a:extLst>
                          <a:ext uri="{FF2B5EF4-FFF2-40B4-BE49-F238E27FC236}">
                            <a16:creationId xmlns:a16="http://schemas.microsoft.com/office/drawing/2014/main" id="{E389E6B6-4361-E2FB-9A73-10EF9921CD42}"/>
                          </a:ext>
                        </a:extLst>
                      </p:cNvPr>
                      <p:cNvSpPr/>
                      <p:nvPr/>
                    </p:nvSpPr>
                    <p:spPr>
                      <a:xfrm rot="1290762">
                        <a:off x="10536093" y="2767722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FF0000">
                          <a:alpha val="50000"/>
                        </a:srgb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  <p:sp>
                    <p:nvSpPr>
                      <p:cNvPr id="212" name="사각형: 둥근 모서리 211">
                        <a:extLst>
                          <a:ext uri="{FF2B5EF4-FFF2-40B4-BE49-F238E27FC236}">
                            <a16:creationId xmlns:a16="http://schemas.microsoft.com/office/drawing/2014/main" id="{9DA797BA-C627-5FFB-5BA8-09CB027A1C9A}"/>
                          </a:ext>
                        </a:extLst>
                      </p:cNvPr>
                      <p:cNvSpPr/>
                      <p:nvPr/>
                    </p:nvSpPr>
                    <p:spPr>
                      <a:xfrm rot="9513645">
                        <a:off x="10536328" y="3336690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FF0000">
                          <a:alpha val="50000"/>
                        </a:srgb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</p:grpSp>
                <p:sp>
                  <p:nvSpPr>
                    <p:cNvPr id="209" name="자유형: 도형 208">
                      <a:extLst>
                        <a:ext uri="{FF2B5EF4-FFF2-40B4-BE49-F238E27FC236}">
                          <a16:creationId xmlns:a16="http://schemas.microsoft.com/office/drawing/2014/main" id="{B51D0A9E-5EBA-8AE7-C44B-A02B18DB5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94170" y="2602706"/>
                      <a:ext cx="178162" cy="130969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  <p:sp>
                  <p:nvSpPr>
                    <p:cNvPr id="210" name="자유형: 도형 209">
                      <a:extLst>
                        <a:ext uri="{FF2B5EF4-FFF2-40B4-BE49-F238E27FC236}">
                          <a16:creationId xmlns:a16="http://schemas.microsoft.com/office/drawing/2014/main" id="{6F96C89D-6E26-1071-03EA-7FCC6EE2FFA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483494" y="3908189"/>
                      <a:ext cx="178162" cy="114000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</p:grpSp>
              <p:grpSp>
                <p:nvGrpSpPr>
                  <p:cNvPr id="186" name="그룹 185">
                    <a:extLst>
                      <a:ext uri="{FF2B5EF4-FFF2-40B4-BE49-F238E27FC236}">
                        <a16:creationId xmlns:a16="http://schemas.microsoft.com/office/drawing/2014/main" id="{84357F50-2E48-1B69-A533-A1FCB0381B94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942908" y="2610249"/>
                    <a:ext cx="246640" cy="1419483"/>
                    <a:chOff x="10425692" y="2602706"/>
                    <a:chExt cx="246640" cy="1419483"/>
                  </a:xfrm>
                </p:grpSpPr>
                <p:grpSp>
                  <p:nvGrpSpPr>
                    <p:cNvPr id="203" name="그룹 202">
                      <a:extLst>
                        <a:ext uri="{FF2B5EF4-FFF2-40B4-BE49-F238E27FC236}">
                          <a16:creationId xmlns:a16="http://schemas.microsoft.com/office/drawing/2014/main" id="{A09271C6-06C8-0A04-E763-9644C3946B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25692" y="2690334"/>
                      <a:ext cx="162864" cy="1251511"/>
                      <a:chOff x="10536099" y="2767721"/>
                      <a:chExt cx="114271" cy="1079287"/>
                    </a:xfrm>
                    <a:solidFill>
                      <a:srgbClr val="FF0000"/>
                    </a:solidFill>
                  </p:grpSpPr>
                  <p:sp>
                    <p:nvSpPr>
                      <p:cNvPr id="206" name="사각형: 둥근 모서리 205">
                        <a:extLst>
                          <a:ext uri="{FF2B5EF4-FFF2-40B4-BE49-F238E27FC236}">
                            <a16:creationId xmlns:a16="http://schemas.microsoft.com/office/drawing/2014/main" id="{D8547EEB-129B-B9E8-16E4-41C97E1C66FE}"/>
                          </a:ext>
                        </a:extLst>
                      </p:cNvPr>
                      <p:cNvSpPr/>
                      <p:nvPr/>
                    </p:nvSpPr>
                    <p:spPr>
                      <a:xfrm rot="1290762">
                        <a:off x="10536099" y="2767721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FF0000">
                          <a:alpha val="50000"/>
                        </a:srgb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  <p:sp>
                    <p:nvSpPr>
                      <p:cNvPr id="207" name="사각형: 둥근 모서리 206">
                        <a:extLst>
                          <a:ext uri="{FF2B5EF4-FFF2-40B4-BE49-F238E27FC236}">
                            <a16:creationId xmlns:a16="http://schemas.microsoft.com/office/drawing/2014/main" id="{1B53297F-277E-8868-092F-14A69F8BAE03}"/>
                          </a:ext>
                        </a:extLst>
                      </p:cNvPr>
                      <p:cNvSpPr/>
                      <p:nvPr/>
                    </p:nvSpPr>
                    <p:spPr>
                      <a:xfrm rot="9513645">
                        <a:off x="10536328" y="3336690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FF0000">
                          <a:alpha val="50000"/>
                        </a:srgb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</p:grpSp>
                <p:sp>
                  <p:nvSpPr>
                    <p:cNvPr id="204" name="자유형: 도형 203">
                      <a:extLst>
                        <a:ext uri="{FF2B5EF4-FFF2-40B4-BE49-F238E27FC236}">
                          <a16:creationId xmlns:a16="http://schemas.microsoft.com/office/drawing/2014/main" id="{043C2B1C-CFDD-D399-8CAF-E59160259C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94170" y="2602706"/>
                      <a:ext cx="178162" cy="130969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  <p:sp>
                  <p:nvSpPr>
                    <p:cNvPr id="205" name="자유형: 도형 204">
                      <a:extLst>
                        <a:ext uri="{FF2B5EF4-FFF2-40B4-BE49-F238E27FC236}">
                          <a16:creationId xmlns:a16="http://schemas.microsoft.com/office/drawing/2014/main" id="{920D96BA-8F62-711F-4160-F994A96F37B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483494" y="3908189"/>
                      <a:ext cx="178162" cy="114000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</p:grpSp>
              <p:grpSp>
                <p:nvGrpSpPr>
                  <p:cNvPr id="187" name="그룹 186">
                    <a:extLst>
                      <a:ext uri="{FF2B5EF4-FFF2-40B4-BE49-F238E27FC236}">
                        <a16:creationId xmlns:a16="http://schemas.microsoft.com/office/drawing/2014/main" id="{0770AF83-717A-CAC8-1159-997F00022293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9707935" y="1851223"/>
                    <a:ext cx="246640" cy="1419483"/>
                    <a:chOff x="10425692" y="2602706"/>
                    <a:chExt cx="246640" cy="1419483"/>
                  </a:xfrm>
                </p:grpSpPr>
                <p:grpSp>
                  <p:nvGrpSpPr>
                    <p:cNvPr id="198" name="그룹 197">
                      <a:extLst>
                        <a:ext uri="{FF2B5EF4-FFF2-40B4-BE49-F238E27FC236}">
                          <a16:creationId xmlns:a16="http://schemas.microsoft.com/office/drawing/2014/main" id="{D56B9BF9-DD7D-0DE4-E1FC-DAF5491D14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25692" y="2690334"/>
                      <a:ext cx="162864" cy="1251511"/>
                      <a:chOff x="10536099" y="2767721"/>
                      <a:chExt cx="114271" cy="1079287"/>
                    </a:xfrm>
                    <a:solidFill>
                      <a:srgbClr val="FF0000"/>
                    </a:solidFill>
                  </p:grpSpPr>
                  <p:sp>
                    <p:nvSpPr>
                      <p:cNvPr id="201" name="사각형: 둥근 모서리 200">
                        <a:extLst>
                          <a:ext uri="{FF2B5EF4-FFF2-40B4-BE49-F238E27FC236}">
                            <a16:creationId xmlns:a16="http://schemas.microsoft.com/office/drawing/2014/main" id="{304CEF45-FF3B-68E9-AFBC-D88B318F4547}"/>
                          </a:ext>
                        </a:extLst>
                      </p:cNvPr>
                      <p:cNvSpPr/>
                      <p:nvPr/>
                    </p:nvSpPr>
                    <p:spPr>
                      <a:xfrm rot="1290762">
                        <a:off x="10536099" y="2767721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002060">
                          <a:alpha val="50000"/>
                        </a:srgb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 dirty="0"/>
                      </a:p>
                    </p:txBody>
                  </p:sp>
                  <p:sp>
                    <p:nvSpPr>
                      <p:cNvPr id="202" name="사각형: 둥근 모서리 201">
                        <a:extLst>
                          <a:ext uri="{FF2B5EF4-FFF2-40B4-BE49-F238E27FC236}">
                            <a16:creationId xmlns:a16="http://schemas.microsoft.com/office/drawing/2014/main" id="{D3F30F74-32E3-9B85-2517-D11960C9222F}"/>
                          </a:ext>
                        </a:extLst>
                      </p:cNvPr>
                      <p:cNvSpPr/>
                      <p:nvPr/>
                    </p:nvSpPr>
                    <p:spPr>
                      <a:xfrm rot="9513645">
                        <a:off x="10536328" y="3336690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002060">
                          <a:alpha val="50000"/>
                        </a:srgb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 dirty="0"/>
                      </a:p>
                    </p:txBody>
                  </p:sp>
                </p:grpSp>
                <p:sp>
                  <p:nvSpPr>
                    <p:cNvPr id="199" name="자유형: 도형 198">
                      <a:extLst>
                        <a:ext uri="{FF2B5EF4-FFF2-40B4-BE49-F238E27FC236}">
                          <a16:creationId xmlns:a16="http://schemas.microsoft.com/office/drawing/2014/main" id="{05CCDFCD-69C8-28DC-EC9E-304F78B08F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94170" y="2602706"/>
                      <a:ext cx="178162" cy="130969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  <p:sp>
                  <p:nvSpPr>
                    <p:cNvPr id="200" name="자유형: 도형 199">
                      <a:extLst>
                        <a:ext uri="{FF2B5EF4-FFF2-40B4-BE49-F238E27FC236}">
                          <a16:creationId xmlns:a16="http://schemas.microsoft.com/office/drawing/2014/main" id="{DFD1D499-10D9-9DB9-F1D8-B9191218531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483494" y="3908189"/>
                      <a:ext cx="178162" cy="114000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</p:grpSp>
              <p:grpSp>
                <p:nvGrpSpPr>
                  <p:cNvPr id="188" name="그룹 187">
                    <a:extLst>
                      <a:ext uri="{FF2B5EF4-FFF2-40B4-BE49-F238E27FC236}">
                        <a16:creationId xmlns:a16="http://schemas.microsoft.com/office/drawing/2014/main" id="{7A9AB3EC-7756-7005-7736-6C771CB56E98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699750" y="3362369"/>
                    <a:ext cx="246640" cy="1419483"/>
                    <a:chOff x="10425692" y="2602706"/>
                    <a:chExt cx="246640" cy="1419483"/>
                  </a:xfrm>
                </p:grpSpPr>
                <p:grpSp>
                  <p:nvGrpSpPr>
                    <p:cNvPr id="193" name="그룹 192">
                      <a:extLst>
                        <a:ext uri="{FF2B5EF4-FFF2-40B4-BE49-F238E27FC236}">
                          <a16:creationId xmlns:a16="http://schemas.microsoft.com/office/drawing/2014/main" id="{D0C6E798-97DB-5272-D2AA-47F199CBFB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25692" y="2690334"/>
                      <a:ext cx="162864" cy="1251511"/>
                      <a:chOff x="10536099" y="2767721"/>
                      <a:chExt cx="114271" cy="1079287"/>
                    </a:xfrm>
                    <a:solidFill>
                      <a:srgbClr val="FF0000"/>
                    </a:solidFill>
                  </p:grpSpPr>
                  <p:sp>
                    <p:nvSpPr>
                      <p:cNvPr id="196" name="사각형: 둥근 모서리 195">
                        <a:extLst>
                          <a:ext uri="{FF2B5EF4-FFF2-40B4-BE49-F238E27FC236}">
                            <a16:creationId xmlns:a16="http://schemas.microsoft.com/office/drawing/2014/main" id="{7D407282-3661-D7B7-7216-838892AC509E}"/>
                          </a:ext>
                        </a:extLst>
                      </p:cNvPr>
                      <p:cNvSpPr/>
                      <p:nvPr/>
                    </p:nvSpPr>
                    <p:spPr>
                      <a:xfrm rot="1290762">
                        <a:off x="10536099" y="2767721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002060">
                          <a:alpha val="50000"/>
                        </a:srgb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  <p:sp>
                    <p:nvSpPr>
                      <p:cNvPr id="197" name="사각형: 둥근 모서리 196">
                        <a:extLst>
                          <a:ext uri="{FF2B5EF4-FFF2-40B4-BE49-F238E27FC236}">
                            <a16:creationId xmlns:a16="http://schemas.microsoft.com/office/drawing/2014/main" id="{EAAD0B2F-0093-1C5B-0BA1-43F220166F6F}"/>
                          </a:ext>
                        </a:extLst>
                      </p:cNvPr>
                      <p:cNvSpPr/>
                      <p:nvPr/>
                    </p:nvSpPr>
                    <p:spPr>
                      <a:xfrm rot="9513645">
                        <a:off x="10536328" y="3336690"/>
                        <a:ext cx="114042" cy="510318"/>
                      </a:xfrm>
                      <a:prstGeom prst="roundRect">
                        <a:avLst/>
                      </a:prstGeom>
                      <a:solidFill>
                        <a:srgbClr val="002060">
                          <a:alpha val="50000"/>
                        </a:srgb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200"/>
                      </a:p>
                    </p:txBody>
                  </p:sp>
                </p:grpSp>
                <p:sp>
                  <p:nvSpPr>
                    <p:cNvPr id="194" name="자유형: 도형 193">
                      <a:extLst>
                        <a:ext uri="{FF2B5EF4-FFF2-40B4-BE49-F238E27FC236}">
                          <a16:creationId xmlns:a16="http://schemas.microsoft.com/office/drawing/2014/main" id="{0B5C10C0-F1F8-3C71-601F-275475C7D0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94170" y="2602706"/>
                      <a:ext cx="178162" cy="130969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  <p:sp>
                  <p:nvSpPr>
                    <p:cNvPr id="195" name="자유형: 도형 194">
                      <a:extLst>
                        <a:ext uri="{FF2B5EF4-FFF2-40B4-BE49-F238E27FC236}">
                          <a16:creationId xmlns:a16="http://schemas.microsoft.com/office/drawing/2014/main" id="{FD5D5EFD-9EFB-FF38-3030-4E69F7F8ECD3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483494" y="3908189"/>
                      <a:ext cx="178162" cy="114000"/>
                    </a:xfrm>
                    <a:custGeom>
                      <a:avLst/>
                      <a:gdLst>
                        <a:gd name="connsiteX0" fmla="*/ 185737 w 185737"/>
                        <a:gd name="connsiteY0" fmla="*/ 135732 h 135732"/>
                        <a:gd name="connsiteX1" fmla="*/ 61912 w 185737"/>
                        <a:gd name="connsiteY1" fmla="*/ 0 h 135732"/>
                        <a:gd name="connsiteX2" fmla="*/ 0 w 185737"/>
                        <a:gd name="connsiteY2" fmla="*/ 50007 h 135732"/>
                        <a:gd name="connsiteX3" fmla="*/ 33337 w 185737"/>
                        <a:gd name="connsiteY3" fmla="*/ 85725 h 135732"/>
                        <a:gd name="connsiteX4" fmla="*/ 185737 w 185737"/>
                        <a:gd name="connsiteY4" fmla="*/ 135732 h 135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5737" h="135732">
                          <a:moveTo>
                            <a:pt x="185737" y="135732"/>
                          </a:moveTo>
                          <a:lnTo>
                            <a:pt x="61912" y="0"/>
                          </a:lnTo>
                          <a:lnTo>
                            <a:pt x="0" y="50007"/>
                          </a:lnTo>
                          <a:lnTo>
                            <a:pt x="33337" y="85725"/>
                          </a:lnTo>
                          <a:lnTo>
                            <a:pt x="185737" y="1357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200"/>
                    </a:p>
                  </p:txBody>
                </p:sp>
              </p:grpSp>
              <p:sp>
                <p:nvSpPr>
                  <p:cNvPr id="189" name="타원 188">
                    <a:extLst>
                      <a:ext uri="{FF2B5EF4-FFF2-40B4-BE49-F238E27FC236}">
                        <a16:creationId xmlns:a16="http://schemas.microsoft.com/office/drawing/2014/main" id="{85E1C153-E857-9BAC-DCA6-E9FC8E8AC3C9}"/>
                      </a:ext>
                    </a:extLst>
                  </p:cNvPr>
                  <p:cNvSpPr/>
                  <p:nvPr/>
                </p:nvSpPr>
                <p:spPr>
                  <a:xfrm>
                    <a:off x="9333005" y="2811436"/>
                    <a:ext cx="148043" cy="14804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  <p:sp>
                <p:nvSpPr>
                  <p:cNvPr id="190" name="타원 189">
                    <a:extLst>
                      <a:ext uri="{FF2B5EF4-FFF2-40B4-BE49-F238E27FC236}">
                        <a16:creationId xmlns:a16="http://schemas.microsoft.com/office/drawing/2014/main" id="{789612EC-319F-F7CB-24C4-29DFD77668AA}"/>
                      </a:ext>
                    </a:extLst>
                  </p:cNvPr>
                  <p:cNvSpPr/>
                  <p:nvPr/>
                </p:nvSpPr>
                <p:spPr>
                  <a:xfrm>
                    <a:off x="9310261" y="3685512"/>
                    <a:ext cx="148043" cy="14804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  <p:sp>
                <p:nvSpPr>
                  <p:cNvPr id="191" name="타원 190">
                    <a:extLst>
                      <a:ext uri="{FF2B5EF4-FFF2-40B4-BE49-F238E27FC236}">
                        <a16:creationId xmlns:a16="http://schemas.microsoft.com/office/drawing/2014/main" id="{18FA5B22-A7C1-D9CD-F04C-7B01594F091D}"/>
                      </a:ext>
                    </a:extLst>
                  </p:cNvPr>
                  <p:cNvSpPr/>
                  <p:nvPr/>
                </p:nvSpPr>
                <p:spPr>
                  <a:xfrm>
                    <a:off x="10206665" y="3679294"/>
                    <a:ext cx="148043" cy="14804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  <p:sp>
                <p:nvSpPr>
                  <p:cNvPr id="192" name="타원 191">
                    <a:extLst>
                      <a:ext uri="{FF2B5EF4-FFF2-40B4-BE49-F238E27FC236}">
                        <a16:creationId xmlns:a16="http://schemas.microsoft.com/office/drawing/2014/main" id="{6AABCC46-EFE9-C0F1-209C-7EE498B10888}"/>
                      </a:ext>
                    </a:extLst>
                  </p:cNvPr>
                  <p:cNvSpPr/>
                  <p:nvPr/>
                </p:nvSpPr>
                <p:spPr>
                  <a:xfrm>
                    <a:off x="10206665" y="2808963"/>
                    <a:ext cx="148043" cy="14804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200"/>
                  </a:p>
                </p:txBody>
              </p:sp>
            </p:grpSp>
          </p:grp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AEC28C9B-7206-69EE-646E-D16BFD0D87EE}"/>
                </a:ext>
              </a:extLst>
            </p:cNvPr>
            <p:cNvSpPr txBox="1"/>
            <p:nvPr/>
          </p:nvSpPr>
          <p:spPr>
            <a:xfrm>
              <a:off x="533400" y="4409977"/>
              <a:ext cx="223721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&lt;</a:t>
              </a:r>
              <a:r>
                <a: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전체 감자 모터 제작</a:t>
              </a:r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&gt;</a:t>
              </a:r>
              <a:endParaRPr lang="ko-KR" altLang="en-US" sz="800" dirty="0">
                <a:solidFill>
                  <a:schemeClr val="tx2">
                    <a:lumMod val="7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13EDA1C2-2535-DA3F-30D0-CDCE476F0C66}"/>
              </a:ext>
            </a:extLst>
          </p:cNvPr>
          <p:cNvGrpSpPr/>
          <p:nvPr/>
        </p:nvGrpSpPr>
        <p:grpSpPr>
          <a:xfrm>
            <a:off x="5945812" y="4211655"/>
            <a:ext cx="2588588" cy="1929768"/>
            <a:chOff x="6084985" y="3958926"/>
            <a:chExt cx="2588588" cy="1929768"/>
          </a:xfrm>
        </p:grpSpPr>
        <p:pic>
          <p:nvPicPr>
            <p:cNvPr id="92" name="Picture 8">
              <a:extLst>
                <a:ext uri="{FF2B5EF4-FFF2-40B4-BE49-F238E27FC236}">
                  <a16:creationId xmlns:a16="http://schemas.microsoft.com/office/drawing/2014/main" id="{6A584ABB-81DA-FAA0-EBF6-F0E35DD2B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4985" y="3958926"/>
              <a:ext cx="2588588" cy="1688823"/>
            </a:xfrm>
            <a:prstGeom prst="rect">
              <a:avLst/>
            </a:prstGeom>
          </p:spPr>
        </p:pic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861C7D9B-DDD9-E257-7FDA-B491FF5C5255}"/>
                </a:ext>
              </a:extLst>
            </p:cNvPr>
            <p:cNvSpPr txBox="1"/>
            <p:nvPr/>
          </p:nvSpPr>
          <p:spPr>
            <a:xfrm>
              <a:off x="6260673" y="5673250"/>
              <a:ext cx="223721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&lt;Experimental</a:t>
              </a:r>
              <a:r>
                <a: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</a:t>
              </a:r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setup&gt;</a:t>
              </a:r>
              <a:endParaRPr lang="ko-KR" altLang="en-US" sz="800" dirty="0">
                <a:solidFill>
                  <a:schemeClr val="tx2">
                    <a:lumMod val="7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sp>
        <p:nvSpPr>
          <p:cNvPr id="264" name="TextBox 263">
            <a:extLst>
              <a:ext uri="{FF2B5EF4-FFF2-40B4-BE49-F238E27FC236}">
                <a16:creationId xmlns:a16="http://schemas.microsoft.com/office/drawing/2014/main" id="{B8F9C0FC-5D96-B188-E623-8B6EF20C7511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7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EBEF6A12-C472-73C9-6800-B5E92B013680}"/>
              </a:ext>
            </a:extLst>
          </p:cNvPr>
          <p:cNvGrpSpPr/>
          <p:nvPr/>
        </p:nvGrpSpPr>
        <p:grpSpPr>
          <a:xfrm>
            <a:off x="448637" y="1370284"/>
            <a:ext cx="8425173" cy="603378"/>
            <a:chOff x="490227" y="1369897"/>
            <a:chExt cx="8425173" cy="603378"/>
          </a:xfrm>
        </p:grpSpPr>
        <p:pic>
          <p:nvPicPr>
            <p:cNvPr id="266" name="object 23">
              <a:extLst>
                <a:ext uri="{FF2B5EF4-FFF2-40B4-BE49-F238E27FC236}">
                  <a16:creationId xmlns:a16="http://schemas.microsoft.com/office/drawing/2014/main" id="{C9271736-6E31-28E0-102B-B1494EA7E14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8231" y="1382692"/>
              <a:ext cx="496968" cy="493774"/>
            </a:xfrm>
            <a:prstGeom prst="rect">
              <a:avLst/>
            </a:prstGeom>
          </p:spPr>
        </p:pic>
        <p:sp>
          <p:nvSpPr>
            <p:cNvPr id="267" name="직사각형 266">
              <a:extLst>
                <a:ext uri="{FF2B5EF4-FFF2-40B4-BE49-F238E27FC236}">
                  <a16:creationId xmlns:a16="http://schemas.microsoft.com/office/drawing/2014/main" id="{B06C3DB4-5EE0-DE2C-BD4C-345CEF39A7A9}"/>
                </a:ext>
              </a:extLst>
            </p:cNvPr>
            <p:cNvSpPr/>
            <p:nvPr/>
          </p:nvSpPr>
          <p:spPr>
            <a:xfrm>
              <a:off x="490227" y="1369897"/>
              <a:ext cx="657336" cy="56042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B519830F-CC32-0922-013F-48E75EB6E0C3}"/>
                </a:ext>
              </a:extLst>
            </p:cNvPr>
            <p:cNvSpPr/>
            <p:nvPr/>
          </p:nvSpPr>
          <p:spPr>
            <a:xfrm>
              <a:off x="6946894" y="1373072"/>
              <a:ext cx="770005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9" name="object 23">
              <a:extLst>
                <a:ext uri="{FF2B5EF4-FFF2-40B4-BE49-F238E27FC236}">
                  <a16:creationId xmlns:a16="http://schemas.microsoft.com/office/drawing/2014/main" id="{ABFBE969-6850-23DD-E2EC-1FA55CAD6D9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8402" y="1397053"/>
              <a:ext cx="496968" cy="493774"/>
            </a:xfrm>
            <a:prstGeom prst="rect">
              <a:avLst/>
            </a:prstGeom>
          </p:spPr>
        </p:pic>
        <p:pic>
          <p:nvPicPr>
            <p:cNvPr id="270" name="object 23">
              <a:extLst>
                <a:ext uri="{FF2B5EF4-FFF2-40B4-BE49-F238E27FC236}">
                  <a16:creationId xmlns:a16="http://schemas.microsoft.com/office/drawing/2014/main" id="{5E28EF10-6FEE-8E75-1108-33E08DFEAE9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3774" y="1397053"/>
              <a:ext cx="496968" cy="493774"/>
            </a:xfrm>
            <a:prstGeom prst="rect">
              <a:avLst/>
            </a:prstGeom>
          </p:spPr>
        </p:pic>
        <p:sp>
          <p:nvSpPr>
            <p:cNvPr id="271" name="object 39">
              <a:extLst>
                <a:ext uri="{FF2B5EF4-FFF2-40B4-BE49-F238E27FC236}">
                  <a16:creationId xmlns:a16="http://schemas.microsoft.com/office/drawing/2014/main" id="{2643DEA3-AACE-F553-F77D-F6CD7B21B1B1}"/>
                </a:ext>
              </a:extLst>
            </p:cNvPr>
            <p:cNvSpPr txBox="1"/>
            <p:nvPr/>
          </p:nvSpPr>
          <p:spPr>
            <a:xfrm>
              <a:off x="514789" y="1465444"/>
              <a:ext cx="623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분석</a:t>
              </a:r>
              <a:endParaRPr lang="en-US" altLang="ko-KR" sz="900" dirty="0"/>
            </a:p>
          </p:txBody>
        </p:sp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9B0394C7-A63B-BC99-4E42-A89AFB633C77}"/>
                </a:ext>
              </a:extLst>
            </p:cNvPr>
            <p:cNvSpPr/>
            <p:nvPr/>
          </p:nvSpPr>
          <p:spPr>
            <a:xfrm>
              <a:off x="1732742" y="1369897"/>
              <a:ext cx="2029554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3" name="object 39">
              <a:extLst>
                <a:ext uri="{FF2B5EF4-FFF2-40B4-BE49-F238E27FC236}">
                  <a16:creationId xmlns:a16="http://schemas.microsoft.com/office/drawing/2014/main" id="{40796DFF-445E-C7D6-F03E-75D3250761A2}"/>
                </a:ext>
              </a:extLst>
            </p:cNvPr>
            <p:cNvSpPr txBox="1"/>
            <p:nvPr/>
          </p:nvSpPr>
          <p:spPr>
            <a:xfrm>
              <a:off x="1688110" y="1465444"/>
              <a:ext cx="21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모터 및 인버터 제어 시뮬레이션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(Ansys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Maxwell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&amp;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MATLAB Simulink)</a:t>
              </a:r>
              <a:endParaRPr lang="ko-KR" altLang="en-US" sz="900" dirty="0"/>
            </a:p>
          </p:txBody>
        </p:sp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B49F9745-81BA-3EDE-D04A-12C1834B228E}"/>
                </a:ext>
              </a:extLst>
            </p:cNvPr>
            <p:cNvSpPr/>
            <p:nvPr/>
          </p:nvSpPr>
          <p:spPr>
            <a:xfrm>
              <a:off x="4354574" y="1369897"/>
              <a:ext cx="2044674" cy="56042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object 39">
              <a:extLst>
                <a:ext uri="{FF2B5EF4-FFF2-40B4-BE49-F238E27FC236}">
                  <a16:creationId xmlns:a16="http://schemas.microsoft.com/office/drawing/2014/main" id="{2D4F978E-52B6-9915-2F8F-18DF68CC7AA3}"/>
                </a:ext>
              </a:extLst>
            </p:cNvPr>
            <p:cNvSpPr txBox="1"/>
            <p:nvPr/>
          </p:nvSpPr>
          <p:spPr>
            <a:xfrm>
              <a:off x="4371365" y="1465444"/>
              <a:ext cx="2027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실험적 검증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</a:t>
              </a:r>
              <a:r>
                <a:rPr lang="ko-KR" altLang="en-US" sz="900" dirty="0"/>
                <a:t>정상 및 고장모터 제작</a:t>
              </a:r>
              <a:r>
                <a:rPr lang="en-US" altLang="ko-KR" sz="900" dirty="0"/>
                <a:t>/</a:t>
              </a:r>
              <a:r>
                <a:rPr lang="ko-KR" altLang="en-US" sz="900" dirty="0" err="1"/>
                <a:t>다이나모</a:t>
              </a:r>
              <a:r>
                <a:rPr lang="ko-KR" altLang="en-US" sz="900" dirty="0"/>
                <a:t> 테스트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276" name="object 39">
              <a:extLst>
                <a:ext uri="{FF2B5EF4-FFF2-40B4-BE49-F238E27FC236}">
                  <a16:creationId xmlns:a16="http://schemas.microsoft.com/office/drawing/2014/main" id="{F84CC5C7-FF6E-877D-1D2B-F678ABA749F7}"/>
                </a:ext>
              </a:extLst>
            </p:cNvPr>
            <p:cNvSpPr txBox="1"/>
            <p:nvPr/>
          </p:nvSpPr>
          <p:spPr>
            <a:xfrm>
              <a:off x="6975469" y="1468619"/>
              <a:ext cx="712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검증 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결과</a:t>
              </a:r>
              <a:r>
                <a:rPr lang="en-US" altLang="ko-KR" sz="900" dirty="0"/>
                <a:t>)</a:t>
              </a:r>
            </a:p>
          </p:txBody>
        </p:sp>
        <p:pic>
          <p:nvPicPr>
            <p:cNvPr id="277" name="object 23">
              <a:extLst>
                <a:ext uri="{FF2B5EF4-FFF2-40B4-BE49-F238E27FC236}">
                  <a16:creationId xmlns:a16="http://schemas.microsoft.com/office/drawing/2014/main" id="{07A4AF29-326C-6BBF-AD6C-661B32F4A44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1626" y="1393878"/>
              <a:ext cx="496968" cy="493774"/>
            </a:xfrm>
            <a:prstGeom prst="rect">
              <a:avLst/>
            </a:prstGeom>
          </p:spPr>
        </p:pic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7F151A26-BB52-448E-529D-338CE7ABA226}"/>
                </a:ext>
              </a:extLst>
            </p:cNvPr>
            <p:cNvGrpSpPr/>
            <p:nvPr/>
          </p:nvGrpSpPr>
          <p:grpSpPr>
            <a:xfrm>
              <a:off x="8202545" y="1369897"/>
              <a:ext cx="712855" cy="603378"/>
              <a:chOff x="8836721" y="1369897"/>
              <a:chExt cx="712855" cy="603378"/>
            </a:xfrm>
          </p:grpSpPr>
          <p:sp>
            <p:nvSpPr>
              <p:cNvPr id="279" name="직사각형 278">
                <a:extLst>
                  <a:ext uri="{FF2B5EF4-FFF2-40B4-BE49-F238E27FC236}">
                    <a16:creationId xmlns:a16="http://schemas.microsoft.com/office/drawing/2014/main" id="{9ADDEE3C-833D-5157-C2BA-24F84614CCA5}"/>
                  </a:ext>
                </a:extLst>
              </p:cNvPr>
              <p:cNvSpPr/>
              <p:nvPr/>
            </p:nvSpPr>
            <p:spPr>
              <a:xfrm>
                <a:off x="8887190" y="1369897"/>
                <a:ext cx="611918" cy="560426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" name="object 39">
                <a:extLst>
                  <a:ext uri="{FF2B5EF4-FFF2-40B4-BE49-F238E27FC236}">
                    <a16:creationId xmlns:a16="http://schemas.microsoft.com/office/drawing/2014/main" id="{6A2CE8D3-8103-1803-236A-3EB68A5806AA}"/>
                  </a:ext>
                </a:extLst>
              </p:cNvPr>
              <p:cNvSpPr txBox="1"/>
              <p:nvPr/>
            </p:nvSpPr>
            <p:spPr>
              <a:xfrm>
                <a:off x="8836721" y="1465444"/>
                <a:ext cx="712855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0"/>
                </a:defPPr>
                <a:lvl1pPr>
                  <a:defRPr>
                    <a:latin typeface="현대하모니 M" panose="02020603020101020101" pitchFamily="18" charset="-127"/>
                    <a:ea typeface="현대하모니 M" panose="02020603020101020101" pitchFamily="18" charset="-127"/>
                  </a:defRPr>
                </a:lvl1pPr>
              </a:lstStyle>
              <a:p>
                <a:pPr algn="ctr"/>
                <a:r>
                  <a:rPr lang="ko-KR" altLang="en-US" sz="900" dirty="0"/>
                  <a:t>시뮬레이션 모델 개선</a:t>
                </a:r>
                <a:endParaRPr lang="en-US" altLang="ko-KR" sz="900" dirty="0"/>
              </a:p>
              <a:p>
                <a:pPr algn="ctr"/>
                <a:endParaRPr lang="en-US" altLang="ko-KR" sz="900" dirty="0"/>
              </a:p>
            </p:txBody>
          </p:sp>
        </p:grp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FE9FBCC1-D07B-8FE8-0E27-EBAAB65E3585}"/>
              </a:ext>
            </a:extLst>
          </p:cNvPr>
          <p:cNvGrpSpPr/>
          <p:nvPr/>
        </p:nvGrpSpPr>
        <p:grpSpPr>
          <a:xfrm>
            <a:off x="470427" y="4760038"/>
            <a:ext cx="2223679" cy="1249306"/>
            <a:chOff x="470427" y="4705864"/>
            <a:chExt cx="2223679" cy="1249306"/>
          </a:xfrm>
        </p:grpSpPr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6EACDB34-5096-0889-8D3F-35BA8421B3AD}"/>
                </a:ext>
              </a:extLst>
            </p:cNvPr>
            <p:cNvGrpSpPr/>
            <p:nvPr/>
          </p:nvGrpSpPr>
          <p:grpSpPr>
            <a:xfrm>
              <a:off x="470427" y="4970152"/>
              <a:ext cx="2223679" cy="985018"/>
              <a:chOff x="572546" y="4901445"/>
              <a:chExt cx="2237212" cy="991012"/>
            </a:xfrm>
          </p:grpSpPr>
          <p:pic>
            <p:nvPicPr>
              <p:cNvPr id="251" name="그림 250">
                <a:extLst>
                  <a:ext uri="{FF2B5EF4-FFF2-40B4-BE49-F238E27FC236}">
                    <a16:creationId xmlns:a16="http://schemas.microsoft.com/office/drawing/2014/main" id="{1318AA21-B154-1B18-C5E0-1A1438B5BF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7213" y="4901445"/>
                <a:ext cx="2147879" cy="769228"/>
              </a:xfrm>
              <a:prstGeom prst="rect">
                <a:avLst/>
              </a:prstGeom>
            </p:spPr>
          </p:pic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B0CF342E-4F49-2A7D-200A-8B82AD5DC326}"/>
                  </a:ext>
                </a:extLst>
              </p:cNvPr>
              <p:cNvSpPr txBox="1"/>
              <p:nvPr/>
            </p:nvSpPr>
            <p:spPr>
              <a:xfrm>
                <a:off x="572546" y="5677013"/>
                <a:ext cx="223721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&lt;</a:t>
                </a:r>
                <a:r>
                  <a:rPr lang="ko-KR" altLang="en-US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정적 </a:t>
                </a:r>
                <a:r>
                  <a:rPr lang="en-US" altLang="ko-KR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&amp;</a:t>
                </a:r>
                <a:r>
                  <a:rPr lang="ko-KR" altLang="en-US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동적 편심 고장 모터 제작</a:t>
                </a:r>
                <a:r>
                  <a:rPr lang="en-US" altLang="ko-KR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&gt;</a:t>
                </a:r>
                <a:endPara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986D73-42CE-DA10-DA14-E66A6BBDE34B}"/>
                </a:ext>
              </a:extLst>
            </p:cNvPr>
            <p:cNvSpPr txBox="1"/>
            <p:nvPr/>
          </p:nvSpPr>
          <p:spPr>
            <a:xfrm>
              <a:off x="514824" y="4705864"/>
              <a:ext cx="5911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현대하모니 B" panose="02020603020101020101" pitchFamily="18" charset="-127"/>
                  <a:ea typeface="현대하모니 B" panose="02020603020101020101" pitchFamily="18" charset="-127"/>
                </a:rPr>
                <a:t>하우징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E0ACE6-C447-6B0E-FFC1-1FF13F60A03C}"/>
                </a:ext>
              </a:extLst>
            </p:cNvPr>
            <p:cNvSpPr txBox="1"/>
            <p:nvPr/>
          </p:nvSpPr>
          <p:spPr>
            <a:xfrm>
              <a:off x="1507405" y="4705864"/>
              <a:ext cx="87173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 err="1">
                  <a:latin typeface="현대하모니 B" panose="02020603020101020101" pitchFamily="18" charset="-127"/>
                  <a:ea typeface="현대하모니 B" panose="02020603020101020101" pitchFamily="18" charset="-127"/>
                </a:rPr>
                <a:t>로터</a:t>
              </a:r>
              <a:r>
                <a:rPr lang="ko-KR" altLang="en-US" sz="1000" dirty="0">
                  <a:latin typeface="현대하모니 B" panose="02020603020101020101" pitchFamily="18" charset="-127"/>
                  <a:ea typeface="현대하모니 B" panose="02020603020101020101" pitchFamily="18" charset="-127"/>
                </a:rPr>
                <a:t> 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3573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207" y="121412"/>
            <a:ext cx="32636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주요 연구 수행 이력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84CA8B8-A6D5-4663-D3F8-A2D08708E36B}"/>
              </a:ext>
            </a:extLst>
          </p:cNvPr>
          <p:cNvGrpSpPr/>
          <p:nvPr/>
        </p:nvGrpSpPr>
        <p:grpSpPr>
          <a:xfrm>
            <a:off x="448637" y="1370284"/>
            <a:ext cx="8425173" cy="563601"/>
            <a:chOff x="490227" y="1369897"/>
            <a:chExt cx="8425173" cy="563601"/>
          </a:xfrm>
        </p:grpSpPr>
        <p:pic>
          <p:nvPicPr>
            <p:cNvPr id="7" name="object 23">
              <a:extLst>
                <a:ext uri="{FF2B5EF4-FFF2-40B4-BE49-F238E27FC236}">
                  <a16:creationId xmlns:a16="http://schemas.microsoft.com/office/drawing/2014/main" id="{9CD83050-4693-946D-D3DA-3CA31C3DAC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231" y="1382692"/>
              <a:ext cx="496968" cy="49377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3B0C695-5E14-6657-F9A7-4D436F4E9C85}"/>
                </a:ext>
              </a:extLst>
            </p:cNvPr>
            <p:cNvSpPr/>
            <p:nvPr/>
          </p:nvSpPr>
          <p:spPr>
            <a:xfrm>
              <a:off x="490227" y="1369897"/>
              <a:ext cx="657336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8A9E3CE-84FE-52CC-63A1-2D1B855CEC9E}"/>
                </a:ext>
              </a:extLst>
            </p:cNvPr>
            <p:cNvSpPr/>
            <p:nvPr/>
          </p:nvSpPr>
          <p:spPr>
            <a:xfrm>
              <a:off x="6946894" y="1373072"/>
              <a:ext cx="770005" cy="56042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object 23">
              <a:extLst>
                <a:ext uri="{FF2B5EF4-FFF2-40B4-BE49-F238E27FC236}">
                  <a16:creationId xmlns:a16="http://schemas.microsoft.com/office/drawing/2014/main" id="{269FACAC-EDEF-0264-1079-A5A052B0E65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8402" y="1397053"/>
              <a:ext cx="496968" cy="493774"/>
            </a:xfrm>
            <a:prstGeom prst="rect">
              <a:avLst/>
            </a:prstGeom>
          </p:spPr>
        </p:pic>
        <p:pic>
          <p:nvPicPr>
            <p:cNvPr id="11" name="object 23">
              <a:extLst>
                <a:ext uri="{FF2B5EF4-FFF2-40B4-BE49-F238E27FC236}">
                  <a16:creationId xmlns:a16="http://schemas.microsoft.com/office/drawing/2014/main" id="{FD904FCE-FC09-B12E-0027-08F17B24481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3774" y="1397053"/>
              <a:ext cx="496968" cy="493774"/>
            </a:xfrm>
            <a:prstGeom prst="rect">
              <a:avLst/>
            </a:prstGeom>
          </p:spPr>
        </p:pic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1FD9264F-AC54-F3B7-BF9A-B7A398939962}"/>
                </a:ext>
              </a:extLst>
            </p:cNvPr>
            <p:cNvSpPr txBox="1"/>
            <p:nvPr/>
          </p:nvSpPr>
          <p:spPr>
            <a:xfrm>
              <a:off x="514789" y="1465444"/>
              <a:ext cx="623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분석</a:t>
              </a:r>
              <a:endParaRPr lang="en-US" altLang="ko-KR" sz="9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57E6A31-DF70-9D14-04E1-19339A8F0619}"/>
                </a:ext>
              </a:extLst>
            </p:cNvPr>
            <p:cNvSpPr/>
            <p:nvPr/>
          </p:nvSpPr>
          <p:spPr>
            <a:xfrm>
              <a:off x="1732742" y="1369897"/>
              <a:ext cx="2029554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bject 39">
              <a:extLst>
                <a:ext uri="{FF2B5EF4-FFF2-40B4-BE49-F238E27FC236}">
                  <a16:creationId xmlns:a16="http://schemas.microsoft.com/office/drawing/2014/main" id="{58323726-A7D0-3C73-809F-2207CE0BD220}"/>
                </a:ext>
              </a:extLst>
            </p:cNvPr>
            <p:cNvSpPr txBox="1"/>
            <p:nvPr/>
          </p:nvSpPr>
          <p:spPr>
            <a:xfrm>
              <a:off x="1688110" y="1465444"/>
              <a:ext cx="21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모터 및 인버터 제어 시뮬레이션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(Ansys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Maxwell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&amp;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MATLAB Simulink)</a:t>
              </a:r>
              <a:endParaRPr lang="ko-KR" altLang="en-US" sz="9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F78FF90-1040-DD36-DA9E-DF2846AB3C86}"/>
                </a:ext>
              </a:extLst>
            </p:cNvPr>
            <p:cNvSpPr/>
            <p:nvPr/>
          </p:nvSpPr>
          <p:spPr>
            <a:xfrm>
              <a:off x="4354574" y="1369897"/>
              <a:ext cx="2044674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bject 39">
              <a:extLst>
                <a:ext uri="{FF2B5EF4-FFF2-40B4-BE49-F238E27FC236}">
                  <a16:creationId xmlns:a16="http://schemas.microsoft.com/office/drawing/2014/main" id="{18523173-44F4-C6D8-5F21-BFD4AB24F050}"/>
                </a:ext>
              </a:extLst>
            </p:cNvPr>
            <p:cNvSpPr txBox="1"/>
            <p:nvPr/>
          </p:nvSpPr>
          <p:spPr>
            <a:xfrm>
              <a:off x="4371365" y="1465444"/>
              <a:ext cx="2027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실험적 검증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</a:t>
              </a:r>
              <a:r>
                <a:rPr lang="ko-KR" altLang="en-US" sz="900" dirty="0"/>
                <a:t>정상 및 고장모터 제작</a:t>
              </a:r>
              <a:r>
                <a:rPr lang="en-US" altLang="ko-KR" sz="900" dirty="0"/>
                <a:t>/</a:t>
              </a:r>
              <a:r>
                <a:rPr lang="ko-KR" altLang="en-US" sz="900" dirty="0" err="1"/>
                <a:t>다이나모</a:t>
              </a:r>
              <a:r>
                <a:rPr lang="ko-KR" altLang="en-US" sz="900" dirty="0"/>
                <a:t> 테스트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3411652F-D9A0-2FB5-2F33-D38591E077C9}"/>
                </a:ext>
              </a:extLst>
            </p:cNvPr>
            <p:cNvSpPr txBox="1"/>
            <p:nvPr/>
          </p:nvSpPr>
          <p:spPr>
            <a:xfrm>
              <a:off x="6975469" y="1468619"/>
              <a:ext cx="712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검증 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결과</a:t>
              </a:r>
              <a:r>
                <a:rPr lang="en-US" altLang="ko-KR" sz="900" dirty="0"/>
                <a:t>)</a:t>
              </a:r>
            </a:p>
          </p:txBody>
        </p:sp>
        <p:pic>
          <p:nvPicPr>
            <p:cNvPr id="18" name="object 23">
              <a:extLst>
                <a:ext uri="{FF2B5EF4-FFF2-40B4-BE49-F238E27FC236}">
                  <a16:creationId xmlns:a16="http://schemas.microsoft.com/office/drawing/2014/main" id="{FBCE38B3-643D-0445-99CF-7606B78B32E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1626" y="1393878"/>
              <a:ext cx="496968" cy="493774"/>
            </a:xfrm>
            <a:prstGeom prst="rect">
              <a:avLst/>
            </a:prstGeom>
          </p:spPr>
        </p:pic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4EBBFBD-3128-41F2-39D7-86D82D3CC932}"/>
                </a:ext>
              </a:extLst>
            </p:cNvPr>
            <p:cNvGrpSpPr/>
            <p:nvPr/>
          </p:nvGrpSpPr>
          <p:grpSpPr>
            <a:xfrm>
              <a:off x="8202545" y="1369897"/>
              <a:ext cx="712855" cy="560426"/>
              <a:chOff x="8836721" y="1369897"/>
              <a:chExt cx="712855" cy="56042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467FAA4B-A522-B81C-028F-3D60849EF349}"/>
                  </a:ext>
                </a:extLst>
              </p:cNvPr>
              <p:cNvSpPr/>
              <p:nvPr/>
            </p:nvSpPr>
            <p:spPr>
              <a:xfrm>
                <a:off x="8887190" y="1369897"/>
                <a:ext cx="611918" cy="560426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object 39">
                <a:extLst>
                  <a:ext uri="{FF2B5EF4-FFF2-40B4-BE49-F238E27FC236}">
                    <a16:creationId xmlns:a16="http://schemas.microsoft.com/office/drawing/2014/main" id="{AC7A6FE4-3E23-1227-251F-206C66530BF2}"/>
                  </a:ext>
                </a:extLst>
              </p:cNvPr>
              <p:cNvSpPr txBox="1"/>
              <p:nvPr/>
            </p:nvSpPr>
            <p:spPr>
              <a:xfrm>
                <a:off x="8836721" y="1465444"/>
                <a:ext cx="7128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0"/>
                </a:defPPr>
                <a:lvl1pPr>
                  <a:defRPr>
                    <a:latin typeface="현대하모니 M" panose="02020603020101020101" pitchFamily="18" charset="-127"/>
                    <a:ea typeface="현대하모니 M" panose="02020603020101020101" pitchFamily="18" charset="-127"/>
                  </a:defRPr>
                </a:lvl1pPr>
              </a:lstStyle>
              <a:p>
                <a:pPr algn="ctr"/>
                <a:r>
                  <a:rPr lang="ko-KR" altLang="en-US" sz="900" dirty="0"/>
                  <a:t>시뮬레이션 모델 개선</a:t>
                </a:r>
                <a:endParaRPr lang="en-US" altLang="ko-KR" sz="900" dirty="0"/>
              </a:p>
            </p:txBody>
          </p:sp>
        </p:grpSp>
      </p:grpSp>
      <p:sp>
        <p:nvSpPr>
          <p:cNvPr id="22" name="object 28">
            <a:extLst>
              <a:ext uri="{FF2B5EF4-FFF2-40B4-BE49-F238E27FC236}">
                <a16:creationId xmlns:a16="http://schemas.microsoft.com/office/drawing/2014/main" id="{467A5A3F-ABD4-5D6C-45EE-E558CE861EDE}"/>
              </a:ext>
            </a:extLst>
          </p:cNvPr>
          <p:cNvSpPr txBox="1"/>
          <p:nvPr/>
        </p:nvSpPr>
        <p:spPr>
          <a:xfrm>
            <a:off x="340562" y="840485"/>
            <a:ext cx="476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>
                <a:solidFill>
                  <a:srgbClr val="001F5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rPr lang="en-US"/>
              <a:t>PMSM</a:t>
            </a:r>
            <a:r>
              <a:rPr lang="ko-KR" altLang="en-US" dirty="0"/>
              <a:t> 고장진단</a:t>
            </a:r>
            <a:endParaRPr dirty="0"/>
          </a:p>
        </p:txBody>
      </p:sp>
      <p:sp>
        <p:nvSpPr>
          <p:cNvPr id="4" name="object 39">
            <a:extLst>
              <a:ext uri="{FF2B5EF4-FFF2-40B4-BE49-F238E27FC236}">
                <a16:creationId xmlns:a16="http://schemas.microsoft.com/office/drawing/2014/main" id="{A0686DC1-D209-9307-2B60-D4D9DDF21B48}"/>
              </a:ext>
            </a:extLst>
          </p:cNvPr>
          <p:cNvSpPr txBox="1"/>
          <p:nvPr/>
        </p:nvSpPr>
        <p:spPr>
          <a:xfrm>
            <a:off x="363774" y="2022148"/>
            <a:ext cx="4055826" cy="36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4) </a:t>
            </a:r>
            <a:r>
              <a:rPr lang="ko-KR" altLang="en-US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고장신호 검증</a:t>
            </a:r>
            <a:endParaRPr lang="en-US" altLang="ko-KR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8C1BF50-53D7-7809-C8C5-A2DFFC4BD036}"/>
              </a:ext>
            </a:extLst>
          </p:cNvPr>
          <p:cNvSpPr/>
          <p:nvPr/>
        </p:nvSpPr>
        <p:spPr>
          <a:xfrm>
            <a:off x="4626956" y="2804357"/>
            <a:ext cx="4188913" cy="3785066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5C1EC1D-361B-9680-77C4-3F2D51FF6F90}"/>
              </a:ext>
            </a:extLst>
          </p:cNvPr>
          <p:cNvGrpSpPr/>
          <p:nvPr/>
        </p:nvGrpSpPr>
        <p:grpSpPr>
          <a:xfrm>
            <a:off x="4646572" y="2440598"/>
            <a:ext cx="2044674" cy="363759"/>
            <a:chOff x="1922490" y="5401525"/>
            <a:chExt cx="2044674" cy="363759"/>
          </a:xfrm>
        </p:grpSpPr>
        <p:sp>
          <p:nvSpPr>
            <p:cNvPr id="27" name="object 91">
              <a:extLst>
                <a:ext uri="{FF2B5EF4-FFF2-40B4-BE49-F238E27FC236}">
                  <a16:creationId xmlns:a16="http://schemas.microsoft.com/office/drawing/2014/main" id="{9BD9AE89-9F0F-5DE2-E0F5-86D7D994933D}"/>
                </a:ext>
              </a:extLst>
            </p:cNvPr>
            <p:cNvSpPr/>
            <p:nvPr/>
          </p:nvSpPr>
          <p:spPr>
            <a:xfrm>
              <a:off x="1922492" y="5401525"/>
              <a:ext cx="2027884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92">
              <a:extLst>
                <a:ext uri="{FF2B5EF4-FFF2-40B4-BE49-F238E27FC236}">
                  <a16:creationId xmlns:a16="http://schemas.microsoft.com/office/drawing/2014/main" id="{D02BB7F7-4118-FAED-EFC7-4BB30FDE907F}"/>
                </a:ext>
              </a:extLst>
            </p:cNvPr>
            <p:cNvSpPr txBox="1"/>
            <p:nvPr/>
          </p:nvSpPr>
          <p:spPr>
            <a:xfrm>
              <a:off x="1922490" y="5414127"/>
              <a:ext cx="20446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2. </a:t>
              </a:r>
              <a:r>
                <a:rPr lang="ko-KR" altLang="en-US" sz="1600" dirty="0">
                  <a:solidFill>
                    <a:schemeClr val="bg1"/>
                  </a:solidFill>
                </a:rPr>
                <a:t>전류 크기 비교 분석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5" name="object 39">
            <a:extLst>
              <a:ext uri="{FF2B5EF4-FFF2-40B4-BE49-F238E27FC236}">
                <a16:creationId xmlns:a16="http://schemas.microsoft.com/office/drawing/2014/main" id="{C5B47E51-738D-A2E8-ABD2-ADDB0C3219DB}"/>
              </a:ext>
            </a:extLst>
          </p:cNvPr>
          <p:cNvSpPr txBox="1"/>
          <p:nvPr/>
        </p:nvSpPr>
        <p:spPr>
          <a:xfrm>
            <a:off x="4850850" y="2808926"/>
            <a:ext cx="1928425" cy="297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시뮬레이션과 실험 결과 비교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99" name="object 5">
            <a:extLst>
              <a:ext uri="{FF2B5EF4-FFF2-40B4-BE49-F238E27FC236}">
                <a16:creationId xmlns:a16="http://schemas.microsoft.com/office/drawing/2014/main" id="{686811B5-63BE-1790-F6F3-692175B13205}"/>
              </a:ext>
            </a:extLst>
          </p:cNvPr>
          <p:cNvSpPr/>
          <p:nvPr/>
        </p:nvSpPr>
        <p:spPr>
          <a:xfrm>
            <a:off x="288797" y="2804357"/>
            <a:ext cx="4130803" cy="3785066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2550A6A-F846-B7BB-D518-69FC352BFB5B}"/>
              </a:ext>
            </a:extLst>
          </p:cNvPr>
          <p:cNvGrpSpPr/>
          <p:nvPr/>
        </p:nvGrpSpPr>
        <p:grpSpPr>
          <a:xfrm>
            <a:off x="287327" y="2440598"/>
            <a:ext cx="2203488" cy="363759"/>
            <a:chOff x="1922491" y="5401525"/>
            <a:chExt cx="914077" cy="363759"/>
          </a:xfrm>
        </p:grpSpPr>
        <p:sp>
          <p:nvSpPr>
            <p:cNvPr id="101" name="object 91">
              <a:extLst>
                <a:ext uri="{FF2B5EF4-FFF2-40B4-BE49-F238E27FC236}">
                  <a16:creationId xmlns:a16="http://schemas.microsoft.com/office/drawing/2014/main" id="{C2612AC0-89FB-C573-E8AB-4403E2563156}"/>
                </a:ext>
              </a:extLst>
            </p:cNvPr>
            <p:cNvSpPr/>
            <p:nvPr/>
          </p:nvSpPr>
          <p:spPr>
            <a:xfrm>
              <a:off x="1922492" y="5401525"/>
              <a:ext cx="914076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92">
              <a:extLst>
                <a:ext uri="{FF2B5EF4-FFF2-40B4-BE49-F238E27FC236}">
                  <a16:creationId xmlns:a16="http://schemas.microsoft.com/office/drawing/2014/main" id="{56F7D58F-400F-2B95-D9FC-EF409687B4D3}"/>
                </a:ext>
              </a:extLst>
            </p:cNvPr>
            <p:cNvSpPr txBox="1"/>
            <p:nvPr/>
          </p:nvSpPr>
          <p:spPr>
            <a:xfrm>
              <a:off x="1922491" y="5414127"/>
              <a:ext cx="9140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1.</a:t>
              </a:r>
              <a:r>
                <a:rPr lang="ko-KR" altLang="en-US" sz="1600" dirty="0">
                  <a:solidFill>
                    <a:schemeClr val="bg1"/>
                  </a:solidFill>
                </a:rPr>
                <a:t> 고장 경향성 비교 분석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9" name="object 39">
            <a:extLst>
              <a:ext uri="{FF2B5EF4-FFF2-40B4-BE49-F238E27FC236}">
                <a16:creationId xmlns:a16="http://schemas.microsoft.com/office/drawing/2014/main" id="{253E9743-71C1-481C-EF69-EA1153BA57AA}"/>
              </a:ext>
            </a:extLst>
          </p:cNvPr>
          <p:cNvSpPr txBox="1"/>
          <p:nvPr/>
        </p:nvSpPr>
        <p:spPr>
          <a:xfrm>
            <a:off x="511011" y="2803047"/>
            <a:ext cx="1660401" cy="303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시뮬레이션 결과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80" name="object 39">
            <a:extLst>
              <a:ext uri="{FF2B5EF4-FFF2-40B4-BE49-F238E27FC236}">
                <a16:creationId xmlns:a16="http://schemas.microsoft.com/office/drawing/2014/main" id="{C72AF36B-687B-5AE2-2066-737A3D9DF695}"/>
              </a:ext>
            </a:extLst>
          </p:cNvPr>
          <p:cNvSpPr txBox="1"/>
          <p:nvPr/>
        </p:nvSpPr>
        <p:spPr>
          <a:xfrm>
            <a:off x="2279614" y="2809571"/>
            <a:ext cx="1660401" cy="303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실험 결과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827E2E26-DB27-1780-E441-7791D41FAFAD}"/>
              </a:ext>
            </a:extLst>
          </p:cNvPr>
          <p:cNvGrpSpPr/>
          <p:nvPr/>
        </p:nvGrpSpPr>
        <p:grpSpPr>
          <a:xfrm>
            <a:off x="325522" y="3073354"/>
            <a:ext cx="2106018" cy="1590408"/>
            <a:chOff x="325522" y="3034310"/>
            <a:chExt cx="2106018" cy="1590408"/>
          </a:xfrm>
        </p:grpSpPr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BFF5F778-56B9-28A7-FA6A-1E6CFFFB8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5523" y="3220706"/>
              <a:ext cx="2106017" cy="1404012"/>
            </a:xfrm>
            <a:prstGeom prst="rect">
              <a:avLst/>
            </a:prstGeom>
          </p:spPr>
        </p:pic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66C2851F-2E0B-3C3A-8E6C-B6EB8345276C}"/>
                </a:ext>
              </a:extLst>
            </p:cNvPr>
            <p:cNvSpPr txBox="1"/>
            <p:nvPr/>
          </p:nvSpPr>
          <p:spPr>
            <a:xfrm>
              <a:off x="325522" y="3034310"/>
              <a:ext cx="21060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accent6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Demagnetization</a:t>
              </a:r>
              <a:endParaRPr lang="ko-KR" altLang="en-US" sz="1200" dirty="0">
                <a:solidFill>
                  <a:schemeClr val="accent6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7FF1F9C7-A53D-80BA-3FFF-F7727C5DA2B0}"/>
              </a:ext>
            </a:extLst>
          </p:cNvPr>
          <p:cNvGrpSpPr/>
          <p:nvPr/>
        </p:nvGrpSpPr>
        <p:grpSpPr>
          <a:xfrm>
            <a:off x="2362200" y="3073354"/>
            <a:ext cx="2109374" cy="1577011"/>
            <a:chOff x="3382070" y="1568647"/>
            <a:chExt cx="2109374" cy="1577011"/>
          </a:xfrm>
        </p:grpSpPr>
        <p:pic>
          <p:nvPicPr>
            <p:cNvPr id="225" name="그림 224">
              <a:extLst>
                <a:ext uri="{FF2B5EF4-FFF2-40B4-BE49-F238E27FC236}">
                  <a16:creationId xmlns:a16="http://schemas.microsoft.com/office/drawing/2014/main" id="{86D09F18-4669-F68B-7C12-C9876A5A6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85426" y="1741645"/>
              <a:ext cx="2106018" cy="1404013"/>
            </a:xfrm>
            <a:prstGeom prst="rect">
              <a:avLst/>
            </a:prstGeom>
          </p:spPr>
        </p:pic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49FF9895-4071-219C-A869-D5E860D83FD6}"/>
                </a:ext>
              </a:extLst>
            </p:cNvPr>
            <p:cNvSpPr txBox="1"/>
            <p:nvPr/>
          </p:nvSpPr>
          <p:spPr>
            <a:xfrm>
              <a:off x="3382070" y="1568647"/>
              <a:ext cx="21060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accent6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Demagnetization</a:t>
              </a:r>
              <a:endParaRPr lang="ko-KR" altLang="en-US" sz="1200" dirty="0">
                <a:solidFill>
                  <a:schemeClr val="accent6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239" name="TextBox 238">
            <a:extLst>
              <a:ext uri="{FF2B5EF4-FFF2-40B4-BE49-F238E27FC236}">
                <a16:creationId xmlns:a16="http://schemas.microsoft.com/office/drawing/2014/main" id="{E508E1AF-7FC6-DB1C-DE15-496702536EA4}"/>
              </a:ext>
            </a:extLst>
          </p:cNvPr>
          <p:cNvSpPr txBox="1"/>
          <p:nvPr/>
        </p:nvSpPr>
        <p:spPr>
          <a:xfrm>
            <a:off x="454891" y="4599801"/>
            <a:ext cx="1847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&lt;Phase A current&gt;</a:t>
            </a:r>
            <a:endParaRPr lang="ko-KR" altLang="en-US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44E3224E-9FD9-7296-C53E-3C682B62CB1B}"/>
              </a:ext>
            </a:extLst>
          </p:cNvPr>
          <p:cNvCxnSpPr>
            <a:cxnSpLocks/>
          </p:cNvCxnSpPr>
          <p:nvPr/>
        </p:nvCxnSpPr>
        <p:spPr>
          <a:xfrm>
            <a:off x="2340000" y="3352800"/>
            <a:ext cx="0" cy="268397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D8E9BB44-E970-B18F-7A3F-D2D374F0D4A8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8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2BBD279-5C93-9EF7-AD89-DD3E49E1640F}"/>
              </a:ext>
            </a:extLst>
          </p:cNvPr>
          <p:cNvSpPr txBox="1"/>
          <p:nvPr/>
        </p:nvSpPr>
        <p:spPr>
          <a:xfrm>
            <a:off x="2558300" y="4599801"/>
            <a:ext cx="1847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&lt;Phase A current&gt;</a:t>
            </a:r>
            <a:endParaRPr lang="ko-KR" altLang="en-US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87BC31A-056B-1A5B-7DC1-A45E19986893}"/>
              </a:ext>
            </a:extLst>
          </p:cNvPr>
          <p:cNvGrpSpPr/>
          <p:nvPr/>
        </p:nvGrpSpPr>
        <p:grpSpPr>
          <a:xfrm>
            <a:off x="328131" y="4953000"/>
            <a:ext cx="2103410" cy="1591777"/>
            <a:chOff x="328131" y="4953000"/>
            <a:chExt cx="2103410" cy="1591777"/>
          </a:xfrm>
        </p:grpSpPr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F79CF876-08D4-62BF-F170-1867789D50F3}"/>
                </a:ext>
              </a:extLst>
            </p:cNvPr>
            <p:cNvGrpSpPr/>
            <p:nvPr/>
          </p:nvGrpSpPr>
          <p:grpSpPr>
            <a:xfrm>
              <a:off x="328131" y="4953000"/>
              <a:ext cx="2103410" cy="1314778"/>
              <a:chOff x="3152798" y="1572926"/>
              <a:chExt cx="2103410" cy="1905211"/>
            </a:xfrm>
          </p:grpSpPr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2CA090ED-74AF-D31C-889E-01FC596A2629}"/>
                  </a:ext>
                </a:extLst>
              </p:cNvPr>
              <p:cNvGrpSpPr/>
              <p:nvPr/>
            </p:nvGrpSpPr>
            <p:grpSpPr>
              <a:xfrm>
                <a:off x="3152798" y="1572926"/>
                <a:ext cx="2103410" cy="1905211"/>
                <a:chOff x="4568642" y="1572928"/>
                <a:chExt cx="3048000" cy="1905213"/>
              </a:xfrm>
            </p:grpSpPr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CCDE0514-F37E-9B63-EBF5-3617D2475CCF}"/>
                    </a:ext>
                  </a:extLst>
                </p:cNvPr>
                <p:cNvSpPr txBox="1"/>
                <p:nvPr/>
              </p:nvSpPr>
              <p:spPr>
                <a:xfrm>
                  <a:off x="4568642" y="1572928"/>
                  <a:ext cx="3047999" cy="4013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solidFill>
                        <a:schemeClr val="accent1"/>
                      </a:solidFill>
                      <a:latin typeface="현대하모니 L" panose="02020603020101020101" pitchFamily="18" charset="-127"/>
                      <a:ea typeface="현대하모니 L" panose="02020603020101020101" pitchFamily="18" charset="-127"/>
                    </a:rPr>
                    <a:t>Mixed Eccentricity</a:t>
                  </a:r>
                  <a:endParaRPr lang="ko-KR" altLang="en-US" sz="1200" dirty="0">
                    <a:solidFill>
                      <a:schemeClr val="accent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endParaRPr>
                </a:p>
              </p:txBody>
            </p:sp>
            <p:pic>
              <p:nvPicPr>
                <p:cNvPr id="238" name="그림 237">
                  <a:extLst>
                    <a:ext uri="{FF2B5EF4-FFF2-40B4-BE49-F238E27FC236}">
                      <a16:creationId xmlns:a16="http://schemas.microsoft.com/office/drawing/2014/main" id="{5B4E4A05-D1EB-36F4-28CC-4F71C9981E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68642" y="1954141"/>
                  <a:ext cx="3048000" cy="1524000"/>
                </a:xfrm>
                <a:prstGeom prst="rect">
                  <a:avLst/>
                </a:prstGeom>
              </p:spPr>
            </p:pic>
          </p:grpSp>
          <p:cxnSp>
            <p:nvCxnSpPr>
              <p:cNvPr id="235" name="직선 화살표 연결선 234">
                <a:extLst>
                  <a:ext uri="{FF2B5EF4-FFF2-40B4-BE49-F238E27FC236}">
                    <a16:creationId xmlns:a16="http://schemas.microsoft.com/office/drawing/2014/main" id="{E5B89916-9C9B-C278-B3ED-000399AF7796}"/>
                  </a:ext>
                </a:extLst>
              </p:cNvPr>
              <p:cNvCxnSpPr/>
              <p:nvPr/>
            </p:nvCxnSpPr>
            <p:spPr>
              <a:xfrm>
                <a:off x="3667067" y="2398387"/>
                <a:ext cx="0" cy="24445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직선 화살표 연결선 235">
                <a:extLst>
                  <a:ext uri="{FF2B5EF4-FFF2-40B4-BE49-F238E27FC236}">
                    <a16:creationId xmlns:a16="http://schemas.microsoft.com/office/drawing/2014/main" id="{A6DBD153-CFF3-B064-D6D6-93B7EAA3B003}"/>
                  </a:ext>
                </a:extLst>
              </p:cNvPr>
              <p:cNvCxnSpPr/>
              <p:nvPr/>
            </p:nvCxnSpPr>
            <p:spPr>
              <a:xfrm>
                <a:off x="4466267" y="2398385"/>
                <a:ext cx="0" cy="24445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C945BF87-1035-09C1-BD27-0B80AB994024}"/>
                </a:ext>
              </a:extLst>
            </p:cNvPr>
            <p:cNvSpPr txBox="1"/>
            <p:nvPr/>
          </p:nvSpPr>
          <p:spPr>
            <a:xfrm>
              <a:off x="456196" y="6267778"/>
              <a:ext cx="18472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&lt;Current spectrum&gt;</a:t>
              </a:r>
              <a:endPara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B4B8DAA-1F80-A849-D62C-9BC6DF96EDC8}"/>
              </a:ext>
            </a:extLst>
          </p:cNvPr>
          <p:cNvGrpSpPr/>
          <p:nvPr/>
        </p:nvGrpSpPr>
        <p:grpSpPr>
          <a:xfrm>
            <a:off x="2362200" y="4952999"/>
            <a:ext cx="2103410" cy="1600201"/>
            <a:chOff x="2362200" y="4952999"/>
            <a:chExt cx="2103410" cy="1600201"/>
          </a:xfrm>
        </p:grpSpPr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37372C2D-FE1F-BFA3-372E-30FAEED3081B}"/>
                </a:ext>
              </a:extLst>
            </p:cNvPr>
            <p:cNvGrpSpPr/>
            <p:nvPr/>
          </p:nvGrpSpPr>
          <p:grpSpPr>
            <a:xfrm>
              <a:off x="2362200" y="4952999"/>
              <a:ext cx="2103410" cy="1314778"/>
              <a:chOff x="3902406" y="4472380"/>
              <a:chExt cx="2103410" cy="1905212"/>
            </a:xfrm>
          </p:grpSpPr>
          <p:grpSp>
            <p:nvGrpSpPr>
              <p:cNvPr id="228" name="그룹 227">
                <a:extLst>
                  <a:ext uri="{FF2B5EF4-FFF2-40B4-BE49-F238E27FC236}">
                    <a16:creationId xmlns:a16="http://schemas.microsoft.com/office/drawing/2014/main" id="{36A7C456-22BE-7550-0B68-FA214B084E9A}"/>
                  </a:ext>
                </a:extLst>
              </p:cNvPr>
              <p:cNvGrpSpPr/>
              <p:nvPr/>
            </p:nvGrpSpPr>
            <p:grpSpPr>
              <a:xfrm>
                <a:off x="3902406" y="4472380"/>
                <a:ext cx="2103410" cy="1905212"/>
                <a:chOff x="5654881" y="4472382"/>
                <a:chExt cx="3048000" cy="1905213"/>
              </a:xfrm>
            </p:grpSpPr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A0C85ECC-133C-D480-A4A7-EE15B731742F}"/>
                    </a:ext>
                  </a:extLst>
                </p:cNvPr>
                <p:cNvSpPr txBox="1"/>
                <p:nvPr/>
              </p:nvSpPr>
              <p:spPr>
                <a:xfrm>
                  <a:off x="5654881" y="4472382"/>
                  <a:ext cx="3048000" cy="4013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solidFill>
                        <a:schemeClr val="accent1"/>
                      </a:solidFill>
                      <a:latin typeface="현대하모니 L" panose="02020603020101020101" pitchFamily="18" charset="-127"/>
                      <a:ea typeface="현대하모니 L" panose="02020603020101020101" pitchFamily="18" charset="-127"/>
                    </a:rPr>
                    <a:t>Mixed Eccentricity</a:t>
                  </a:r>
                  <a:endParaRPr lang="ko-KR" altLang="en-US" sz="1200" dirty="0">
                    <a:solidFill>
                      <a:schemeClr val="accent1"/>
                    </a:solidFill>
                    <a:latin typeface="현대하모니 L" panose="02020603020101020101" pitchFamily="18" charset="-127"/>
                    <a:ea typeface="현대하모니 L" panose="02020603020101020101" pitchFamily="18" charset="-127"/>
                  </a:endParaRPr>
                </a:p>
              </p:txBody>
            </p:sp>
            <p:pic>
              <p:nvPicPr>
                <p:cNvPr id="232" name="그림 231">
                  <a:extLst>
                    <a:ext uri="{FF2B5EF4-FFF2-40B4-BE49-F238E27FC236}">
                      <a16:creationId xmlns:a16="http://schemas.microsoft.com/office/drawing/2014/main" id="{11E51206-7E36-6494-F885-92B019F636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54881" y="4853595"/>
                  <a:ext cx="3048000" cy="1524000"/>
                </a:xfrm>
                <a:prstGeom prst="rect">
                  <a:avLst/>
                </a:prstGeom>
              </p:spPr>
            </p:pic>
          </p:grpSp>
          <p:cxnSp>
            <p:nvCxnSpPr>
              <p:cNvPr id="229" name="직선 화살표 연결선 228">
                <a:extLst>
                  <a:ext uri="{FF2B5EF4-FFF2-40B4-BE49-F238E27FC236}">
                    <a16:creationId xmlns:a16="http://schemas.microsoft.com/office/drawing/2014/main" id="{F31950BB-568F-D2B5-25C6-F9B2C23E07AD}"/>
                  </a:ext>
                </a:extLst>
              </p:cNvPr>
              <p:cNvCxnSpPr/>
              <p:nvPr/>
            </p:nvCxnSpPr>
            <p:spPr>
              <a:xfrm>
                <a:off x="4408466" y="5204460"/>
                <a:ext cx="0" cy="24445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직선 화살표 연결선 229">
                <a:extLst>
                  <a:ext uri="{FF2B5EF4-FFF2-40B4-BE49-F238E27FC236}">
                    <a16:creationId xmlns:a16="http://schemas.microsoft.com/office/drawing/2014/main" id="{EE0B06F8-E8BE-9754-E04A-B115653B8A85}"/>
                  </a:ext>
                </a:extLst>
              </p:cNvPr>
              <p:cNvCxnSpPr/>
              <p:nvPr/>
            </p:nvCxnSpPr>
            <p:spPr>
              <a:xfrm>
                <a:off x="5214866" y="5206164"/>
                <a:ext cx="0" cy="24445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9E63123D-A2B4-2962-C032-EAC882F456C7}"/>
                </a:ext>
              </a:extLst>
            </p:cNvPr>
            <p:cNvSpPr txBox="1"/>
            <p:nvPr/>
          </p:nvSpPr>
          <p:spPr>
            <a:xfrm>
              <a:off x="2490265" y="6276201"/>
              <a:ext cx="18472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&lt;Current spectrum&gt;</a:t>
              </a:r>
              <a:endPara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3E81D0E-1DA7-5783-8D42-FF67B8699BCD}"/>
              </a:ext>
            </a:extLst>
          </p:cNvPr>
          <p:cNvGrpSpPr/>
          <p:nvPr/>
        </p:nvGrpSpPr>
        <p:grpSpPr>
          <a:xfrm>
            <a:off x="6864162" y="3131121"/>
            <a:ext cx="1951717" cy="1713039"/>
            <a:chOff x="6864162" y="3108212"/>
            <a:chExt cx="1951717" cy="1713039"/>
          </a:xfrm>
        </p:grpSpPr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CE7C050D-C788-5FE4-E8F0-3134107205F1}"/>
                </a:ext>
              </a:extLst>
            </p:cNvPr>
            <p:cNvGrpSpPr/>
            <p:nvPr/>
          </p:nvGrpSpPr>
          <p:grpSpPr>
            <a:xfrm>
              <a:off x="6864162" y="3108212"/>
              <a:ext cx="1951717" cy="1463788"/>
              <a:chOff x="520643" y="3429512"/>
              <a:chExt cx="2855827" cy="2141870"/>
            </a:xfrm>
          </p:grpSpPr>
          <p:pic>
            <p:nvPicPr>
              <p:cNvPr id="264" name="그림 263">
                <a:extLst>
                  <a:ext uri="{FF2B5EF4-FFF2-40B4-BE49-F238E27FC236}">
                    <a16:creationId xmlns:a16="http://schemas.microsoft.com/office/drawing/2014/main" id="{2292A905-6356-E016-6874-629B454C08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0643" y="3429512"/>
                <a:ext cx="2855827" cy="2141870"/>
              </a:xfrm>
              <a:prstGeom prst="rect">
                <a:avLst/>
              </a:prstGeom>
            </p:spPr>
          </p:pic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AA075261-8D20-C5A1-4671-80623C130B95}"/>
                  </a:ext>
                </a:extLst>
              </p:cNvPr>
              <p:cNvSpPr txBox="1"/>
              <p:nvPr/>
            </p:nvSpPr>
            <p:spPr>
              <a:xfrm>
                <a:off x="1198914" y="4102345"/>
                <a:ext cx="1839885" cy="607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CSVM: THD= 2.2%</a:t>
                </a:r>
              </a:p>
              <a:p>
                <a:r>
                  <a:rPr lang="en-US" altLang="ko-KR" sz="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FSVM: THD= 4.3%</a:t>
                </a:r>
              </a:p>
              <a:p>
                <a:r>
                  <a:rPr lang="en-US" altLang="ko-KR" sz="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Experiment: THD= 6.1%</a:t>
                </a:r>
                <a:endParaRPr lang="ko-KR" altLang="en-US" sz="7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74C9A9AC-54A2-7B38-EB1F-7DBDA6AD627E}"/>
                </a:ext>
              </a:extLst>
            </p:cNvPr>
            <p:cNvSpPr txBox="1"/>
            <p:nvPr/>
          </p:nvSpPr>
          <p:spPr>
            <a:xfrm>
              <a:off x="6916380" y="4544252"/>
              <a:ext cx="18472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&lt;FFT comparison&gt;</a:t>
              </a:r>
              <a:endPara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65CE7B5D-5DCE-C90D-5641-AD2DA9F5D145}"/>
              </a:ext>
            </a:extLst>
          </p:cNvPr>
          <p:cNvGrpSpPr/>
          <p:nvPr/>
        </p:nvGrpSpPr>
        <p:grpSpPr>
          <a:xfrm>
            <a:off x="4837196" y="3103373"/>
            <a:ext cx="1951717" cy="1740787"/>
            <a:chOff x="4837196" y="3812358"/>
            <a:chExt cx="1951717" cy="1740787"/>
          </a:xfrm>
        </p:grpSpPr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62923CE7-EDB3-AAB2-8863-33F493175220}"/>
                </a:ext>
              </a:extLst>
            </p:cNvPr>
            <p:cNvSpPr txBox="1"/>
            <p:nvPr/>
          </p:nvSpPr>
          <p:spPr>
            <a:xfrm>
              <a:off x="4888329" y="5276146"/>
              <a:ext cx="18472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&lt;Phase A current&gt;</a:t>
              </a:r>
              <a:endPara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pic>
          <p:nvPicPr>
            <p:cNvPr id="268" name="그림 267">
              <a:extLst>
                <a:ext uri="{FF2B5EF4-FFF2-40B4-BE49-F238E27FC236}">
                  <a16:creationId xmlns:a16="http://schemas.microsoft.com/office/drawing/2014/main" id="{4F4D442B-9B9B-B61B-9399-141A5BC92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37196" y="3812358"/>
              <a:ext cx="1951717" cy="1463788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4EDAE31-9939-1E28-D3B0-DA3E5EDB6DA6}"/>
              </a:ext>
            </a:extLst>
          </p:cNvPr>
          <p:cNvGrpSpPr/>
          <p:nvPr/>
        </p:nvGrpSpPr>
        <p:grpSpPr>
          <a:xfrm>
            <a:off x="4832284" y="4919587"/>
            <a:ext cx="2007418" cy="1645783"/>
            <a:chOff x="4812750" y="4919587"/>
            <a:chExt cx="2007418" cy="1645783"/>
          </a:xfrm>
        </p:grpSpPr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5F1A0DBA-A0E9-01FC-D13A-F552E79BE11D}"/>
                </a:ext>
              </a:extLst>
            </p:cNvPr>
            <p:cNvSpPr txBox="1"/>
            <p:nvPr/>
          </p:nvSpPr>
          <p:spPr>
            <a:xfrm>
              <a:off x="4890090" y="6288371"/>
              <a:ext cx="18472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&lt;Phase A current&gt;</a:t>
              </a:r>
              <a:endPara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F7640BF1-F15F-947F-BF5F-72BAACA25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12750" y="4919587"/>
              <a:ext cx="2007418" cy="1338279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79D187E-95BD-F5F5-D5CB-6BF3C94F40CC}"/>
              </a:ext>
            </a:extLst>
          </p:cNvPr>
          <p:cNvGrpSpPr/>
          <p:nvPr/>
        </p:nvGrpSpPr>
        <p:grpSpPr>
          <a:xfrm>
            <a:off x="6843991" y="4919587"/>
            <a:ext cx="2007418" cy="1645783"/>
            <a:chOff x="6802593" y="4919587"/>
            <a:chExt cx="2007418" cy="1645783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6BC7469B-A318-0C96-1383-84EF21D3E353}"/>
                </a:ext>
              </a:extLst>
            </p:cNvPr>
            <p:cNvSpPr txBox="1"/>
            <p:nvPr/>
          </p:nvSpPr>
          <p:spPr>
            <a:xfrm>
              <a:off x="6882662" y="6288371"/>
              <a:ext cx="18472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&lt;Phase A current&gt;</a:t>
              </a:r>
              <a:endPara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47D9125E-C263-5E58-D9C2-1BFCF86E5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02593" y="4919587"/>
              <a:ext cx="2007418" cy="13382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1057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207" y="121412"/>
            <a:ext cx="32636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주요 연구 수행 이력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84CA8B8-A6D5-4663-D3F8-A2D08708E36B}"/>
              </a:ext>
            </a:extLst>
          </p:cNvPr>
          <p:cNvGrpSpPr/>
          <p:nvPr/>
        </p:nvGrpSpPr>
        <p:grpSpPr>
          <a:xfrm>
            <a:off x="448637" y="1370284"/>
            <a:ext cx="8425173" cy="563601"/>
            <a:chOff x="490227" y="1369897"/>
            <a:chExt cx="8425173" cy="563601"/>
          </a:xfrm>
        </p:grpSpPr>
        <p:pic>
          <p:nvPicPr>
            <p:cNvPr id="7" name="object 23">
              <a:extLst>
                <a:ext uri="{FF2B5EF4-FFF2-40B4-BE49-F238E27FC236}">
                  <a16:creationId xmlns:a16="http://schemas.microsoft.com/office/drawing/2014/main" id="{9CD83050-4693-946D-D3DA-3CA31C3DAC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231" y="1382692"/>
              <a:ext cx="496968" cy="49377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3B0C695-5E14-6657-F9A7-4D436F4E9C85}"/>
                </a:ext>
              </a:extLst>
            </p:cNvPr>
            <p:cNvSpPr/>
            <p:nvPr/>
          </p:nvSpPr>
          <p:spPr>
            <a:xfrm>
              <a:off x="490227" y="1369897"/>
              <a:ext cx="657336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8A9E3CE-84FE-52CC-63A1-2D1B855CEC9E}"/>
                </a:ext>
              </a:extLst>
            </p:cNvPr>
            <p:cNvSpPr/>
            <p:nvPr/>
          </p:nvSpPr>
          <p:spPr>
            <a:xfrm>
              <a:off x="6946894" y="1373072"/>
              <a:ext cx="770005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object 23">
              <a:extLst>
                <a:ext uri="{FF2B5EF4-FFF2-40B4-BE49-F238E27FC236}">
                  <a16:creationId xmlns:a16="http://schemas.microsoft.com/office/drawing/2014/main" id="{269FACAC-EDEF-0264-1079-A5A052B0E65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8402" y="1397053"/>
              <a:ext cx="496968" cy="493774"/>
            </a:xfrm>
            <a:prstGeom prst="rect">
              <a:avLst/>
            </a:prstGeom>
          </p:spPr>
        </p:pic>
        <p:pic>
          <p:nvPicPr>
            <p:cNvPr id="11" name="object 23">
              <a:extLst>
                <a:ext uri="{FF2B5EF4-FFF2-40B4-BE49-F238E27FC236}">
                  <a16:creationId xmlns:a16="http://schemas.microsoft.com/office/drawing/2014/main" id="{FD904FCE-FC09-B12E-0027-08F17B24481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3774" y="1397053"/>
              <a:ext cx="496968" cy="493774"/>
            </a:xfrm>
            <a:prstGeom prst="rect">
              <a:avLst/>
            </a:prstGeom>
          </p:spPr>
        </p:pic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1FD9264F-AC54-F3B7-BF9A-B7A398939962}"/>
                </a:ext>
              </a:extLst>
            </p:cNvPr>
            <p:cNvSpPr txBox="1"/>
            <p:nvPr/>
          </p:nvSpPr>
          <p:spPr>
            <a:xfrm>
              <a:off x="514789" y="1465444"/>
              <a:ext cx="623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분석</a:t>
              </a:r>
              <a:endParaRPr lang="en-US" altLang="ko-KR" sz="9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57E6A31-DF70-9D14-04E1-19339A8F0619}"/>
                </a:ext>
              </a:extLst>
            </p:cNvPr>
            <p:cNvSpPr/>
            <p:nvPr/>
          </p:nvSpPr>
          <p:spPr>
            <a:xfrm>
              <a:off x="1732742" y="1369897"/>
              <a:ext cx="2029554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bject 39">
              <a:extLst>
                <a:ext uri="{FF2B5EF4-FFF2-40B4-BE49-F238E27FC236}">
                  <a16:creationId xmlns:a16="http://schemas.microsoft.com/office/drawing/2014/main" id="{58323726-A7D0-3C73-809F-2207CE0BD220}"/>
                </a:ext>
              </a:extLst>
            </p:cNvPr>
            <p:cNvSpPr txBox="1"/>
            <p:nvPr/>
          </p:nvSpPr>
          <p:spPr>
            <a:xfrm>
              <a:off x="1688110" y="1465444"/>
              <a:ext cx="21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모터 및 인버터 제어 시뮬레이션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(Ansys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Maxwell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&amp;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MATLAB Simulink)</a:t>
              </a:r>
              <a:endParaRPr lang="ko-KR" altLang="en-US" sz="9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F78FF90-1040-DD36-DA9E-DF2846AB3C86}"/>
                </a:ext>
              </a:extLst>
            </p:cNvPr>
            <p:cNvSpPr/>
            <p:nvPr/>
          </p:nvSpPr>
          <p:spPr>
            <a:xfrm>
              <a:off x="4354574" y="1369897"/>
              <a:ext cx="2044674" cy="56042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bject 39">
              <a:extLst>
                <a:ext uri="{FF2B5EF4-FFF2-40B4-BE49-F238E27FC236}">
                  <a16:creationId xmlns:a16="http://schemas.microsoft.com/office/drawing/2014/main" id="{18523173-44F4-C6D8-5F21-BFD4AB24F050}"/>
                </a:ext>
              </a:extLst>
            </p:cNvPr>
            <p:cNvSpPr txBox="1"/>
            <p:nvPr/>
          </p:nvSpPr>
          <p:spPr>
            <a:xfrm>
              <a:off x="4371365" y="1465444"/>
              <a:ext cx="2027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실험적 검증</a:t>
              </a:r>
              <a:endParaRPr lang="en-US" altLang="ko-KR" sz="900" dirty="0"/>
            </a:p>
            <a:p>
              <a:pPr algn="ctr"/>
              <a:r>
                <a:rPr lang="en-US" altLang="ko-KR" sz="900" dirty="0"/>
                <a:t>(</a:t>
              </a:r>
              <a:r>
                <a:rPr lang="ko-KR" altLang="en-US" sz="900" dirty="0"/>
                <a:t>정상 및 고장모터 제작</a:t>
              </a:r>
              <a:r>
                <a:rPr lang="en-US" altLang="ko-KR" sz="900" dirty="0"/>
                <a:t>/</a:t>
              </a:r>
              <a:r>
                <a:rPr lang="ko-KR" altLang="en-US" sz="900" dirty="0" err="1"/>
                <a:t>다이나모</a:t>
              </a:r>
              <a:r>
                <a:rPr lang="ko-KR" altLang="en-US" sz="900" dirty="0"/>
                <a:t> 테스트</a:t>
              </a:r>
              <a:r>
                <a:rPr lang="en-US" altLang="ko-KR" sz="900" dirty="0"/>
                <a:t>)</a:t>
              </a:r>
              <a:endParaRPr lang="ko-KR" altLang="en-US" sz="900" dirty="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3411652F-D9A0-2FB5-2F33-D38591E077C9}"/>
                </a:ext>
              </a:extLst>
            </p:cNvPr>
            <p:cNvSpPr txBox="1"/>
            <p:nvPr/>
          </p:nvSpPr>
          <p:spPr>
            <a:xfrm>
              <a:off x="6975469" y="1468619"/>
              <a:ext cx="712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latin typeface="현대하모니 M" panose="02020603020101020101" pitchFamily="18" charset="-127"/>
                  <a:ea typeface="현대하모니 M" panose="02020603020101020101" pitchFamily="18" charset="-127"/>
                </a:defRPr>
              </a:lvl1pPr>
            </a:lstStyle>
            <a:p>
              <a:pPr algn="ctr"/>
              <a:r>
                <a:rPr lang="ko-KR" altLang="en-US" sz="900" dirty="0"/>
                <a:t>고장 신호 검증 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결과</a:t>
              </a:r>
              <a:r>
                <a:rPr lang="en-US" altLang="ko-KR" sz="900" dirty="0"/>
                <a:t>)</a:t>
              </a:r>
            </a:p>
          </p:txBody>
        </p:sp>
        <p:pic>
          <p:nvPicPr>
            <p:cNvPr id="18" name="object 23">
              <a:extLst>
                <a:ext uri="{FF2B5EF4-FFF2-40B4-BE49-F238E27FC236}">
                  <a16:creationId xmlns:a16="http://schemas.microsoft.com/office/drawing/2014/main" id="{FBCE38B3-643D-0445-99CF-7606B78B32E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1626" y="1393878"/>
              <a:ext cx="496968" cy="493774"/>
            </a:xfrm>
            <a:prstGeom prst="rect">
              <a:avLst/>
            </a:prstGeom>
          </p:spPr>
        </p:pic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4EBBFBD-3128-41F2-39D7-86D82D3CC932}"/>
                </a:ext>
              </a:extLst>
            </p:cNvPr>
            <p:cNvGrpSpPr/>
            <p:nvPr/>
          </p:nvGrpSpPr>
          <p:grpSpPr>
            <a:xfrm>
              <a:off x="8202545" y="1369897"/>
              <a:ext cx="712855" cy="560426"/>
              <a:chOff x="8836721" y="1369897"/>
              <a:chExt cx="712855" cy="56042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467FAA4B-A522-B81C-028F-3D60849EF349}"/>
                  </a:ext>
                </a:extLst>
              </p:cNvPr>
              <p:cNvSpPr/>
              <p:nvPr/>
            </p:nvSpPr>
            <p:spPr>
              <a:xfrm>
                <a:off x="8887190" y="1369897"/>
                <a:ext cx="611918" cy="56042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object 39">
                <a:extLst>
                  <a:ext uri="{FF2B5EF4-FFF2-40B4-BE49-F238E27FC236}">
                    <a16:creationId xmlns:a16="http://schemas.microsoft.com/office/drawing/2014/main" id="{AC7A6FE4-3E23-1227-251F-206C66530BF2}"/>
                  </a:ext>
                </a:extLst>
              </p:cNvPr>
              <p:cNvSpPr txBox="1"/>
              <p:nvPr/>
            </p:nvSpPr>
            <p:spPr>
              <a:xfrm>
                <a:off x="8836721" y="1465444"/>
                <a:ext cx="7128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0"/>
                </a:defPPr>
                <a:lvl1pPr>
                  <a:defRPr>
                    <a:latin typeface="현대하모니 M" panose="02020603020101020101" pitchFamily="18" charset="-127"/>
                    <a:ea typeface="현대하모니 M" panose="02020603020101020101" pitchFamily="18" charset="-127"/>
                  </a:defRPr>
                </a:lvl1pPr>
              </a:lstStyle>
              <a:p>
                <a:pPr algn="ctr"/>
                <a:r>
                  <a:rPr lang="ko-KR" altLang="en-US" sz="900" dirty="0"/>
                  <a:t>시뮬레이션 모델 개선</a:t>
                </a:r>
                <a:endParaRPr lang="en-US" altLang="ko-KR" sz="900" dirty="0"/>
              </a:p>
            </p:txBody>
          </p:sp>
        </p:grpSp>
      </p:grpSp>
      <p:sp>
        <p:nvSpPr>
          <p:cNvPr id="22" name="object 28">
            <a:extLst>
              <a:ext uri="{FF2B5EF4-FFF2-40B4-BE49-F238E27FC236}">
                <a16:creationId xmlns:a16="http://schemas.microsoft.com/office/drawing/2014/main" id="{467A5A3F-ABD4-5D6C-45EE-E558CE861EDE}"/>
              </a:ext>
            </a:extLst>
          </p:cNvPr>
          <p:cNvSpPr txBox="1"/>
          <p:nvPr/>
        </p:nvSpPr>
        <p:spPr>
          <a:xfrm>
            <a:off x="340562" y="840485"/>
            <a:ext cx="476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>
                <a:solidFill>
                  <a:srgbClr val="001F5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rPr lang="en-US"/>
              <a:t>PMSM</a:t>
            </a:r>
            <a:r>
              <a:rPr lang="ko-KR" altLang="en-US" dirty="0"/>
              <a:t> 고장진단</a:t>
            </a:r>
            <a:endParaRPr dirty="0"/>
          </a:p>
        </p:txBody>
      </p:sp>
      <p:sp>
        <p:nvSpPr>
          <p:cNvPr id="4" name="object 39">
            <a:extLst>
              <a:ext uri="{FF2B5EF4-FFF2-40B4-BE49-F238E27FC236}">
                <a16:creationId xmlns:a16="http://schemas.microsoft.com/office/drawing/2014/main" id="{594769D9-3EC5-ABC6-5819-DFCDDE213F2C}"/>
              </a:ext>
            </a:extLst>
          </p:cNvPr>
          <p:cNvSpPr txBox="1"/>
          <p:nvPr/>
        </p:nvSpPr>
        <p:spPr>
          <a:xfrm>
            <a:off x="363774" y="2022148"/>
            <a:ext cx="4055826" cy="36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5) </a:t>
            </a:r>
            <a:r>
              <a:rPr lang="ko-KR" altLang="en-US" sz="14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시뮬레이션 모델 개선</a:t>
            </a:r>
            <a:endParaRPr lang="en-US" altLang="ko-KR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5" name="object 23">
            <a:extLst>
              <a:ext uri="{FF2B5EF4-FFF2-40B4-BE49-F238E27FC236}">
                <a16:creationId xmlns:a16="http://schemas.microsoft.com/office/drawing/2014/main" id="{6589C0DC-C57D-AD48-2C79-3CB4DCC2D3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728" y="6247909"/>
            <a:ext cx="496968" cy="4937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9D15B88-CEC5-33C8-CA2F-17529FB94F08}"/>
              </a:ext>
            </a:extLst>
          </p:cNvPr>
          <p:cNvSpPr txBox="1"/>
          <p:nvPr/>
        </p:nvSpPr>
        <p:spPr>
          <a:xfrm>
            <a:off x="1196641" y="63246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정확한 모델링을 위한 전류 제어기 재설계 및 적용</a:t>
            </a:r>
          </a:p>
        </p:txBody>
      </p:sp>
      <p:sp>
        <p:nvSpPr>
          <p:cNvPr id="62" name="object 5">
            <a:extLst>
              <a:ext uri="{FF2B5EF4-FFF2-40B4-BE49-F238E27FC236}">
                <a16:creationId xmlns:a16="http://schemas.microsoft.com/office/drawing/2014/main" id="{54D99A85-B659-CDFE-58BD-AD2BF1E8A3A6}"/>
              </a:ext>
            </a:extLst>
          </p:cNvPr>
          <p:cNvSpPr/>
          <p:nvPr/>
        </p:nvSpPr>
        <p:spPr>
          <a:xfrm>
            <a:off x="300559" y="2804357"/>
            <a:ext cx="3983221" cy="3445917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CFF23B9-317C-F7BF-68CB-9EECD5846340}"/>
              </a:ext>
            </a:extLst>
          </p:cNvPr>
          <p:cNvGrpSpPr/>
          <p:nvPr/>
        </p:nvGrpSpPr>
        <p:grpSpPr>
          <a:xfrm>
            <a:off x="299090" y="2440598"/>
            <a:ext cx="2011619" cy="363759"/>
            <a:chOff x="1922492" y="5401525"/>
            <a:chExt cx="1312536" cy="363759"/>
          </a:xfrm>
        </p:grpSpPr>
        <p:sp>
          <p:nvSpPr>
            <p:cNvPr id="64" name="object 91">
              <a:extLst>
                <a:ext uri="{FF2B5EF4-FFF2-40B4-BE49-F238E27FC236}">
                  <a16:creationId xmlns:a16="http://schemas.microsoft.com/office/drawing/2014/main" id="{81AC5188-DF61-5C4C-A8F9-AB7F90C841B5}"/>
                </a:ext>
              </a:extLst>
            </p:cNvPr>
            <p:cNvSpPr/>
            <p:nvPr/>
          </p:nvSpPr>
          <p:spPr>
            <a:xfrm>
              <a:off x="1922492" y="5401525"/>
              <a:ext cx="1312536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92">
              <a:extLst>
                <a:ext uri="{FF2B5EF4-FFF2-40B4-BE49-F238E27FC236}">
                  <a16:creationId xmlns:a16="http://schemas.microsoft.com/office/drawing/2014/main" id="{5ECF65DC-0E79-9FDD-59A9-D817CE8B11AF}"/>
                </a:ext>
              </a:extLst>
            </p:cNvPr>
            <p:cNvSpPr txBox="1"/>
            <p:nvPr/>
          </p:nvSpPr>
          <p:spPr>
            <a:xfrm>
              <a:off x="1939628" y="5414127"/>
              <a:ext cx="12953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1. </a:t>
              </a:r>
              <a:r>
                <a:rPr lang="ko-KR" altLang="en-US" sz="1600" dirty="0">
                  <a:solidFill>
                    <a:schemeClr val="bg1"/>
                  </a:solidFill>
                </a:rPr>
                <a:t>모델링 개선점 발견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6" name="object 39">
            <a:extLst>
              <a:ext uri="{FF2B5EF4-FFF2-40B4-BE49-F238E27FC236}">
                <a16:creationId xmlns:a16="http://schemas.microsoft.com/office/drawing/2014/main" id="{D81B3F19-67B2-8E94-820F-77D033D71B48}"/>
              </a:ext>
            </a:extLst>
          </p:cNvPr>
          <p:cNvSpPr txBox="1"/>
          <p:nvPr/>
        </p:nvSpPr>
        <p:spPr>
          <a:xfrm>
            <a:off x="487828" y="2807532"/>
            <a:ext cx="2933454" cy="539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시뮬레이션과 실험 지령 전류각과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크기가 다름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전류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제어기의 알고리즘 개선 필요</a:t>
            </a:r>
            <a:endParaRPr lang="en-US" altLang="ko-KR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F3B65F84-0AD1-37FC-D87F-624B36276DA9}"/>
              </a:ext>
            </a:extLst>
          </p:cNvPr>
          <p:cNvSpPr/>
          <p:nvPr/>
        </p:nvSpPr>
        <p:spPr>
          <a:xfrm>
            <a:off x="4419600" y="2804357"/>
            <a:ext cx="4356347" cy="3445917"/>
          </a:xfrm>
          <a:custGeom>
            <a:avLst/>
            <a:gdLst/>
            <a:ahLst/>
            <a:cxnLst/>
            <a:rect l="l" t="t" r="r" b="b"/>
            <a:pathLst>
              <a:path w="2700655" h="3221990">
                <a:moveTo>
                  <a:pt x="0" y="3221736"/>
                </a:moveTo>
                <a:lnTo>
                  <a:pt x="2700528" y="3221736"/>
                </a:lnTo>
                <a:lnTo>
                  <a:pt x="2700528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61E471E-E8BF-D522-FEE9-BC09F6197560}"/>
              </a:ext>
            </a:extLst>
          </p:cNvPr>
          <p:cNvGrpSpPr/>
          <p:nvPr/>
        </p:nvGrpSpPr>
        <p:grpSpPr>
          <a:xfrm>
            <a:off x="4418131" y="2440598"/>
            <a:ext cx="2011619" cy="363759"/>
            <a:chOff x="1922492" y="5401525"/>
            <a:chExt cx="1312536" cy="363759"/>
          </a:xfrm>
        </p:grpSpPr>
        <p:sp>
          <p:nvSpPr>
            <p:cNvPr id="70" name="object 91">
              <a:extLst>
                <a:ext uri="{FF2B5EF4-FFF2-40B4-BE49-F238E27FC236}">
                  <a16:creationId xmlns:a16="http://schemas.microsoft.com/office/drawing/2014/main" id="{1ADB490D-B530-8500-3FA1-63D50B19ACC8}"/>
                </a:ext>
              </a:extLst>
            </p:cNvPr>
            <p:cNvSpPr/>
            <p:nvPr/>
          </p:nvSpPr>
          <p:spPr>
            <a:xfrm>
              <a:off x="1922492" y="5401525"/>
              <a:ext cx="1312536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92">
              <a:extLst>
                <a:ext uri="{FF2B5EF4-FFF2-40B4-BE49-F238E27FC236}">
                  <a16:creationId xmlns:a16="http://schemas.microsoft.com/office/drawing/2014/main" id="{5E6A5724-EE74-8AF4-34BC-96B1AE2D3519}"/>
                </a:ext>
              </a:extLst>
            </p:cNvPr>
            <p:cNvSpPr txBox="1"/>
            <p:nvPr/>
          </p:nvSpPr>
          <p:spPr>
            <a:xfrm>
              <a:off x="1939628" y="5414127"/>
              <a:ext cx="12953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2. </a:t>
              </a:r>
              <a:r>
                <a:rPr lang="ko-KR" altLang="en-US" sz="1600" dirty="0">
                  <a:solidFill>
                    <a:schemeClr val="bg1"/>
                  </a:solidFill>
                </a:rPr>
                <a:t>전류 제어기 재설계</a:t>
              </a:r>
              <a:endParaRPr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72" name="object 39">
            <a:extLst>
              <a:ext uri="{FF2B5EF4-FFF2-40B4-BE49-F238E27FC236}">
                <a16:creationId xmlns:a16="http://schemas.microsoft.com/office/drawing/2014/main" id="{71105076-21C0-9C57-EB6E-EF2BB90C77AD}"/>
              </a:ext>
            </a:extLst>
          </p:cNvPr>
          <p:cNvSpPr txBox="1"/>
          <p:nvPr/>
        </p:nvSpPr>
        <p:spPr>
          <a:xfrm>
            <a:off x="4604002" y="2816959"/>
            <a:ext cx="3936785" cy="102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05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실제 전류 제어기는 수학적 모델과 모터 특성을 반영한 해석 결과를 활용하여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calibration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을 하여 설계함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ANSYS Maxwell 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모터 해석결과를 활용하여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MATLAB CAGE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에서 최적화 진행함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6195AD6-5B97-BFD1-0761-F022DBF5F106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9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1D726FFD-7F10-C910-280F-A37CFBD03E6E}"/>
              </a:ext>
            </a:extLst>
          </p:cNvPr>
          <p:cNvGrpSpPr/>
          <p:nvPr/>
        </p:nvGrpSpPr>
        <p:grpSpPr>
          <a:xfrm>
            <a:off x="4522219" y="4979159"/>
            <a:ext cx="1421381" cy="1269241"/>
            <a:chOff x="4440003" y="3555012"/>
            <a:chExt cx="1421381" cy="1269241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D3036CBE-5900-1FAC-6067-6B2EFB865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0003" y="3555012"/>
              <a:ext cx="1421381" cy="1066036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4D3D2D4-CE0A-B4DB-2A28-72D92B53C69D}"/>
                </a:ext>
              </a:extLst>
            </p:cNvPr>
            <p:cNvSpPr txBox="1"/>
            <p:nvPr/>
          </p:nvSpPr>
          <p:spPr>
            <a:xfrm>
              <a:off x="4440003" y="4608809"/>
              <a:ext cx="14213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&lt;q-axis current Map&gt;</a:t>
              </a:r>
              <a:endParaRPr lang="ko-KR" altLang="en-US" sz="800" dirty="0">
                <a:solidFill>
                  <a:schemeClr val="tx2">
                    <a:lumMod val="7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215FA75-B090-2488-95E3-8DB2DE87EBFE}"/>
              </a:ext>
            </a:extLst>
          </p:cNvPr>
          <p:cNvGrpSpPr/>
          <p:nvPr/>
        </p:nvGrpSpPr>
        <p:grpSpPr>
          <a:xfrm>
            <a:off x="4515546" y="3840248"/>
            <a:ext cx="1428054" cy="1264827"/>
            <a:chOff x="4444394" y="4920408"/>
            <a:chExt cx="1428054" cy="1264827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D8850FC8-2822-E688-E176-84462D803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51067" y="4920408"/>
              <a:ext cx="1421381" cy="1066035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17A86E6-2F5F-68D3-358D-302CD4F96281}"/>
                </a:ext>
              </a:extLst>
            </p:cNvPr>
            <p:cNvSpPr txBox="1"/>
            <p:nvPr/>
          </p:nvSpPr>
          <p:spPr>
            <a:xfrm>
              <a:off x="4444394" y="5969791"/>
              <a:ext cx="14213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&lt;d-axis current Map&gt;</a:t>
              </a:r>
              <a:endParaRPr lang="ko-KR" altLang="en-US" sz="800" dirty="0">
                <a:solidFill>
                  <a:schemeClr val="tx2">
                    <a:lumMod val="7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54321BA-0EC6-8DA8-C80E-0462C4B49E76}"/>
              </a:ext>
            </a:extLst>
          </p:cNvPr>
          <p:cNvGrpSpPr/>
          <p:nvPr/>
        </p:nvGrpSpPr>
        <p:grpSpPr>
          <a:xfrm>
            <a:off x="5888801" y="3691508"/>
            <a:ext cx="3053246" cy="2503943"/>
            <a:chOff x="5614139" y="3675772"/>
            <a:chExt cx="3053246" cy="2503943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67FBA86-FF8C-EE0F-52E2-358A86B136D4}"/>
                </a:ext>
              </a:extLst>
            </p:cNvPr>
            <p:cNvSpPr txBox="1"/>
            <p:nvPr/>
          </p:nvSpPr>
          <p:spPr>
            <a:xfrm>
              <a:off x="5918554" y="5964271"/>
              <a:ext cx="24444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&lt;</a:t>
              </a:r>
              <a:r>
                <a: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개선된 전류 제어기 전류 지령 맵</a:t>
              </a:r>
              <a:r>
                <a:rPr lang="en-US" altLang="ko-KR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&gt;</a:t>
              </a:r>
              <a:endParaRPr lang="ko-KR" altLang="en-US" sz="800" dirty="0">
                <a:solidFill>
                  <a:schemeClr val="tx2">
                    <a:lumMod val="7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A90D8E50-18A6-711F-50C7-323E20C29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4139" y="3675772"/>
              <a:ext cx="3053246" cy="2289935"/>
            </a:xfrm>
            <a:prstGeom prst="rect">
              <a:avLst/>
            </a:prstGeom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074A08A-97F1-4D36-9CA1-8449A5B59FA3}"/>
              </a:ext>
            </a:extLst>
          </p:cNvPr>
          <p:cNvGrpSpPr/>
          <p:nvPr/>
        </p:nvGrpSpPr>
        <p:grpSpPr>
          <a:xfrm>
            <a:off x="476615" y="3366056"/>
            <a:ext cx="3728081" cy="2729944"/>
            <a:chOff x="1913492" y="2587853"/>
            <a:chExt cx="3728081" cy="2729944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8B53AF6C-2EF7-FDDA-F2DB-412DD59C4D19}"/>
                </a:ext>
              </a:extLst>
            </p:cNvPr>
            <p:cNvGrpSpPr/>
            <p:nvPr/>
          </p:nvGrpSpPr>
          <p:grpSpPr>
            <a:xfrm>
              <a:off x="1913492" y="2587853"/>
              <a:ext cx="3344228" cy="2729944"/>
              <a:chOff x="1913492" y="2587853"/>
              <a:chExt cx="3344228" cy="2729944"/>
            </a:xfrm>
          </p:grpSpPr>
          <p:pic>
            <p:nvPicPr>
              <p:cNvPr id="78" name="그림 77">
                <a:extLst>
                  <a:ext uri="{FF2B5EF4-FFF2-40B4-BE49-F238E27FC236}">
                    <a16:creationId xmlns:a16="http://schemas.microsoft.com/office/drawing/2014/main" id="{13E21790-11C7-D083-3E8F-C8FA37C8F2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13492" y="2587853"/>
                <a:ext cx="3344228" cy="2508171"/>
              </a:xfrm>
              <a:prstGeom prst="rect">
                <a:avLst/>
              </a:prstGeom>
            </p:spPr>
          </p:pic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7BB10E5-DFD0-9A8A-E67D-D886AFDDC1E5}"/>
                  </a:ext>
                </a:extLst>
              </p:cNvPr>
              <p:cNvSpPr txBox="1"/>
              <p:nvPr/>
            </p:nvSpPr>
            <p:spPr>
              <a:xfrm>
                <a:off x="2363398" y="5102353"/>
                <a:ext cx="244441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&lt;</a:t>
                </a:r>
                <a:r>
                  <a:rPr lang="ko-KR" altLang="en-US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기존의 전류 제어기 전류 지령 맵</a:t>
                </a:r>
                <a:r>
                  <a:rPr lang="en-US" altLang="ko-KR" sz="800" dirty="0">
                    <a:solidFill>
                      <a:schemeClr val="tx2">
                        <a:lumMod val="75000"/>
                      </a:schemeClr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&gt;</a:t>
                </a:r>
                <a:endParaRPr lang="ko-KR" altLang="en-US" sz="800" dirty="0">
                  <a:solidFill>
                    <a:schemeClr val="tx2">
                      <a:lumMod val="75000"/>
                    </a:schemeClr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p:grp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A1ABFC7F-C939-B142-2390-D513B7239451}"/>
                </a:ext>
              </a:extLst>
            </p:cNvPr>
            <p:cNvCxnSpPr/>
            <p:nvPr/>
          </p:nvCxnSpPr>
          <p:spPr>
            <a:xfrm>
              <a:off x="2584298" y="2930786"/>
              <a:ext cx="63652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045655B-637F-7BAD-6483-3B6FE21959A6}"/>
                </a:ext>
              </a:extLst>
            </p:cNvPr>
            <p:cNvSpPr txBox="1"/>
            <p:nvPr/>
          </p:nvSpPr>
          <p:spPr>
            <a:xfrm>
              <a:off x="4354242" y="3805464"/>
              <a:ext cx="96535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② 100 Nm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4CDC7-8426-FB1C-D7DF-42D952212AA1}"/>
                </a:ext>
              </a:extLst>
            </p:cNvPr>
            <p:cNvSpPr txBox="1"/>
            <p:nvPr/>
          </p:nvSpPr>
          <p:spPr>
            <a:xfrm>
              <a:off x="3962400" y="3505200"/>
              <a:ext cx="9098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③ 250 Nm</a:t>
              </a:r>
              <a:endParaRPr lang="ko-KR" altLang="en-US" sz="12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223E6F-24F5-42FB-6315-2041C4729B9F}"/>
                </a:ext>
              </a:extLst>
            </p:cNvPr>
            <p:cNvSpPr txBox="1"/>
            <p:nvPr/>
          </p:nvSpPr>
          <p:spPr>
            <a:xfrm>
              <a:off x="2522537" y="2653787"/>
              <a:ext cx="9150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④ 400 Nm</a:t>
              </a:r>
              <a:endParaRPr lang="ko-KR" altLang="en-US" sz="12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EF37DD2-9E65-DC42-6362-10A1D06CB945}"/>
                </a:ext>
              </a:extLst>
            </p:cNvPr>
            <p:cNvSpPr txBox="1"/>
            <p:nvPr/>
          </p:nvSpPr>
          <p:spPr>
            <a:xfrm>
              <a:off x="4017699" y="4547690"/>
              <a:ext cx="9144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rgbClr val="EEB52C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⑦ 50 Nm</a:t>
              </a:r>
              <a:endParaRPr lang="ko-KR" altLang="en-US" sz="1200" dirty="0">
                <a:solidFill>
                  <a:srgbClr val="EEB52C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8B03C04-1F03-853D-71C4-73F6285988FE}"/>
                </a:ext>
              </a:extLst>
            </p:cNvPr>
            <p:cNvSpPr txBox="1"/>
            <p:nvPr/>
          </p:nvSpPr>
          <p:spPr>
            <a:xfrm>
              <a:off x="3095068" y="4350688"/>
              <a:ext cx="10603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rgbClr val="EEB52C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⑧ 100 Nm</a:t>
              </a:r>
              <a:endParaRPr lang="ko-KR" altLang="en-US" sz="1200" dirty="0">
                <a:solidFill>
                  <a:srgbClr val="EEB52C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3C8BECA-8400-5B21-1741-E9D8EEE7F228}"/>
                </a:ext>
              </a:extLst>
            </p:cNvPr>
            <p:cNvSpPr txBox="1"/>
            <p:nvPr/>
          </p:nvSpPr>
          <p:spPr>
            <a:xfrm>
              <a:off x="3431917" y="3957822"/>
              <a:ext cx="9150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rgbClr val="D95319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⑥ 100 Nm</a:t>
              </a:r>
              <a:endParaRPr lang="ko-KR" altLang="en-US" sz="1200" dirty="0">
                <a:solidFill>
                  <a:srgbClr val="D95319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76E0884-996E-162A-25C9-342D83A444F7}"/>
                </a:ext>
              </a:extLst>
            </p:cNvPr>
            <p:cNvSpPr txBox="1"/>
            <p:nvPr/>
          </p:nvSpPr>
          <p:spPr>
            <a:xfrm>
              <a:off x="4568252" y="4415033"/>
              <a:ext cx="90974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rgbClr val="D95319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⑤ 50 Nm</a:t>
              </a:r>
              <a:endParaRPr lang="ko-KR" altLang="en-US" sz="1200" dirty="0">
                <a:solidFill>
                  <a:srgbClr val="D95319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B703677-4917-4CD8-F8C7-358A61C1E4CE}"/>
                </a:ext>
              </a:extLst>
            </p:cNvPr>
            <p:cNvSpPr txBox="1"/>
            <p:nvPr/>
          </p:nvSpPr>
          <p:spPr>
            <a:xfrm>
              <a:off x="4676219" y="4252029"/>
              <a:ext cx="96535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① 50 Nm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7631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551362"/>
              </p:ext>
            </p:extLst>
          </p:nvPr>
        </p:nvGraphicFramePr>
        <p:xfrm>
          <a:off x="351166" y="988928"/>
          <a:ext cx="8535382" cy="1635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0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사용가능 Tool</a:t>
                      </a:r>
                    </a:p>
                  </a:txBody>
                  <a:tcPr marL="0" marR="0" marT="508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활용 내역</a:t>
                      </a:r>
                    </a:p>
                  </a:txBody>
                  <a:tcPr marL="0" marR="0" marT="508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3D 모델링 SW</a:t>
                      </a: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sz="1050" dirty="0" err="1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Autocad</a:t>
                      </a:r>
                      <a:endParaRPr sz="105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PMSM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CAD file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작성</a:t>
                      </a: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0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전자기 해석 </a:t>
                      </a:r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</a:t>
                      </a:r>
                      <a:endParaRPr sz="105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sz="105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ANSYS Maxwell</a:t>
                      </a:r>
                      <a:endParaRPr sz="105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8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PMSM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전자기해석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–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파라미터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쇄교자속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및 토크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추출</a:t>
                      </a: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0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모델링</a:t>
                      </a:r>
                      <a:r>
                        <a:rPr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및 </a:t>
                      </a:r>
                      <a:r>
                        <a:rPr sz="1050" dirty="0" err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시뮬레이션</a:t>
                      </a:r>
                      <a:r>
                        <a:rPr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SW</a:t>
                      </a: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5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MATLAB / Simulink</a:t>
                      </a:r>
                    </a:p>
                  </a:txBody>
                  <a:tcPr marL="0" marR="0" marT="61594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PMSM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및 제어시스템 모델링 및 시뮬레이션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다양한 프로젝트에서 활용</a:t>
                      </a:r>
                    </a:p>
                  </a:txBody>
                  <a:tcPr marL="0" marR="0" marT="61594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Data Acquisition SW</a:t>
                      </a:r>
                    </a:p>
                  </a:txBody>
                  <a:tcPr marL="0" marR="0" marT="54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5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LABVIEW</a:t>
                      </a:r>
                    </a:p>
                  </a:txBody>
                  <a:tcPr marL="0" marR="0" marT="61594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PMSM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고장모터 데이터 획득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(DAQ)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시스템 구현</a:t>
                      </a:r>
                    </a:p>
                  </a:txBody>
                  <a:tcPr marL="0" marR="0" marT="61594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Calibration SW</a:t>
                      </a:r>
                      <a:endParaRPr sz="105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sz="105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MATLAB / CAGE</a:t>
                      </a:r>
                      <a:endParaRPr sz="105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F3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PMSM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전류 제어기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table map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추출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(MTPA-FW-MTPV)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189120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761" y="671322"/>
            <a:ext cx="9144000" cy="2540"/>
          </a:xfrm>
          <a:custGeom>
            <a:avLst/>
            <a:gdLst/>
            <a:ahLst/>
            <a:cxnLst/>
            <a:rect l="l" t="t" r="r" b="b"/>
            <a:pathLst>
              <a:path w="9144000" h="2540">
                <a:moveTo>
                  <a:pt x="0" y="0"/>
                </a:moveTo>
                <a:lnTo>
                  <a:pt x="9144000" y="2539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9207" y="125984"/>
            <a:ext cx="3481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사용가능 SW 및 주요실적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2160" y="2939600"/>
            <a:ext cx="8113395" cy="34691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rgbClr val="001F5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주저자 논문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imes" panose="02020603050405020304" pitchFamily="18" charset="0"/>
              </a:rPr>
              <a:t>모터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imes" panose="02020603050405020304" pitchFamily="18" charset="0"/>
              </a:rPr>
              <a:t>: Co-simulation for Fault Diagnosis of 120kW Interior Permanent Magnet Synchronous Machine and Experimental Validation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rgbClr val="001F5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공저자 논문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imes" panose="02020603050405020304" pitchFamily="18" charset="0"/>
              </a:rPr>
              <a:t>인버터 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imes" panose="02020603050405020304" pitchFamily="18" charset="0"/>
              </a:rPr>
              <a:t>: Condition Monitoring of Insulated Gate Bipolar Transistor Modules using Inverter Output Parameters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(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imes" panose="02020603050405020304" pitchFamily="18" charset="0"/>
              </a:rPr>
              <a:t>IEEE Transactions on Reliability,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imes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imes" panose="02020603050405020304" pitchFamily="18" charset="0"/>
              </a:rPr>
              <a:t>Under-review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)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Times New Roman"/>
            </a:endParaRPr>
          </a:p>
          <a:p>
            <a:pPr>
              <a:lnSpc>
                <a:spcPct val="100000"/>
              </a:lnSpc>
            </a:pP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rgbClr val="001F5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학회 발표 실적</a:t>
            </a:r>
            <a:endParaRPr lang="ko-KR" altLang="en-US" sz="1400" dirty="0">
              <a:solidFill>
                <a:srgbClr val="001F5F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모터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추계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전이학습을 이용한 차량 구동용 영구자석 동기 전동기의 고장 분류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(2022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한국자동차공학회 추계학술대회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en-US" altLang="ko-KR" sz="11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모터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 : 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전기자동차용 매입형 영구자석 동기 전동기의 정밀한 시뮬레이션을 위한 모델링 분석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imes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(2022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년도 한국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PHM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학회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정기학술대회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)</a:t>
            </a:r>
            <a:endParaRPr lang="en-US" altLang="ko-KR" sz="1100" spc="-10" dirty="0">
              <a:latin typeface="현대하모니 L" panose="02020603020101020101" pitchFamily="18" charset="-127"/>
              <a:ea typeface="현대하모니 L" panose="02020603020101020101" pitchFamily="18" charset="-127"/>
              <a:cs typeface="times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인버터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: The Effect of Quasi-DC Power Cycling on Insulated Gate Bipolar Transistor Dual-in-line Package Intelligent Power Module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imes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(2022 PCIM </a:t>
            </a:r>
            <a:r>
              <a:rPr lang="en-US" altLang="ko-KR" sz="1100" dirty="0" err="1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asia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인버터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시스템 수준 측정값을 이용한 모터 구동 시스템 내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IGBT 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개방 고장 진단 기법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 (2021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년도 한국 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PHM</a:t>
            </a:r>
            <a:r>
              <a:rPr lang="ko-KR" altLang="en-US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학회 정기학술대회</a:t>
            </a:r>
            <a:r>
              <a:rPr lang="en-US" altLang="ko-KR" sz="11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C1275-3344-7851-F48B-334401D43D91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10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5890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385" y="131381"/>
            <a:ext cx="23272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▣ </a:t>
            </a:r>
            <a:r>
              <a:rPr 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Summary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2400" y="2174239"/>
            <a:ext cx="3718559" cy="18592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03958" y="1215209"/>
            <a:ext cx="4984122" cy="947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ko-KR" altLang="en-US" sz="3600" dirty="0">
                <a:solidFill>
                  <a:srgbClr val="001F5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전동화 시스템 연구</a:t>
            </a:r>
            <a:endParaRPr lang="en-US" altLang="ko-KR" sz="3600" dirty="0">
              <a:solidFill>
                <a:srgbClr val="001F5F"/>
              </a:solidFill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ko-KR" altLang="en-US" sz="2400" dirty="0">
                <a:solidFill>
                  <a:srgbClr val="001F5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전동화 시스템 개발</a:t>
            </a:r>
            <a:endParaRPr sz="2400" dirty="0">
              <a:solidFill>
                <a:srgbClr val="001F5F"/>
              </a:solidFill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8E149BC-5EBE-F462-28DD-929944850F29}"/>
              </a:ext>
            </a:extLst>
          </p:cNvPr>
          <p:cNvGrpSpPr/>
          <p:nvPr/>
        </p:nvGrpSpPr>
        <p:grpSpPr>
          <a:xfrm>
            <a:off x="466515" y="4345400"/>
            <a:ext cx="2236890" cy="363759"/>
            <a:chOff x="658710" y="2667000"/>
            <a:chExt cx="2236890" cy="363759"/>
          </a:xfrm>
        </p:grpSpPr>
        <p:sp>
          <p:nvSpPr>
            <p:cNvPr id="13" name="object 91">
              <a:extLst>
                <a:ext uri="{FF2B5EF4-FFF2-40B4-BE49-F238E27FC236}">
                  <a16:creationId xmlns:a16="http://schemas.microsoft.com/office/drawing/2014/main" id="{09E763C1-131D-5DEB-840A-9A8D78973295}"/>
                </a:ext>
              </a:extLst>
            </p:cNvPr>
            <p:cNvSpPr/>
            <p:nvPr/>
          </p:nvSpPr>
          <p:spPr>
            <a:xfrm>
              <a:off x="658710" y="2667000"/>
              <a:ext cx="2236890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2">
              <a:extLst>
                <a:ext uri="{FF2B5EF4-FFF2-40B4-BE49-F238E27FC236}">
                  <a16:creationId xmlns:a16="http://schemas.microsoft.com/office/drawing/2014/main" id="{27CCAE5E-0A1F-E05F-F325-8B9A04A0D332}"/>
                </a:ext>
              </a:extLst>
            </p:cNvPr>
            <p:cNvSpPr txBox="1"/>
            <p:nvPr/>
          </p:nvSpPr>
          <p:spPr>
            <a:xfrm>
              <a:off x="733361" y="2678366"/>
              <a:ext cx="20714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모터</a:t>
              </a:r>
              <a:r>
                <a:rPr lang="en-US" altLang="ko-KR" sz="1600" dirty="0">
                  <a:solidFill>
                    <a:schemeClr val="bg1"/>
                  </a:solidFill>
                </a:rPr>
                <a:t>/</a:t>
              </a:r>
              <a:r>
                <a:rPr lang="ko-KR" altLang="en-US" sz="1600" dirty="0">
                  <a:solidFill>
                    <a:schemeClr val="bg1"/>
                  </a:solidFill>
                </a:rPr>
                <a:t>인버터 연구 경험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E7E863A-521E-AD57-9E04-EE6B0FD76D5D}"/>
              </a:ext>
            </a:extLst>
          </p:cNvPr>
          <p:cNvGrpSpPr/>
          <p:nvPr/>
        </p:nvGrpSpPr>
        <p:grpSpPr>
          <a:xfrm>
            <a:off x="3453555" y="4345400"/>
            <a:ext cx="2236890" cy="363759"/>
            <a:chOff x="658710" y="2667000"/>
            <a:chExt cx="2236890" cy="363759"/>
          </a:xfrm>
        </p:grpSpPr>
        <p:sp>
          <p:nvSpPr>
            <p:cNvPr id="17" name="object 91">
              <a:extLst>
                <a:ext uri="{FF2B5EF4-FFF2-40B4-BE49-F238E27FC236}">
                  <a16:creationId xmlns:a16="http://schemas.microsoft.com/office/drawing/2014/main" id="{6EC7FC56-570F-BB6F-1831-806AFA52C2F8}"/>
                </a:ext>
              </a:extLst>
            </p:cNvPr>
            <p:cNvSpPr/>
            <p:nvPr/>
          </p:nvSpPr>
          <p:spPr>
            <a:xfrm>
              <a:off x="658710" y="2667000"/>
              <a:ext cx="2236890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92">
              <a:extLst>
                <a:ext uri="{FF2B5EF4-FFF2-40B4-BE49-F238E27FC236}">
                  <a16:creationId xmlns:a16="http://schemas.microsoft.com/office/drawing/2014/main" id="{14417011-5EB5-B9E2-37BB-CCEDD0FE3548}"/>
                </a:ext>
              </a:extLst>
            </p:cNvPr>
            <p:cNvSpPr txBox="1"/>
            <p:nvPr/>
          </p:nvSpPr>
          <p:spPr>
            <a:xfrm>
              <a:off x="867213" y="2678366"/>
              <a:ext cx="18036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직무관련 전공 지식 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C881DB3-4D09-EBF2-2E7A-7354BDB0FCE4}"/>
              </a:ext>
            </a:extLst>
          </p:cNvPr>
          <p:cNvGrpSpPr/>
          <p:nvPr/>
        </p:nvGrpSpPr>
        <p:grpSpPr>
          <a:xfrm>
            <a:off x="6404605" y="4345400"/>
            <a:ext cx="2236890" cy="363759"/>
            <a:chOff x="658710" y="2667000"/>
            <a:chExt cx="2236890" cy="363759"/>
          </a:xfrm>
        </p:grpSpPr>
        <p:sp>
          <p:nvSpPr>
            <p:cNvPr id="20" name="object 91">
              <a:extLst>
                <a:ext uri="{FF2B5EF4-FFF2-40B4-BE49-F238E27FC236}">
                  <a16:creationId xmlns:a16="http://schemas.microsoft.com/office/drawing/2014/main" id="{AB2D9190-7F03-28DB-2953-BF49F747E4DC}"/>
                </a:ext>
              </a:extLst>
            </p:cNvPr>
            <p:cNvSpPr/>
            <p:nvPr/>
          </p:nvSpPr>
          <p:spPr>
            <a:xfrm>
              <a:off x="658710" y="2667000"/>
              <a:ext cx="2236890" cy="363759"/>
            </a:xfrm>
            <a:custGeom>
              <a:avLst/>
              <a:gdLst/>
              <a:ahLst/>
              <a:cxnLst/>
              <a:rect l="l" t="t" r="r" b="b"/>
              <a:pathLst>
                <a:path w="815339" h="203200">
                  <a:moveTo>
                    <a:pt x="815339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815339" y="202691"/>
                  </a:lnTo>
                  <a:lnTo>
                    <a:pt x="815339" y="0"/>
                  </a:lnTo>
                  <a:close/>
                </a:path>
              </a:pathLst>
            </a:custGeom>
            <a:solidFill>
              <a:srgbClr val="002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92">
              <a:extLst>
                <a:ext uri="{FF2B5EF4-FFF2-40B4-BE49-F238E27FC236}">
                  <a16:creationId xmlns:a16="http://schemas.microsoft.com/office/drawing/2014/main" id="{D1A0EE04-A008-2C93-0619-E47E06BB70AA}"/>
                </a:ext>
              </a:extLst>
            </p:cNvPr>
            <p:cNvSpPr txBox="1"/>
            <p:nvPr/>
          </p:nvSpPr>
          <p:spPr>
            <a:xfrm>
              <a:off x="838359" y="2678366"/>
              <a:ext cx="1861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kern="0"/>
              </a:defPPr>
              <a:lvl1pPr>
                <a:defRPr sz="1050">
                  <a:latin typeface="현대하모니 L" panose="02020603020101020101" pitchFamily="18" charset="-127"/>
                  <a:ea typeface="현대하모니 L" panose="02020603020101020101" pitchFamily="18" charset="-127"/>
                </a:defRPr>
              </a:lvl1pPr>
            </a:lstStyle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도전정신과 협업능력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F16C77B-E7DE-9379-059E-9764EDF25B05}"/>
              </a:ext>
            </a:extLst>
          </p:cNvPr>
          <p:cNvSpPr txBox="1"/>
          <p:nvPr/>
        </p:nvSpPr>
        <p:spPr>
          <a:xfrm>
            <a:off x="169244" y="4821165"/>
            <a:ext cx="2831433" cy="833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72720" algn="l">
              <a:lnSpc>
                <a:spcPct val="150000"/>
              </a:lnSpc>
              <a:spcBef>
                <a:spcPts val="200"/>
              </a:spcBef>
              <a:buFont typeface="Arial"/>
              <a:buChar char="•"/>
              <a:tabLst>
                <a:tab pos="366395" algn="l"/>
              </a:tabLst>
            </a:pP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영구자석 동기 전동기 모델링 및 고장진단</a:t>
            </a:r>
            <a:endParaRPr lang="en-US" altLang="ko-KR" sz="105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  <a:p>
            <a:pPr indent="-172720" algn="l">
              <a:lnSpc>
                <a:spcPct val="150000"/>
              </a:lnSpc>
              <a:spcBef>
                <a:spcPts val="200"/>
              </a:spcBef>
              <a:buFont typeface="Arial"/>
              <a:buChar char="•"/>
              <a:tabLst>
                <a:tab pos="366395" algn="l"/>
              </a:tabLst>
            </a:pP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영구자석 동기 전동기 전류 제어기 설계</a:t>
            </a:r>
            <a:endParaRPr lang="en-US" altLang="ko-KR" sz="105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  <a:p>
            <a:pPr indent="-172720" algn="l">
              <a:lnSpc>
                <a:spcPct val="150000"/>
              </a:lnSpc>
              <a:spcBef>
                <a:spcPts val="200"/>
              </a:spcBef>
              <a:buFont typeface="Arial"/>
              <a:buChar char="•"/>
              <a:tabLst>
                <a:tab pos="366395" algn="l"/>
              </a:tabLst>
            </a:pP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인버터 모델링 및 고장 진단</a:t>
            </a:r>
            <a:endParaRPr lang="en-US" altLang="ko-KR" sz="105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91FC8F16-20C6-F472-47EF-C111895DBA16}"/>
              </a:ext>
            </a:extLst>
          </p:cNvPr>
          <p:cNvSpPr/>
          <p:nvPr/>
        </p:nvSpPr>
        <p:spPr>
          <a:xfrm>
            <a:off x="3156283" y="4693730"/>
            <a:ext cx="2831434" cy="1094349"/>
          </a:xfrm>
          <a:custGeom>
            <a:avLst/>
            <a:gdLst/>
            <a:ahLst/>
            <a:cxnLst/>
            <a:rect l="l" t="t" r="r" b="b"/>
            <a:pathLst>
              <a:path w="8562340" h="3221990">
                <a:moveTo>
                  <a:pt x="0" y="3221736"/>
                </a:moveTo>
                <a:lnTo>
                  <a:pt x="8561832" y="3221736"/>
                </a:lnTo>
                <a:lnTo>
                  <a:pt x="8561832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41BF3444-C69B-B8D4-985C-B2FE625BCBF3}"/>
              </a:ext>
            </a:extLst>
          </p:cNvPr>
          <p:cNvSpPr/>
          <p:nvPr/>
        </p:nvSpPr>
        <p:spPr>
          <a:xfrm>
            <a:off x="169243" y="4693730"/>
            <a:ext cx="2831434" cy="1094349"/>
          </a:xfrm>
          <a:custGeom>
            <a:avLst/>
            <a:gdLst/>
            <a:ahLst/>
            <a:cxnLst/>
            <a:rect l="l" t="t" r="r" b="b"/>
            <a:pathLst>
              <a:path w="8562340" h="3221990">
                <a:moveTo>
                  <a:pt x="0" y="3221736"/>
                </a:moveTo>
                <a:lnTo>
                  <a:pt x="8561832" y="3221736"/>
                </a:lnTo>
                <a:lnTo>
                  <a:pt x="8561832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37949242-3819-0F39-9B65-C7C26C027A65}"/>
              </a:ext>
            </a:extLst>
          </p:cNvPr>
          <p:cNvSpPr/>
          <p:nvPr/>
        </p:nvSpPr>
        <p:spPr>
          <a:xfrm>
            <a:off x="6107333" y="4693730"/>
            <a:ext cx="2831434" cy="1094349"/>
          </a:xfrm>
          <a:custGeom>
            <a:avLst/>
            <a:gdLst/>
            <a:ahLst/>
            <a:cxnLst/>
            <a:rect l="l" t="t" r="r" b="b"/>
            <a:pathLst>
              <a:path w="8562340" h="3221990">
                <a:moveTo>
                  <a:pt x="0" y="3221736"/>
                </a:moveTo>
                <a:lnTo>
                  <a:pt x="8561832" y="3221736"/>
                </a:lnTo>
                <a:lnTo>
                  <a:pt x="8561832" y="0"/>
                </a:lnTo>
                <a:lnTo>
                  <a:pt x="0" y="0"/>
                </a:lnTo>
                <a:lnTo>
                  <a:pt x="0" y="3221736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6AD5EB-CCF6-1CF2-9A14-41B88BA48004}"/>
              </a:ext>
            </a:extLst>
          </p:cNvPr>
          <p:cNvSpPr txBox="1"/>
          <p:nvPr/>
        </p:nvSpPr>
        <p:spPr>
          <a:xfrm>
            <a:off x="3148189" y="4809678"/>
            <a:ext cx="2831433" cy="833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72720" algn="l">
              <a:lnSpc>
                <a:spcPct val="150000"/>
              </a:lnSpc>
              <a:spcBef>
                <a:spcPts val="200"/>
              </a:spcBef>
              <a:buFont typeface="Arial"/>
              <a:buChar char="•"/>
              <a:tabLst>
                <a:tab pos="366395" algn="l"/>
              </a:tabLst>
            </a:pPr>
            <a:r>
              <a:rPr lang="ko-KR" altLang="en-US" sz="1050" dirty="0" err="1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스위칭제어전원</a:t>
            </a: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 수강을 통한 인버터 지식</a:t>
            </a:r>
            <a:endParaRPr lang="en-US" altLang="ko-KR" sz="105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  <a:p>
            <a:pPr indent="-172720" algn="l">
              <a:lnSpc>
                <a:spcPct val="150000"/>
              </a:lnSpc>
              <a:spcBef>
                <a:spcPts val="200"/>
              </a:spcBef>
              <a:buFont typeface="Arial"/>
              <a:buChar char="•"/>
              <a:tabLst>
                <a:tab pos="366395" algn="l"/>
              </a:tabLst>
            </a:pP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신뢰성 수업을 통한 </a:t>
            </a:r>
            <a:r>
              <a:rPr lang="en-US" altLang="ko-KR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PHM </a:t>
            </a: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이론 학습</a:t>
            </a:r>
            <a:endParaRPr lang="en-US" altLang="ko-KR" sz="105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  <a:p>
            <a:pPr indent="-172720" algn="l">
              <a:lnSpc>
                <a:spcPct val="150000"/>
              </a:lnSpc>
              <a:spcBef>
                <a:spcPts val="200"/>
              </a:spcBef>
              <a:buFont typeface="Arial"/>
              <a:buChar char="•"/>
              <a:tabLst>
                <a:tab pos="366395" algn="l"/>
              </a:tabLst>
            </a:pP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설계 수업을 통한 전공지식 활용 능력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F4AC9F-3BB9-7CD1-1DFA-74765411CC49}"/>
              </a:ext>
            </a:extLst>
          </p:cNvPr>
          <p:cNvSpPr txBox="1"/>
          <p:nvPr/>
        </p:nvSpPr>
        <p:spPr>
          <a:xfrm>
            <a:off x="6127134" y="4798191"/>
            <a:ext cx="2831433" cy="833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72720" algn="l">
              <a:lnSpc>
                <a:spcPct val="150000"/>
              </a:lnSpc>
              <a:spcBef>
                <a:spcPts val="200"/>
              </a:spcBef>
              <a:buFont typeface="Arial"/>
              <a:buChar char="•"/>
              <a:tabLst>
                <a:tab pos="366395" algn="l"/>
              </a:tabLst>
            </a:pPr>
            <a:r>
              <a:rPr lang="en-US" altLang="ko-KR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5</a:t>
            </a: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년간 미식축구 동아리 </a:t>
            </a:r>
            <a:r>
              <a:rPr lang="en-US" altLang="ko-KR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‘Raging bulls’ </a:t>
            </a: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활동</a:t>
            </a:r>
            <a:endParaRPr lang="en-US" altLang="ko-KR" sz="105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  <a:p>
            <a:pPr indent="-172720" algn="l">
              <a:lnSpc>
                <a:spcPct val="150000"/>
              </a:lnSpc>
              <a:spcBef>
                <a:spcPts val="200"/>
              </a:spcBef>
              <a:buFont typeface="Arial"/>
              <a:buChar char="•"/>
              <a:tabLst>
                <a:tab pos="366395" algn="l"/>
              </a:tabLst>
            </a:pPr>
            <a:r>
              <a:rPr lang="en-US" altLang="ko-KR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4</a:t>
            </a: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년간 카페 알바 및 다수 알바 경험</a:t>
            </a:r>
            <a:endParaRPr lang="en-US" altLang="ko-KR" sz="105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  <a:p>
            <a:pPr indent="-172720" algn="l">
              <a:lnSpc>
                <a:spcPct val="150000"/>
              </a:lnSpc>
              <a:spcBef>
                <a:spcPts val="200"/>
              </a:spcBef>
              <a:buFont typeface="Arial"/>
              <a:buChar char="•"/>
              <a:tabLst>
                <a:tab pos="366395" algn="l"/>
              </a:tabLst>
            </a:pPr>
            <a:r>
              <a:rPr lang="en-US" altLang="ko-KR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2</a:t>
            </a: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년 </a:t>
            </a:r>
            <a:r>
              <a:rPr lang="en-US" altLang="ko-KR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6</a:t>
            </a:r>
            <a:r>
              <a:rPr lang="ko-KR" altLang="en-US" sz="105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개월간의 연구실 활동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802B8-197C-A311-DFEF-921C3F0A5331}"/>
              </a:ext>
            </a:extLst>
          </p:cNvPr>
          <p:cNvSpPr txBox="1"/>
          <p:nvPr/>
        </p:nvSpPr>
        <p:spPr>
          <a:xfrm>
            <a:off x="8720773" y="6589423"/>
            <a:ext cx="423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11</a:t>
            </a:r>
            <a:endParaRPr lang="ko-KR" altLang="en-US" sz="1200" i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000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4389</TotalTime>
  <Words>1682</Words>
  <Application>Microsoft Office PowerPoint</Application>
  <PresentationFormat>화면 슬라이드 쇼(4:3)</PresentationFormat>
  <Paragraphs>304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HY헤드라인M</vt:lpstr>
      <vt:lpstr>돋움</vt:lpstr>
      <vt:lpstr>맑은 고딕</vt:lpstr>
      <vt:lpstr>현대하모니 B</vt:lpstr>
      <vt:lpstr>현대하모니 L</vt:lpstr>
      <vt:lpstr>현대하모니 M</vt:lpstr>
      <vt:lpstr>Arial</vt:lpstr>
      <vt:lpstr>Calibri</vt:lpstr>
      <vt:lpstr>Times New Roman</vt:lpstr>
      <vt:lpstr>Office Theme</vt:lpstr>
      <vt:lpstr>PowerPoint 프레젠테이션</vt:lpstr>
      <vt:lpstr>▣ 이력서</vt:lpstr>
      <vt:lpstr>▣ 주요 연구 수행 이력</vt:lpstr>
      <vt:lpstr>▣ 주요 연구 수행 이력</vt:lpstr>
      <vt:lpstr>▣ 주요 연구 수행 이력</vt:lpstr>
      <vt:lpstr>▣ 주요 연구 수행 이력</vt:lpstr>
      <vt:lpstr>▣ 주요 연구 수행 이력</vt:lpstr>
      <vt:lpstr>▣ 주요 연구 수행 이력</vt:lpstr>
      <vt:lpstr>▣ 주요 연구 수행 이력</vt:lpstr>
      <vt:lpstr>▣ 사용가능 SW 및 주요실적</vt:lpstr>
      <vt:lpstr>▣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 Young Hun</dc:creator>
  <cp:lastModifiedBy>황 인혁</cp:lastModifiedBy>
  <cp:revision>61</cp:revision>
  <cp:lastPrinted>2022-05-01T09:55:45Z</cp:lastPrinted>
  <dcterms:created xsi:type="dcterms:W3CDTF">2022-04-30T08:40:44Z</dcterms:created>
  <dcterms:modified xsi:type="dcterms:W3CDTF">2022-11-28T00:54:02Z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2021-04-30T00:00:00Z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2022-04-30T00:00:00Z</vt:filetime>
  </property>
</Properties>
</file>