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황인혁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onsolas"/>
              </a:defRPr>
            </a:pPr>
            <a:r>
              <a:t>Inhyeok Hwang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onsolas"/>
              </a:defRPr>
            </a:pPr>
            <a:r>
              <a:t>Motor Control &amp;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기계공학의 물리적 사고를 기반으로,</a:t>
            </a:r>
            <a:br/>
            <a:r>
              <a:t>전력제어 알고리즘을 개발하고 제품을 양산까지 끌고 가는 엔지니어.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5943600"/>
            <a:ext cx="12191695" cy="914400"/>
          </a:xfrm>
          <a:prstGeom prst="roundRect">
            <a:avLst>
              <a:gd name="adj" fmla="val 2000"/>
            </a:avLst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github.com/hwanginhyeok  |  inhyeok.hwang@gintlab.com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이름  </a:t>
            </a:r>
            <a:r>
              <a:rPr sz="1300">
                <a:solidFill>
                  <a:srgbClr val="F1F5F9"/>
                </a:solidFill>
                <a:latin typeface="맑은 고딕"/>
              </a:rPr>
              <a:t>황인혁 (Inhyeok Hwang)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직책  </a:t>
            </a:r>
            <a:r>
              <a:rPr sz="1300">
                <a:solidFill>
                  <a:srgbClr val="F1F5F9"/>
                </a:solidFill>
                <a:latin typeface="맑은 고딕"/>
              </a:rPr>
              <a:t>GINT 전력제어개발팀 · 선임연구원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역할  </a:t>
            </a:r>
            <a:r>
              <a:rPr sz="1300">
                <a:solidFill>
                  <a:srgbClr val="F1F5F9"/>
                </a:solidFill>
                <a:latin typeface="맑은 고딕"/>
              </a:rPr>
              <a:t>전력제어 개발자 + 제품개발팀 주니어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학력  </a:t>
            </a:r>
            <a:r>
              <a:rPr sz="1300">
                <a:solidFill>
                  <a:srgbClr val="F1F5F9"/>
                </a:solidFill>
                <a:latin typeface="맑은 고딕"/>
              </a:rPr>
              <a:t>건국대 기계공학부(학사) / 기계설계학과(석사)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연구실  </a:t>
            </a:r>
            <a:r>
              <a:rPr sz="1300">
                <a:solidFill>
                  <a:srgbClr val="F1F5F9"/>
                </a:solidFill>
                <a:latin typeface="맑은 고딕"/>
              </a:rPr>
              <a:t>RBDO 연구실 — IPMSM 모델링 및 고장진단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64748B"/>
                </a:solidFill>
                <a:latin typeface="맑은 고딕"/>
              </a:rPr>
              <a:t>직무발명  </a:t>
            </a:r>
            <a:r>
              <a:rPr sz="1300">
                <a:solidFill>
                  <a:srgbClr val="F1F5F9"/>
                </a:solidFill>
                <a:latin typeface="맑은 고딕"/>
              </a:rPr>
              <a:t>2건 출원 (초기위치추정, 극저온 기동)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Career 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53924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1600" y="1691640"/>
            <a:ext cx="25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3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2025.01 ~ 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0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SS500 전력 시스템 + PM  |  선임연구원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69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48V 자율주행 방제기 · 전력제어 + 제품개발 PM</a:t>
            </a:r>
            <a:br/>
            <a:r>
              <a:t>이슈 37건+ · DVP 5건 · QC 5단계 구축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91084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1600" y="3063240"/>
            <a:ext cx="25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0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2023.02 ~ 2024.12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2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EOP 모터제어 알고리즘  |  주임연구원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41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400W 센서리스 FOC · 직무발명 2건 출원</a:t>
            </a:r>
            <a:br/>
            <a:r>
              <a:t>정격 응답 0.56s · 극저온 기동 3배 단축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28244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80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2021.03 ~ 2023.02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84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PMSM 고장진단 연구  |  석사과정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12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120kW IPMSM Co-simulation</a:t>
            </a:r>
            <a:br/>
            <a:r>
              <a:t>현대자동차·현대엔지비 과제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06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B82F6"/>
                </a:solidFill>
                <a:latin typeface="맑은 고딕"/>
              </a:defRPr>
            </a:pPr>
            <a:r>
              <a:t>"소프트웨어가 물리 세계와 만나는 접점에서 제품을 만드는 사람"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Career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50800"/>
          </a:xfrm>
          <a:prstGeom prst="roundRect">
            <a:avLst>
              <a:gd name="adj" fmla="val 2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onsolas"/>
              </a:defRPr>
            </a:pPr>
            <a:r>
              <a:t>시뮬레이션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2021 —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120kW PMSM 모델링/해석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Ansys Maxwell + MATLAB/Simulink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논문 + 학회 (수상 2건)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보조연구원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200400" cy="508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GINT — EOP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onsolas"/>
              </a:defRPr>
            </a:pPr>
            <a:r>
              <a:t>실물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2023 —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12V / 400W / 1모터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NXP MCU +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295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직무발명 2건 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770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알고리즘 개발자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37160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1371600"/>
            <a:ext cx="3200400" cy="50800"/>
          </a:xfrm>
          <a:prstGeom prst="roundRect">
            <a:avLst>
              <a:gd name="adj" fmla="val 2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GINT — SS500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  <a:latin typeface="Consolas"/>
              </a:defRPr>
            </a:pPr>
            <a:r>
              <a:t>시스템 +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2025 — 현재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48V / 3kW / 10+ 노드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STM32 + CAN FD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5295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이슈 37건+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8770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→  개발자 +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시뮬레이션 → 실물 제어 → 시스템 + PM  |  기술적 깊이와 관리 역량을 동시에 키워온 궤적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Core Project 1 — 400W EOP 인버터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현대트랜시스 EDS용 전동 오일펌프  |  2023 ~ 2024  |  모터제어 알고리즘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9456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맑은 고딕"/>
              </a:defRPr>
            </a:pPr>
            <a:r>
              <a:t>문제 1: 정지 상태에서 모터 위치를 모른다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센서리스 제어는 정지 시 회전자 위치 미상 → align 기동(강제 정렬)</a:t>
            </a:r>
            <a:br/>
            <a:r>
              <a:t>역회전 위험 + 느린 응답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B82F6"/>
                </a:solidFill>
                <a:latin typeface="맑은 고딕"/>
              </a:defRPr>
            </a:pPr>
            <a:r>
              <a:t>→ Reluctance 특성 이용 초기위치추정 알고리즘 개발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   초기 위치 파악: 0.44μs  |  역회전: 제거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   정격 속도 응답: 요구 1.0s → 0.56s 달성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   ★ 직무발명 출원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29200" cy="219456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맑은 고딕"/>
              </a:defRPr>
            </a:pPr>
            <a:r>
              <a:t>문제 2: -40℃에서 모터가 탈조한다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극저온 → 윤활유 점도 상승 → 관로 저항 증가 → 불규칙 부하</a:t>
            </a:r>
            <a:br/>
            <a:r>
              <a:t>오픈루프 기동 시 탈조, 센서리스 전환까지 300초+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B82F6"/>
                </a:solidFill>
                <a:latin typeface="맑은 고딕"/>
              </a:defRPr>
            </a:pPr>
            <a:r>
              <a:t>→ Eγ 값 기반 부하 실시간 추정 + 능동 속도 제어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   기동 시간: 300s → 100s 이내 (3배 단축)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   -35℃, 50rpm 안정 운전 달성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   ★ 직무발명 출원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029200" cy="13716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맑은 고딕"/>
              </a:defRPr>
            </a:pPr>
            <a:r>
              <a:t>문제 3: 고온에서 전력 효율 낮음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B82F6"/>
                </a:solidFill>
                <a:latin typeface="맑은 고딕"/>
              </a:defRPr>
            </a:pPr>
            <a:r>
              <a:t>→ DPWM ↔ SVPWM 자동 절환 알고리즘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   입력전력 1.0~3.8% 개선  |  FET 온도 1~6℃ 저감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029200" cy="13716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맑은 고딕"/>
              </a:defRPr>
            </a:pPr>
            <a:r>
              <a:t>성과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직무발명 2건  |  응답 0.56s  |  기동 3배 단축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400W → 150W(CEER) → HV 3개 바리에이션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NXP MC9S12ZVM  ·  FOC  ·  Sensorless (Extended EMF)  ·  SVPWM/DPWM  ·  FWC  ·  MTPA  ·  CAN 2.0B  · 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Core Project 2 — SS500 Speed Sprayer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PLUVA FRIEND GT-SS500  |  2025 ~ 현재  |  전력제어 + PM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2286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제품 스펙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전원: 48V 460Ah LiFePO4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구동: 3kW BLDC x2 (좌/우 독립)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팬: Hobbywing X6 Plus (CAN FD)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VCU: STM32F479VI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통신: 49개 CAN 메시지, 10+ 노드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자율주행: GPS RTK + IMU + 카메라 3종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6858000" cy="2286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맑은 고딕"/>
              </a:defRPr>
            </a:pPr>
            <a:r>
              <a:t>문제점 도출 · 근본 원인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1F5F9"/>
                </a:solidFill>
                <a:latin typeface="맑은 고딕"/>
              </a:rPr>
              <a:t>▸ Main Relay 반복 ON/OFF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판별: 통신→FW→배선 순서로 추적 → 솔레노이드 GND 바운스 (배선 설계)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1F5F9"/>
                </a:solidFill>
                <a:latin typeface="맑은 고딕"/>
              </a:rPr>
              <a:t>▸ 배터리 SOC 70.2% 부정확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판별: BMS 캘리브→충방전 패턴 분석 → ROM 로직 + 셀밸런싱 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1F5F9"/>
                </a:solidFill>
                <a:latin typeface="맑은 고딕"/>
              </a:rPr>
              <a:t>▸ VCU FW 무한 반복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  판별: CanTimeoutCheck.c 코드리뷰 → MR OFF 시 timeout 클리어 버그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291840" cy="21031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알고리즘 · 로직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제어권 상태머신 설계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CAN timeout 대응 로직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충전/방전 모드 개선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솔레노이드 버그 수정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23360"/>
            <a:ext cx="3291840" cy="21031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HW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VCU Rev01→02→03 변경 이력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6층 PCB 거버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회로도 8장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샤시접지/노이즈 리서치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023360"/>
            <a:ext cx="3291840" cy="21031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시험 기획 ·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KGAT 분사 시험 15건 매트릭스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펌프 20대 랜덤 샘플링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IQC 검사 가이드 10건+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FAN 사양 변경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SS500 — PM 역할 · 양산 품질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맑은 고딕"/>
              </a:defRPr>
            </a:pPr>
            <a:r>
              <a:t>제품개발팀 PM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3B82F6"/>
                </a:solidFill>
                <a:latin typeface="맑은 고딕"/>
              </a:rPr>
              <a:t>이슈 관리  </a:t>
            </a:r>
            <a:r>
              <a:rPr sz="1200">
                <a:solidFill>
                  <a:srgbClr val="F1F5F9"/>
                </a:solidFill>
                <a:latin typeface="맑은 고딕"/>
              </a:rPr>
              <a:t>37건+ 발행/트래킹, 직접 담당 14건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3B82F6"/>
                </a:solidFill>
                <a:latin typeface="맑은 고딕"/>
              </a:rPr>
              <a:t>BOM · 부품  </a:t>
            </a:r>
            <a:r>
              <a:rPr sz="1200">
                <a:solidFill>
                  <a:srgbClr val="F1F5F9"/>
                </a:solidFill>
                <a:latin typeface="맑은 고딕"/>
              </a:rPr>
              <a:t>60+ 부품 스펙 확정, 참고자료 183건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3B82F6"/>
                </a:solidFill>
                <a:latin typeface="맑은 고딕"/>
              </a:rPr>
              <a:t>호기 관리  </a:t>
            </a:r>
            <a:r>
              <a:rPr sz="1200">
                <a:solidFill>
                  <a:srgbClr val="F1F5F9"/>
                </a:solidFill>
                <a:latin typeface="맑은 고딕"/>
              </a:rPr>
              <a:t>EVT 3대 + PVT 16대, 4단계 명명 체계 직접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3B82F6"/>
                </a:solidFill>
                <a:latin typeface="맑은 고딕"/>
              </a:rPr>
              <a:t>양산 일정  </a:t>
            </a:r>
            <a:r>
              <a:rPr sz="1200">
                <a:solidFill>
                  <a:srgbClr val="F1F5F9"/>
                </a:solidFill>
                <a:latin typeface="맑은 고딕"/>
              </a:rPr>
              <a:t>초도품 16대, 일정 변동 실시간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3B82F6"/>
                </a:solidFill>
                <a:latin typeface="맑은 고딕"/>
              </a:rPr>
              <a:t>다부서 조율  </a:t>
            </a:r>
            <a:r>
              <a:rPr sz="1200">
                <a:solidFill>
                  <a:srgbClr val="F1F5F9"/>
                </a:solidFill>
                <a:latin typeface="맑은 고딕"/>
              </a:rPr>
              <a:t>전력제어/융합제어/HW/SW/SCM/MD 6개 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DVP — 설계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>
                <a:solidFill>
                  <a:srgbClr val="94A3B8"/>
                </a:solidFill>
                <a:latin typeface="맑은 고딕"/>
              </a:rPr>
              <a:t>DVP.1  구동부 내구성</a:t>
            </a:r>
            <a:r>
              <a:rPr sz="1000" b="1">
                <a:solidFill>
                  <a:srgbClr val="22C55E"/>
                </a:solidFill>
                <a:latin typeface="맑은 고딕"/>
              </a:rPr>
              <a:t> 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>
                <a:solidFill>
                  <a:srgbClr val="94A3B8"/>
                </a:solidFill>
                <a:latin typeface="맑은 고딕"/>
              </a:rPr>
              <a:t>DVP.2  자율주행 성능</a:t>
            </a:r>
            <a:r>
              <a:rPr sz="1000" b="1">
                <a:solidFill>
                  <a:srgbClr val="EAB308"/>
                </a:solidFill>
                <a:latin typeface="맑은 고딕"/>
              </a:rPr>
              <a:t>  진행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>
                <a:solidFill>
                  <a:srgbClr val="94A3B8"/>
                </a:solidFill>
                <a:latin typeface="맑은 고딕"/>
              </a:rPr>
              <a:t>DVP.3  펌프 성능</a:t>
            </a:r>
            <a:r>
              <a:rPr sz="1000" b="1">
                <a:solidFill>
                  <a:srgbClr val="EAB308"/>
                </a:solidFill>
                <a:latin typeface="맑은 고딕"/>
              </a:rPr>
              <a:t>  진행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>
                <a:solidFill>
                  <a:srgbClr val="94A3B8"/>
                </a:solidFill>
                <a:latin typeface="맑은 고딕"/>
              </a:rPr>
              <a:t>DVP.4  풍량 성능</a:t>
            </a:r>
            <a:r>
              <a:rPr sz="1000" b="1">
                <a:solidFill>
                  <a:srgbClr val="EAB308"/>
                </a:solidFill>
                <a:latin typeface="맑은 고딕"/>
              </a:rPr>
              <a:t>  진행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>
                <a:solidFill>
                  <a:srgbClr val="94A3B8"/>
                </a:solidFill>
                <a:latin typeface="맑은 고딕"/>
              </a:rPr>
              <a:t>DVP.5  KGAT 종합 검정</a:t>
            </a:r>
            <a:r>
              <a:rPr sz="1000" b="1">
                <a:solidFill>
                  <a:srgbClr val="EAB308"/>
                </a:solidFill>
                <a:latin typeface="맑은 고딕"/>
              </a:rPr>
              <a:t>  진행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QC 5단계 — 양산 품질 체계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업체출하 → IQC → LQC → EOL → OQC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전체 36건 검사 문서 중 17건 작성 (47%)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업체 출하검사 11건 중 5건 직접 작성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IQC 28개 부품 — 10건+ 가이드 (V0.1~V0.5)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STM32F479  ·  CAN 2.0B  ·  CAN FD  ·  BMS  ·  APQP/PPAP  ·  Notion  · 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Research — PMSM 고장진단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건국대 RBDO 연구실  |  120kW IPMSM 모델링 및 고장진단  |  현대자동차·현대엔지비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828800" cy="7315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63040"/>
            <a:ext cx="1828800" cy="73152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54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463040"/>
            <a:ext cx="1828800" cy="73152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554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463040"/>
            <a:ext cx="1828800" cy="7315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고장 신호</a:t>
            </a:r>
            <a:br/>
            <a: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554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1828800" cy="7315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모터 모델링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80kW, 120kW급 IPMSM FEA 해석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Flux State Variable Model 적용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포화특성/공간고조파/손실 반영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3D LUT (쇄교자속/토크)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제어 시뮬레이션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FOC + SVPWM 구현 (Simulink)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MTPA-FW-MTPV 영역 제어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인버터 스위칭 모델 정밀도 비교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시뮬-실험 오차 기반 모델 개선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실험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200kW 다이나모 테스트 벤드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감자/편심 고장 모터 직접 제작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8가지 운전 조건 시험 설계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 DAQ (LabVIEW) 데이터 수집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2064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맑은 고딕"/>
              </a:defRPr>
            </a:pPr>
            <a:r>
              <a:t>연구 성과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32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감자 및 편심 결함의 이론적 고장진단 신호 도출 → Co-simulation 검증 → 200kW 다이나모 실험 검증  |  시뮬레이션-실험 경향성 일치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Engineering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"정확한 원인 판별이 효율적인 개발의 출발점"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시스템/HW/SW/환경 중 근본 원인을 구분하고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올바른 방향에 리소스를 집중합니다.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EAB308"/>
                </a:solidFill>
                <a:latin typeface="맑은 고딕"/>
              </a:defRPr>
            </a:pPr>
            <a:r>
              <a:t>사례 1: CAN Bus-Off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통신 에러 → 솔레노이드 GND 바운스 → 배선/접지 문제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EAB308"/>
                </a:solidFill>
                <a:latin typeface="맑은 고딕"/>
              </a:defRPr>
            </a:pPr>
            <a:r>
              <a:t>사례 2: 극저온 탈조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제어 문제 → 윤활유 점도↑ → 관로 저항↑ → 기계적 환경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제1원칙 사고 (First Principles)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"관례가 아닌 물리 법칙에서 출발한다"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1F5F9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호기 관리 체계 부재 → 4단계 명명 체계 직접 설계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· CAN 프로토콜 혼재 → Single Source of Truth 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029200" cy="256032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개발 5단계 프로세스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</a:rPr>
              <a:t>1. 요구사항을 의심하라  </a:t>
            </a:r>
            <a:r>
              <a:rPr sz="1000">
                <a:solidFill>
                  <a:srgbClr val="64748B"/>
                </a:solidFill>
                <a:latin typeface="맑은 고딕"/>
              </a:rPr>
              <a:t>— 불필요한 요구사항이 가장 큰 낭비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59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</a:rPr>
              <a:t>2. 삭제하라  </a:t>
            </a:r>
            <a:r>
              <a:rPr sz="1000">
                <a:solidFill>
                  <a:srgbClr val="64748B"/>
                </a:solidFill>
                <a:latin typeface="맑은 고딕"/>
              </a:rPr>
              <a:t>— 나중에 추가 &gt; 불필요한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06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</a:rPr>
              <a:t>3. 단순화/최적화하라  </a:t>
            </a:r>
            <a:r>
              <a:rPr sz="1000">
                <a:solidFill>
                  <a:srgbClr val="64748B"/>
                </a:solidFill>
                <a:latin typeface="맑은 고딕"/>
              </a:rPr>
              <a:t>— 없어야 할 것을 최적화하지 마라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542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</a:rPr>
              <a:t>4. 속도를 높여라  </a:t>
            </a:r>
            <a:r>
              <a:rPr sz="1000">
                <a:solidFill>
                  <a:srgbClr val="64748B"/>
                </a:solidFill>
                <a:latin typeface="맑은 고딕"/>
              </a:rPr>
              <a:t>— 1~3을 먼저 한 다음에만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01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</a:rPr>
              <a:t>5. 자동화하라  </a:t>
            </a:r>
            <a:r>
              <a:rPr sz="1000">
                <a:solidFill>
                  <a:srgbClr val="64748B"/>
                </a:solidFill>
                <a:latin typeface="맑은 고딕"/>
              </a:rPr>
              <a:t>— 마지막 단계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Tech Stack &amp; Publications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Hardware &amp;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모터 제어  </a:t>
            </a:r>
            <a:r>
              <a:rPr sz="1000">
                <a:solidFill>
                  <a:srgbClr val="94A3B8"/>
                </a:solidFill>
                <a:latin typeface="맑은 고딕"/>
              </a:rPr>
              <a:t>FOC, FWC, MTPA, Sensorless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임베디드  </a:t>
            </a:r>
            <a:r>
              <a:rPr sz="1000">
                <a:solidFill>
                  <a:srgbClr val="94A3B8"/>
                </a:solidFill>
                <a:latin typeface="맑은 고딕"/>
              </a:rPr>
              <a:t>STM32, NXP, C/C++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통신  </a:t>
            </a:r>
            <a:r>
              <a:rPr sz="1000">
                <a:solidFill>
                  <a:srgbClr val="94A3B8"/>
                </a:solidFill>
                <a:latin typeface="맑은 고딕"/>
              </a:rPr>
              <a:t>CAN 2.0B, CAN FD, SPI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전력 시스템  </a:t>
            </a:r>
            <a:r>
              <a:rPr sz="1000">
                <a:solidFill>
                  <a:srgbClr val="94A3B8"/>
                </a:solidFill>
                <a:latin typeface="맑은 고딕"/>
              </a:rPr>
              <a:t>BMS, DCDC, 배터리, 릴레이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시뮬레이션  </a:t>
            </a:r>
            <a:r>
              <a:rPr sz="1000">
                <a:solidFill>
                  <a:srgbClr val="94A3B8"/>
                </a:solidFill>
                <a:latin typeface="맑은 고딕"/>
              </a:rPr>
              <a:t>Ansys Maxwell, MATLAB/Simulink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시험 장비  </a:t>
            </a:r>
            <a:r>
              <a:rPr sz="1000">
                <a:solidFill>
                  <a:srgbClr val="94A3B8"/>
                </a:solidFill>
                <a:latin typeface="맑은 고딕"/>
              </a:rPr>
              <a:t>다이나모, 오실로스코프, LabVIEW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Software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프로그래밍  </a:t>
            </a:r>
            <a:r>
              <a:rPr sz="1000">
                <a:solidFill>
                  <a:srgbClr val="94A3B8"/>
                </a:solidFill>
                <a:latin typeface="맑은 고딕"/>
              </a:rPr>
              <a:t>Python, C, JS/TS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AI 활용  </a:t>
            </a:r>
            <a:r>
              <a:rPr sz="1000">
                <a:solidFill>
                  <a:srgbClr val="94A3B8"/>
                </a:solidFill>
                <a:latin typeface="맑은 고딕"/>
              </a:rPr>
              <a:t>Claude Code, AI 워크플로우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맑은 고딕"/>
              </a:defRPr>
            </a:pPr>
            <a:r>
              <a:rPr sz="1100" b="1">
                <a:solidFill>
                  <a:srgbClr val="FFFFFF"/>
                </a:solidFill>
                <a:latin typeface="맑은 고딕"/>
              </a:rPr>
              <a:t>프로젝트 관리  </a:t>
            </a:r>
            <a:r>
              <a:rPr sz="1000">
                <a:solidFill>
                  <a:srgbClr val="94A3B8"/>
                </a:solidFill>
                <a:latin typeface="맑은 고딕"/>
              </a:rPr>
              <a:t>Notion, Git, APQP/PPAP</a:t>
            </a:r>
            <a:r>
              <a:rPr sz="1000">
                <a:solidFill>
                  <a:srgbClr val="3B82F6"/>
                </a:solidFill>
                <a:latin typeface="Consolas"/>
              </a:rPr>
              <a:t>  ●●●●○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Publications &amp; Patents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직무발명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초기위치추정 알고리즘 (EOP, 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2128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극저온 기동 알고리즘 (EOP,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968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주저자 논문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7121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Co-simulation for Fault Diagnosis of 120kW IPMSM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7238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and Experimental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564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공저자 (SCI)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3075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Condition Monitoring of IGBT Modules using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319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Inverter Output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3308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(IEEE Trans. Reliability)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517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학회 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9145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한국신뢰성학회 2022 — 최우수발표 논문상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3834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한국PHM학회 2021 — 우수포스터상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8523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맑은 고딕"/>
              </a:defRPr>
            </a:pPr>
            <a:r>
              <a:t>PCIM Asia 2022 — IGBT Power Cycling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onsolas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맑은 고딕"/>
              </a:defRPr>
            </a:pPr>
            <a:r>
              <a:t>황인혁  |  Motor Control &amp; Product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78127" y="4114800"/>
            <a:ext cx="3200400" cy="9144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2447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/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447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t>github.com/hwanginhyeok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847" y="4114800"/>
            <a:ext cx="3200400" cy="9144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7167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/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7167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t>inhyeok.hwang@gintlab.com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7567" y="4114800"/>
            <a:ext cx="3200400" cy="914400"/>
          </a:xfrm>
          <a:prstGeom prst="roundRect">
            <a:avLst>
              <a:gd name="adj" fmla="val 2000"/>
            </a:avLst>
          </a:prstGeom>
          <a:solidFill>
            <a:srgbClr val="1618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1887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/>
              </a:defRPr>
            </a:pPr>
            <a: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1887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맑은 고딕"/>
              </a:defRPr>
            </a:pPr>
            <a:r>
              <a:t>010-4488-5560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